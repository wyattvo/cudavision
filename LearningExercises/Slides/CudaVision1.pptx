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V8a2Z9wrtyESBxFs4wZj5zPlT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to CUDA Vision. This is a learning project: we will learn how GPUs work by writing code that processes images. The grid on the right is our whole first project in one picture: color pixels in, grayscale pixels out.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expectations: this is about learning, not competing. Low C++ knowledge is fine; we will review the C++ we need as it comes up.</a:t>
            </a:r>
            <a:endParaRPr/>
          </a:p>
        </p:txBody>
      </p:sp>
      <p:sp>
        <p:nvSpPr>
          <p:cNvPr id="87" name="Google Shape;8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e3b7fdc4d9b28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e3b7fdc4d9b28b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he3b7fdc4d9b28b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e3b7fdc4d9b28b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e3b7fdc4d9b28b1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he3b7fdc4d9b28b1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Key idea: GPUs are not "faster CPUs." They win when you have a huge number of small, independent jobs. Images are perfect for this: millions of pixels, each handled the same way.</a:t>
            </a:r>
            <a:endParaRPr/>
          </a:p>
          <a:p>
            <a:pPr indent="0" lvl="0" marL="0" rtl="0" algn="l">
              <a:lnSpc>
                <a:spcPct val="100000"/>
              </a:lnSpc>
              <a:spcBef>
                <a:spcPts val="0"/>
              </a:spcBef>
              <a:spcAft>
                <a:spcPts val="0"/>
              </a:spcAft>
              <a:buSzPts val="1400"/>
              <a:buNone/>
            </a:pPr>
            <a:r>
              <a:rPr lang="en-US"/>
              <a:t>gpus are the best and most </a:t>
            </a:r>
            <a:r>
              <a:rPr lang="en-US"/>
              <a:t>common</a:t>
            </a:r>
            <a:r>
              <a:rPr lang="en-US"/>
              <a:t> way to handle parallel computing right now. popularized for </a:t>
            </a:r>
            <a:r>
              <a:rPr lang="en-US"/>
              <a:t>more</a:t>
            </a:r>
            <a:r>
              <a:rPr lang="en-US"/>
              <a:t> general purpose compute with cryptomining, scientific compute, and now ML</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CUDA stands for Compute Unified Device Architecture, but nobody calls it that. Main point: it is mostly normal C++. You mark some functions as GPU functions, and CUDA runs them across thousands of threads.</a:t>
            </a:r>
            <a:endParaRPr/>
          </a:p>
        </p:txBody>
      </p:sp>
      <p:sp>
        <p:nvSpPr>
          <p:cNvPr id="318" name="Google Shape;3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Every AI headline you read runs on GPUs, and most of them on CUDA. The skills in this project, thinking in parallel, are the same skills those systems are built on. Computer vision (bottom right) is where our project lives.</a:t>
            </a:r>
            <a:endParaRPr/>
          </a:p>
        </p:txBody>
      </p:sp>
      <p:sp>
        <p:nvSpPr>
          <p:cNvPr id="333" name="Google Shape;3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GPU programming is in demand at chip companies (NVIDIA, AMD, Intel) and anywhere that runs AI or graphics at scale. Roles include GPU software engineer, CUDA or performance engineer, and ML infrastructure. Even outside those roles, a project where you can explain why your code got faster stands out in interviews.</a:t>
            </a:r>
            <a:endParaRPr/>
          </a:p>
        </p:txBody>
      </p:sp>
      <p:sp>
        <p:nvSpPr>
          <p:cNvPr id="359" name="Google Shape;3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Part 2 is the hands-on learning section. We are going to use Thrust, NVIDIA's GPU version of the C++ standard library, so we can run real code on the GPU before we ever write a kernel by hand. Here is the plan for the next 30 minutes.</a:t>
            </a:r>
            <a:endParaRPr/>
          </a:p>
        </p:txBody>
      </p:sp>
      <p:sp>
        <p:nvSpPr>
          <p:cNvPr id="379" name="Google Shape;3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the room: which is faster, a bus or a car? The honest answer is: it depends what you are doing. Moving 2 people across town, the car wins. Moving 60 people, the bus wins easily, even though each trip is slower. CPUs are cars, built for low latency on a few tasks. GPUs are buses, built for throughput on huge numbers of tasks.</a:t>
            </a:r>
            <a:endParaRPr/>
          </a:p>
        </p:txBody>
      </p:sp>
      <p:sp>
        <p:nvSpPr>
          <p:cNvPr id="405" name="Google Shape;40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the lecture's benchmark, a simulation with only 512 objects ran fastest on a single CPU thread: about 150 times faster than 64 threads and 200 times faster than the GPU, because the setup overhead dominated. At 64 thousand elements, 64 CPU threads pulled ahead. At hundreds of millions of elements, the GPU wins. The lesson: parallel hardware has a start-up cost, and you need enough work to pay for it.</a:t>
            </a:r>
            <a:endParaRPr/>
          </a:p>
        </p:txBody>
      </p:sp>
      <p:sp>
        <p:nvSpPr>
          <p:cNvPr id="433" name="Google Shape;43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CPU or GPU cannot run C++ directly; a compiler translates it into that chip's instructions. The same multiply-add line becomes a different instruction for an Intel chip, an ARM chip, or an NVIDIA GPU. All three are fused multiply-add instructions. nvcc is the compiler that can produce the GPU version, which is why every CUDA build in this club uses nvcc instead of g++.</a:t>
            </a:r>
            <a:endParaRPr/>
          </a:p>
        </p:txBody>
      </p:sp>
      <p:sp>
        <p:nvSpPr>
          <p:cNvPr id="616" name="Google Shape;61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real GPU programs are built on libraries, not raw kernels. At the bottom is the CUDA Runtime, which actually talks to the GPU. On top sit libraries: libcu++ (standard library pieces that work on the GPU), CUB (high-performance building blocks), and Thrust (the easy, std-like layer). Specialized libraries like cuBLAS for linear algebra and cuDNN for neural networks sit alongside. Today we stay at the Thrust layer.</a:t>
            </a:r>
            <a:endParaRPr/>
          </a:p>
        </p:txBody>
      </p:sp>
      <p:sp>
        <p:nvSpPr>
          <p:cNvPr id="648" name="Google Shape;6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Thrust deliberately mirrors the C++ standard library. Same algorithm names, same iterator style, similar containers. It adds a few extras the standard library does not have, like sort_by_key and counting_iterator. universal_vector is the container we use in the exercises: its memory can be read by both the CPU and the GPU, so we do not have to copy data by hand yet.</a:t>
            </a:r>
            <a:endParaRPr/>
          </a:p>
        </p:txBody>
      </p:sp>
      <p:sp>
        <p:nvSpPr>
          <p:cNvPr id="669" name="Google Shape;66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Compare std::transform to thrust::transform. The only difference is the first argument: the execution policy. It answers one question: where should this algorithm run? thrust::host means the CPU, thrust::device means the GPU. Because the interface is the same, switching between CPU and GPU is a one-word change.</a:t>
            </a:r>
            <a:endParaRPr/>
          </a:p>
        </p:txBody>
      </p:sp>
      <p:sp>
        <p:nvSpPr>
          <p:cNvPr id="704" name="Google Shape;7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most common source of confusion. The policy is a run-time choice of where the algorithm runs. The specifier on your function or lambda is a compile-time choice of which processors it gets compiled for. Writing thrust::device does not magically compile your lambda for the GPU; you need __device__ (or __host__ __device__) for that. Both have to agree.</a:t>
            </a:r>
            <a:endParaRPr/>
          </a:p>
        </p:txBody>
      </p:sp>
      <p:sp>
        <p:nvSpPr>
          <p:cNvPr id="722" name="Google Shape;72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grid. A host-only lambda cannot run on the GPU, and a device-only lambda cannot run on the CPU; both are compile errors, which is good, because you find out before running. __host__ __device__ produces both versions, so it works with either policy. That is why most Thrust code marks its lambdas __host__ __device__.</a:t>
            </a:r>
            <a:endParaRPr/>
          </a:p>
        </p:txBody>
      </p:sp>
      <p:sp>
        <p:nvSpPr>
          <p:cNvPr id="734" name="Google Shape;73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Give everyone five minutes. Encourage them to guess on paper first, then run the program. The helper prints OK or MISS for each line, so they get instant feedback. Do not reveal the answers until most people have run it.</a:t>
            </a:r>
            <a:endParaRPr/>
          </a:p>
        </p:txBody>
      </p:sp>
      <p:sp>
        <p:nvSpPr>
          <p:cNvPr id="760" name="Google Shape;7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Answers: CPU, GPU, CPU, CPU. The tricky one is the last line: some people expect that after running something on the GPU we stay there. We do not. Each Thrust call with thrust::device runs on the GPU and then control comes back to the CPU.</a:t>
            </a:r>
            <a:endParaRPr/>
          </a:p>
        </p:txBody>
      </p:sp>
      <p:sp>
        <p:nvSpPr>
          <p:cNvPr id="772" name="Google Shape;77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people will change thrust::host to thrust::device and hit a compile error. That is the point of the exercise: let them see the error, then connect it back to the policy vs specifier grid.</a:t>
            </a:r>
            <a:endParaRPr/>
          </a:p>
        </p:txBody>
      </p:sp>
      <p:sp>
        <p:nvSpPr>
          <p:cNvPr id="790" name="Google Shape;79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changes: the policy becomes thrust::device and the lambda specifier becomes __device__. Changing only the policy gives a compile error, because there is no GPU version of a host-only lambda. Point out that the printed lines may come out in a different order on the GPU, because the threads run in parallel.</a:t>
            </a:r>
            <a:endParaRPr/>
          </a:p>
        </p:txBody>
      </p:sp>
      <p:sp>
        <p:nvSpPr>
          <p:cNvPr id="804" name="Google Shape;8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connects back to the compilation slide: temp[i] + k * diff is the same expression, now running on the GPU. Three changes: the container, the lambda specifier, and the algorithm plus policy. The output is identical to the CPU version, which is a good habit: always check your GPU result against a CPU result.</a:t>
            </a:r>
            <a:endParaRPr/>
          </a:p>
        </p:txBody>
      </p:sp>
      <p:sp>
        <p:nvSpPr>
          <p:cNvPr id="820" name="Google Shape;82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Why grayscale first: every pixel is independent, the math is one line, and you get a result you can see immediately. Notice it has the exact same shape as Exercise 3: one small function applied to every element, which is a single thrust::transform call. The weights favor green because human eyes are most sensitive to green light.</a:t>
            </a:r>
            <a:endParaRPr/>
          </a:p>
        </p:txBody>
      </p:sp>
      <p:sp>
        <p:nvSpPr>
          <p:cNvPr id="839" name="Google Shape;83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with the roadmap and a clear call to action: bring a laptop to the next meeting, and we will get everyone running their first kernel on a free cloud GPU (for example Google Colab).</a:t>
            </a:r>
            <a:endParaRPr/>
          </a:p>
        </p:txBody>
      </p:sp>
      <p:sp>
        <p:nvSpPr>
          <p:cNvPr id="903" name="Google Shape;90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15" name="Shape 15"/>
        <p:cNvGrpSpPr/>
        <p:nvPr/>
      </p:nvGrpSpPr>
      <p:grpSpPr>
        <a:xfrm>
          <a:off x="0" y="0"/>
          <a:ext cx="0" cy="0"/>
          <a:chOff x="0" y="0"/>
          <a:chExt cx="0" cy="0"/>
        </a:xfrm>
      </p:grpSpPr>
      <p:sp>
        <p:nvSpPr>
          <p:cNvPr id="16" name="Google Shape;16;p1"/>
          <p:cNvSpPr txBox="1"/>
          <p:nvPr/>
        </p:nvSpPr>
        <p:spPr>
          <a:xfrm>
            <a:off x="548640" y="1188720"/>
            <a:ext cx="4572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400"/>
              <a:buFont typeface="Arial"/>
              <a:buNone/>
            </a:pPr>
            <a:r>
              <a:rPr b="1" i="0" lang="en-US" sz="1400" u="none" cap="none" strike="noStrike">
                <a:solidFill>
                  <a:srgbClr val="76B900"/>
                </a:solidFill>
                <a:latin typeface="Arial"/>
                <a:ea typeface="Arial"/>
                <a:cs typeface="Arial"/>
                <a:sym typeface="Arial"/>
              </a:rPr>
              <a:t>AGGIE CODING CLUB</a:t>
            </a:r>
            <a:endParaRPr b="0" i="0" sz="1400" u="none" cap="none" strike="noStrike">
              <a:solidFill>
                <a:schemeClr val="dk1"/>
              </a:solidFill>
              <a:latin typeface="Calibri"/>
              <a:ea typeface="Calibri"/>
              <a:cs typeface="Calibri"/>
              <a:sym typeface="Calibri"/>
            </a:endParaRPr>
          </a:p>
        </p:txBody>
      </p:sp>
      <p:sp>
        <p:nvSpPr>
          <p:cNvPr id="17" name="Google Shape;17;p1"/>
          <p:cNvSpPr txBox="1"/>
          <p:nvPr/>
        </p:nvSpPr>
        <p:spPr>
          <a:xfrm>
            <a:off x="548640" y="1554480"/>
            <a:ext cx="47548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400"/>
              <a:buFont typeface="Arial"/>
              <a:buNone/>
            </a:pPr>
            <a:r>
              <a:rPr b="1" i="0" lang="en-US" sz="5400" u="none" cap="none" strike="noStrike">
                <a:solidFill>
                  <a:srgbClr val="FFFFFF"/>
                </a:solidFill>
                <a:latin typeface="Arial"/>
                <a:ea typeface="Arial"/>
                <a:cs typeface="Arial"/>
                <a:sym typeface="Arial"/>
              </a:rPr>
              <a:t>CUDA Vision</a:t>
            </a:r>
            <a:endParaRPr b="0" i="0" sz="5400" u="none" cap="none" strike="noStrike">
              <a:solidFill>
                <a:schemeClr val="dk1"/>
              </a:solidFill>
              <a:latin typeface="Calibri"/>
              <a:ea typeface="Calibri"/>
              <a:cs typeface="Calibri"/>
              <a:sym typeface="Calibri"/>
            </a:endParaRPr>
          </a:p>
        </p:txBody>
      </p:sp>
      <p:sp>
        <p:nvSpPr>
          <p:cNvPr id="18" name="Google Shape;18;p1"/>
          <p:cNvSpPr txBox="1"/>
          <p:nvPr/>
        </p:nvSpPr>
        <p:spPr>
          <a:xfrm>
            <a:off x="548640" y="2514600"/>
            <a:ext cx="438912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CFCF"/>
              </a:buClr>
              <a:buSzPts val="2000"/>
              <a:buFont typeface="Arial"/>
              <a:buNone/>
            </a:pPr>
            <a:r>
              <a:rPr b="0" i="0" lang="en-US" sz="2000" u="none" cap="none" strike="noStrike">
                <a:solidFill>
                  <a:srgbClr val="CFCFCF"/>
                </a:solidFill>
                <a:latin typeface="Arial"/>
                <a:ea typeface="Arial"/>
                <a:cs typeface="Arial"/>
                <a:sym typeface="Arial"/>
              </a:rPr>
              <a:t>Learning GPU programming, one pixel at a time</a:t>
            </a:r>
            <a:endParaRPr b="0" i="0" sz="2000" u="none" cap="none" strike="noStrike">
              <a:solidFill>
                <a:schemeClr val="dk1"/>
              </a:solidFill>
              <a:latin typeface="Calibri"/>
              <a:ea typeface="Calibri"/>
              <a:cs typeface="Calibri"/>
              <a:sym typeface="Calibri"/>
            </a:endParaRPr>
          </a:p>
        </p:txBody>
      </p:sp>
      <p:sp>
        <p:nvSpPr>
          <p:cNvPr id="19" name="Google Shape;19;p1"/>
          <p:cNvSpPr txBox="1"/>
          <p:nvPr/>
        </p:nvSpPr>
        <p:spPr>
          <a:xfrm>
            <a:off x="548640" y="4023360"/>
            <a:ext cx="4572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200"/>
              <a:buFont typeface="Arial"/>
              <a:buNone/>
            </a:pPr>
            <a:r>
              <a:rPr b="0" i="0" lang="en-US" sz="1200" u="none" cap="none" strike="noStrike">
                <a:solidFill>
                  <a:srgbClr val="9A9A9A"/>
                </a:solidFill>
                <a:latin typeface="Arial"/>
                <a:ea typeface="Arial"/>
                <a:cs typeface="Arial"/>
                <a:sym typeface="Arial"/>
              </a:rPr>
              <a:t>Beginner-friendly  ·  No GPU required  ·  Basic C++ is plenty</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5394960" y="822960"/>
            <a:ext cx="384048" cy="384048"/>
          </a:xfrm>
          <a:prstGeom prst="roundRect">
            <a:avLst>
              <a:gd fmla="val 14286" name="adj"/>
            </a:avLst>
          </a:prstGeom>
          <a:solidFill>
            <a:srgbClr val="457B9D"/>
          </a:solidFill>
          <a:ln cap="flat" cmpd="sng" w="12700">
            <a:solidFill>
              <a:srgbClr val="457B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5833872" y="822960"/>
            <a:ext cx="384048" cy="384048"/>
          </a:xfrm>
          <a:prstGeom prst="roundRect">
            <a:avLst>
              <a:gd fmla="val 14286" name="adj"/>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6272784" y="822960"/>
            <a:ext cx="384048" cy="384048"/>
          </a:xfrm>
          <a:prstGeom prst="roundRect">
            <a:avLst>
              <a:gd fmla="val 14286" name="adj"/>
            </a:avLst>
          </a:prstGeom>
          <a:solidFill>
            <a:srgbClr val="8338EC"/>
          </a:solidFill>
          <a:ln cap="flat" cmpd="sng" w="12700">
            <a:solidFill>
              <a:srgbClr val="8338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6711696" y="822960"/>
            <a:ext cx="384048" cy="384048"/>
          </a:xfrm>
          <a:prstGeom prst="roundRect">
            <a:avLst>
              <a:gd fmla="val 14286" name="adj"/>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7150608" y="822960"/>
            <a:ext cx="384048" cy="384048"/>
          </a:xfrm>
          <a:prstGeom prst="roundRect">
            <a:avLst>
              <a:gd fmla="val 14286" name="adj"/>
            </a:avLst>
          </a:prstGeom>
          <a:solidFill>
            <a:srgbClr val="7D7D7D"/>
          </a:solidFill>
          <a:ln cap="flat" cmpd="sng" w="12700">
            <a:solidFill>
              <a:srgbClr val="7D7D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7589520" y="822960"/>
            <a:ext cx="384048" cy="384048"/>
          </a:xfrm>
          <a:prstGeom prst="roundRect">
            <a:avLst>
              <a:gd fmla="val 14286"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8028432" y="822960"/>
            <a:ext cx="384048" cy="384048"/>
          </a:xfrm>
          <a:prstGeom prst="roundRect">
            <a:avLst>
              <a:gd fmla="val 14286" name="adj"/>
            </a:avLst>
          </a:prstGeom>
          <a:solidFill>
            <a:srgbClr val="7E7E7E"/>
          </a:solidFill>
          <a:ln cap="flat" cmpd="sng" w="12700">
            <a:solidFill>
              <a:srgbClr val="7E7E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8467344" y="822960"/>
            <a:ext cx="384048" cy="384048"/>
          </a:xfrm>
          <a:prstGeom prst="roundRect">
            <a:avLst>
              <a:gd fmla="val 14286" name="adj"/>
            </a:avLst>
          </a:prstGeom>
          <a:solidFill>
            <a:srgbClr val="C5C5C5"/>
          </a:solidFill>
          <a:ln cap="flat" cmpd="sng" w="12700">
            <a:solidFill>
              <a:srgbClr val="C5C5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5394960" y="1261872"/>
            <a:ext cx="384048" cy="384048"/>
          </a:xfrm>
          <a:prstGeom prst="roundRect">
            <a:avLst>
              <a:gd fmla="val 14286"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5833872" y="1261872"/>
            <a:ext cx="384048" cy="384048"/>
          </a:xfrm>
          <a:prstGeom prst="roundRect">
            <a:avLst>
              <a:gd fmla="val 14286" name="adj"/>
            </a:avLst>
          </a:prstGeom>
          <a:solidFill>
            <a:srgbClr val="FF006E"/>
          </a:solidFill>
          <a:ln cap="flat" cmpd="sng" w="12700">
            <a:solidFill>
              <a:srgbClr val="FF00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6272784" y="1261872"/>
            <a:ext cx="384048" cy="384048"/>
          </a:xfrm>
          <a:prstGeom prst="roundRect">
            <a:avLst>
              <a:gd fmla="val 14286" name="adj"/>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6711696" y="1261872"/>
            <a:ext cx="384048" cy="384048"/>
          </a:xfrm>
          <a:prstGeom prst="roundRect">
            <a:avLst>
              <a:gd fmla="val 14286" name="adj"/>
            </a:avLst>
          </a:prstGeom>
          <a:solidFill>
            <a:srgbClr val="06D6A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7150608" y="1261872"/>
            <a:ext cx="384048" cy="384048"/>
          </a:xfrm>
          <a:prstGeom prst="roundRect">
            <a:avLst>
              <a:gd fmla="val 14286" name="adj"/>
            </a:avLst>
          </a:prstGeom>
          <a:solidFill>
            <a:srgbClr val="6F6F6F"/>
          </a:solidFill>
          <a:ln cap="flat" cmpd="sng" w="12700">
            <a:solidFill>
              <a:srgbClr val="6F6F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7589520" y="1261872"/>
            <a:ext cx="384048" cy="384048"/>
          </a:xfrm>
          <a:prstGeom prst="roundRect">
            <a:avLst>
              <a:gd fmla="val 14286" name="adj"/>
            </a:avLst>
          </a:prstGeom>
          <a:solidFill>
            <a:srgbClr val="909090"/>
          </a:solidFill>
          <a:ln cap="flat" cmpd="sng" w="12700">
            <a:solidFill>
              <a:srgbClr val="909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8028432" y="1261872"/>
            <a:ext cx="384048" cy="384048"/>
          </a:xfrm>
          <a:prstGeom prst="roundRect">
            <a:avLst>
              <a:gd fmla="val 14286" name="adj"/>
            </a:avLst>
          </a:prstGeom>
          <a:solidFill>
            <a:srgbClr val="636363"/>
          </a:solidFill>
          <a:ln cap="flat" cmpd="sng" w="12700">
            <a:solidFill>
              <a:srgbClr val="6363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8467344" y="1261872"/>
            <a:ext cx="384048" cy="384048"/>
          </a:xfrm>
          <a:prstGeom prst="roundRect">
            <a:avLst>
              <a:gd fmla="val 14286" name="adj"/>
            </a:avLst>
          </a:prstGeom>
          <a:solidFill>
            <a:srgbClr val="6E6E6E"/>
          </a:solidFill>
          <a:ln cap="flat" cmpd="sng" w="12700">
            <a:solidFill>
              <a:srgbClr val="6E6E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5394960" y="1700784"/>
            <a:ext cx="384048" cy="384048"/>
          </a:xfrm>
          <a:prstGeom prst="roundRect">
            <a:avLst>
              <a:gd fmla="val 14286" name="adj"/>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5833872" y="1700784"/>
            <a:ext cx="384048" cy="384048"/>
          </a:xfrm>
          <a:prstGeom prst="roundRect">
            <a:avLst>
              <a:gd fmla="val 14286" name="adj"/>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6272784" y="1700784"/>
            <a:ext cx="384048" cy="384048"/>
          </a:xfrm>
          <a:prstGeom prst="roundRect">
            <a:avLst>
              <a:gd fmla="val 14286" name="adj"/>
            </a:avLst>
          </a:prstGeom>
          <a:solidFill>
            <a:srgbClr val="FB5607"/>
          </a:solidFill>
          <a:ln cap="flat" cmpd="sng" w="12700">
            <a:solidFill>
              <a:srgbClr val="FB560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6711696" y="1700784"/>
            <a:ext cx="384048" cy="384048"/>
          </a:xfrm>
          <a:prstGeom prst="roundRect">
            <a:avLst>
              <a:gd fmla="val 14286" name="adj"/>
            </a:avLst>
          </a:prstGeom>
          <a:solidFill>
            <a:srgbClr val="E9C46A"/>
          </a:solidFill>
          <a:ln cap="flat" cmpd="sng" w="12700">
            <a:solidFill>
              <a:srgbClr val="E9C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7150608" y="1700784"/>
            <a:ext cx="384048" cy="384048"/>
          </a:xfrm>
          <a:prstGeom prst="roundRect">
            <a:avLst>
              <a:gd fmla="val 14286" name="adj"/>
            </a:avLst>
          </a:prstGeom>
          <a:solidFill>
            <a:srgbClr val="181818"/>
          </a:solidFill>
          <a:ln cap="flat" cmpd="sng" w="12700">
            <a:solidFill>
              <a:srgbClr val="18181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7589520" y="1700784"/>
            <a:ext cx="384048" cy="384048"/>
          </a:xfrm>
          <a:prstGeom prst="roundRect">
            <a:avLst>
              <a:gd fmla="val 14286" name="adj"/>
            </a:avLst>
          </a:prstGeom>
          <a:solidFill>
            <a:srgbClr val="595959"/>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8028432" y="1700784"/>
            <a:ext cx="384048" cy="384048"/>
          </a:xfrm>
          <a:prstGeom prst="roundRect">
            <a:avLst>
              <a:gd fmla="val 14286" name="adj"/>
            </a:avLst>
          </a:prstGeom>
          <a:solidFill>
            <a:srgbClr val="B3B3B3"/>
          </a:solidFill>
          <a:ln cap="flat" cmpd="sng" w="12700">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
          <p:cNvSpPr/>
          <p:nvPr/>
        </p:nvSpPr>
        <p:spPr>
          <a:xfrm>
            <a:off x="8467344" y="1700784"/>
            <a:ext cx="384048" cy="384048"/>
          </a:xfrm>
          <a:prstGeom prst="roundRect">
            <a:avLst>
              <a:gd fmla="val 14286" name="adj"/>
            </a:avLst>
          </a:prstGeom>
          <a:solidFill>
            <a:srgbClr val="929292"/>
          </a:solidFill>
          <a:ln cap="flat" cmpd="sng" w="12700">
            <a:solidFill>
              <a:srgbClr val="9292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5394960" y="2139696"/>
            <a:ext cx="384048" cy="384048"/>
          </a:xfrm>
          <a:prstGeom prst="roundRect">
            <a:avLst>
              <a:gd fmla="val 14286" name="adj"/>
            </a:avLst>
          </a:prstGeom>
          <a:solidFill>
            <a:srgbClr val="457B9D"/>
          </a:solidFill>
          <a:ln cap="flat" cmpd="sng" w="12700">
            <a:solidFill>
              <a:srgbClr val="457B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5833872" y="2139696"/>
            <a:ext cx="384048" cy="384048"/>
          </a:xfrm>
          <a:prstGeom prst="roundRect">
            <a:avLst>
              <a:gd fmla="val 14286" name="adj"/>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6272784" y="2139696"/>
            <a:ext cx="384048" cy="384048"/>
          </a:xfrm>
          <a:prstGeom prst="roundRect">
            <a:avLst>
              <a:gd fmla="val 14286" name="adj"/>
            </a:avLst>
          </a:prstGeom>
          <a:solidFill>
            <a:srgbClr val="8338EC"/>
          </a:solidFill>
          <a:ln cap="flat" cmpd="sng" w="12700">
            <a:solidFill>
              <a:srgbClr val="8338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6711696" y="2139696"/>
            <a:ext cx="384048" cy="384048"/>
          </a:xfrm>
          <a:prstGeom prst="roundRect">
            <a:avLst>
              <a:gd fmla="val 14286" name="adj"/>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7150608" y="2139696"/>
            <a:ext cx="384048" cy="384048"/>
          </a:xfrm>
          <a:prstGeom prst="roundRect">
            <a:avLst>
              <a:gd fmla="val 14286" name="adj"/>
            </a:avLst>
          </a:prstGeom>
          <a:solidFill>
            <a:srgbClr val="7D7D7D"/>
          </a:solidFill>
          <a:ln cap="flat" cmpd="sng" w="12700">
            <a:solidFill>
              <a:srgbClr val="7D7D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7589520" y="2139696"/>
            <a:ext cx="384048" cy="384048"/>
          </a:xfrm>
          <a:prstGeom prst="roundRect">
            <a:avLst>
              <a:gd fmla="val 14286"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8028432" y="2139696"/>
            <a:ext cx="384048" cy="384048"/>
          </a:xfrm>
          <a:prstGeom prst="roundRect">
            <a:avLst>
              <a:gd fmla="val 14286" name="adj"/>
            </a:avLst>
          </a:prstGeom>
          <a:solidFill>
            <a:srgbClr val="7E7E7E"/>
          </a:solidFill>
          <a:ln cap="flat" cmpd="sng" w="12700">
            <a:solidFill>
              <a:srgbClr val="7E7E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8467344" y="2139696"/>
            <a:ext cx="384048" cy="384048"/>
          </a:xfrm>
          <a:prstGeom prst="roundRect">
            <a:avLst>
              <a:gd fmla="val 14286" name="adj"/>
            </a:avLst>
          </a:prstGeom>
          <a:solidFill>
            <a:srgbClr val="C5C5C5"/>
          </a:solidFill>
          <a:ln cap="flat" cmpd="sng" w="12700">
            <a:solidFill>
              <a:srgbClr val="C5C5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5394960" y="2578608"/>
            <a:ext cx="384048" cy="384048"/>
          </a:xfrm>
          <a:prstGeom prst="roundRect">
            <a:avLst>
              <a:gd fmla="val 14286"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5833872" y="2578608"/>
            <a:ext cx="384048" cy="384048"/>
          </a:xfrm>
          <a:prstGeom prst="roundRect">
            <a:avLst>
              <a:gd fmla="val 14286" name="adj"/>
            </a:avLst>
          </a:prstGeom>
          <a:solidFill>
            <a:srgbClr val="FF006E"/>
          </a:solidFill>
          <a:ln cap="flat" cmpd="sng" w="12700">
            <a:solidFill>
              <a:srgbClr val="FF00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6272784" y="2578608"/>
            <a:ext cx="384048" cy="384048"/>
          </a:xfrm>
          <a:prstGeom prst="roundRect">
            <a:avLst>
              <a:gd fmla="val 14286" name="adj"/>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6711696" y="2578608"/>
            <a:ext cx="384048" cy="384048"/>
          </a:xfrm>
          <a:prstGeom prst="roundRect">
            <a:avLst>
              <a:gd fmla="val 14286" name="adj"/>
            </a:avLst>
          </a:prstGeom>
          <a:solidFill>
            <a:srgbClr val="06D6A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0608" y="2578608"/>
            <a:ext cx="384048" cy="384048"/>
          </a:xfrm>
          <a:prstGeom prst="roundRect">
            <a:avLst>
              <a:gd fmla="val 14286" name="adj"/>
            </a:avLst>
          </a:prstGeom>
          <a:solidFill>
            <a:srgbClr val="6F6F6F"/>
          </a:solidFill>
          <a:ln cap="flat" cmpd="sng" w="12700">
            <a:solidFill>
              <a:srgbClr val="6F6F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589520" y="2578608"/>
            <a:ext cx="384048" cy="384048"/>
          </a:xfrm>
          <a:prstGeom prst="roundRect">
            <a:avLst>
              <a:gd fmla="val 14286" name="adj"/>
            </a:avLst>
          </a:prstGeom>
          <a:solidFill>
            <a:srgbClr val="909090"/>
          </a:solidFill>
          <a:ln cap="flat" cmpd="sng" w="12700">
            <a:solidFill>
              <a:srgbClr val="909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8028432" y="2578608"/>
            <a:ext cx="384048" cy="384048"/>
          </a:xfrm>
          <a:prstGeom prst="roundRect">
            <a:avLst>
              <a:gd fmla="val 14286" name="adj"/>
            </a:avLst>
          </a:prstGeom>
          <a:solidFill>
            <a:srgbClr val="636363"/>
          </a:solidFill>
          <a:ln cap="flat" cmpd="sng" w="12700">
            <a:solidFill>
              <a:srgbClr val="6363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8467344" y="2578608"/>
            <a:ext cx="384048" cy="384048"/>
          </a:xfrm>
          <a:prstGeom prst="roundRect">
            <a:avLst>
              <a:gd fmla="val 14286" name="adj"/>
            </a:avLst>
          </a:prstGeom>
          <a:solidFill>
            <a:srgbClr val="6E6E6E"/>
          </a:solidFill>
          <a:ln cap="flat" cmpd="sng" w="12700">
            <a:solidFill>
              <a:srgbClr val="6E6E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5394960" y="3017520"/>
            <a:ext cx="384048" cy="384048"/>
          </a:xfrm>
          <a:prstGeom prst="roundRect">
            <a:avLst>
              <a:gd fmla="val 14286" name="adj"/>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5833872" y="3017520"/>
            <a:ext cx="384048" cy="384048"/>
          </a:xfrm>
          <a:prstGeom prst="roundRect">
            <a:avLst>
              <a:gd fmla="val 14286" name="adj"/>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6272784" y="3017520"/>
            <a:ext cx="384048" cy="384048"/>
          </a:xfrm>
          <a:prstGeom prst="roundRect">
            <a:avLst>
              <a:gd fmla="val 14286" name="adj"/>
            </a:avLst>
          </a:prstGeom>
          <a:solidFill>
            <a:srgbClr val="FB5607"/>
          </a:solidFill>
          <a:ln cap="flat" cmpd="sng" w="12700">
            <a:solidFill>
              <a:srgbClr val="FB560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6711696" y="3017520"/>
            <a:ext cx="384048" cy="384048"/>
          </a:xfrm>
          <a:prstGeom prst="roundRect">
            <a:avLst>
              <a:gd fmla="val 14286" name="adj"/>
            </a:avLst>
          </a:prstGeom>
          <a:solidFill>
            <a:srgbClr val="E9C46A"/>
          </a:solidFill>
          <a:ln cap="flat" cmpd="sng" w="12700">
            <a:solidFill>
              <a:srgbClr val="E9C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150608" y="3017520"/>
            <a:ext cx="384048" cy="384048"/>
          </a:xfrm>
          <a:prstGeom prst="roundRect">
            <a:avLst>
              <a:gd fmla="val 14286" name="adj"/>
            </a:avLst>
          </a:prstGeom>
          <a:solidFill>
            <a:srgbClr val="181818"/>
          </a:solidFill>
          <a:ln cap="flat" cmpd="sng" w="12700">
            <a:solidFill>
              <a:srgbClr val="18181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589520" y="3017520"/>
            <a:ext cx="384048" cy="384048"/>
          </a:xfrm>
          <a:prstGeom prst="roundRect">
            <a:avLst>
              <a:gd fmla="val 14286" name="adj"/>
            </a:avLst>
          </a:prstGeom>
          <a:solidFill>
            <a:srgbClr val="595959"/>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8028432" y="3017520"/>
            <a:ext cx="384048" cy="384048"/>
          </a:xfrm>
          <a:prstGeom prst="roundRect">
            <a:avLst>
              <a:gd fmla="val 14286" name="adj"/>
            </a:avLst>
          </a:prstGeom>
          <a:solidFill>
            <a:srgbClr val="B3B3B3"/>
          </a:solidFill>
          <a:ln cap="flat" cmpd="sng" w="12700">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8467344" y="3017520"/>
            <a:ext cx="384048" cy="384048"/>
          </a:xfrm>
          <a:prstGeom prst="roundRect">
            <a:avLst>
              <a:gd fmla="val 14286" name="adj"/>
            </a:avLst>
          </a:prstGeom>
          <a:solidFill>
            <a:srgbClr val="929292"/>
          </a:solidFill>
          <a:ln cap="flat" cmpd="sng" w="12700">
            <a:solidFill>
              <a:srgbClr val="9292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5394960" y="3456432"/>
            <a:ext cx="384048" cy="384048"/>
          </a:xfrm>
          <a:prstGeom prst="roundRect">
            <a:avLst>
              <a:gd fmla="val 14286" name="adj"/>
            </a:avLst>
          </a:prstGeom>
          <a:solidFill>
            <a:srgbClr val="457B9D"/>
          </a:solidFill>
          <a:ln cap="flat" cmpd="sng" w="12700">
            <a:solidFill>
              <a:srgbClr val="457B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5833872" y="3456432"/>
            <a:ext cx="384048" cy="384048"/>
          </a:xfrm>
          <a:prstGeom prst="roundRect">
            <a:avLst>
              <a:gd fmla="val 14286" name="adj"/>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6272784" y="3456432"/>
            <a:ext cx="384048" cy="384048"/>
          </a:xfrm>
          <a:prstGeom prst="roundRect">
            <a:avLst>
              <a:gd fmla="val 14286" name="adj"/>
            </a:avLst>
          </a:prstGeom>
          <a:solidFill>
            <a:srgbClr val="8338EC"/>
          </a:solidFill>
          <a:ln cap="flat" cmpd="sng" w="12700">
            <a:solidFill>
              <a:srgbClr val="8338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6711696" y="3456432"/>
            <a:ext cx="384048" cy="384048"/>
          </a:xfrm>
          <a:prstGeom prst="roundRect">
            <a:avLst>
              <a:gd fmla="val 14286" name="adj"/>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0608" y="3456432"/>
            <a:ext cx="384048" cy="384048"/>
          </a:xfrm>
          <a:prstGeom prst="roundRect">
            <a:avLst>
              <a:gd fmla="val 14286" name="adj"/>
            </a:avLst>
          </a:prstGeom>
          <a:solidFill>
            <a:srgbClr val="7D7D7D"/>
          </a:solidFill>
          <a:ln cap="flat" cmpd="sng" w="12700">
            <a:solidFill>
              <a:srgbClr val="7D7D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589520" y="3456432"/>
            <a:ext cx="384048" cy="384048"/>
          </a:xfrm>
          <a:prstGeom prst="roundRect">
            <a:avLst>
              <a:gd fmla="val 14286"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8028432" y="3456432"/>
            <a:ext cx="384048" cy="384048"/>
          </a:xfrm>
          <a:prstGeom prst="roundRect">
            <a:avLst>
              <a:gd fmla="val 14286" name="adj"/>
            </a:avLst>
          </a:prstGeom>
          <a:solidFill>
            <a:srgbClr val="7E7E7E"/>
          </a:solidFill>
          <a:ln cap="flat" cmpd="sng" w="12700">
            <a:solidFill>
              <a:srgbClr val="7E7E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8467344" y="3456432"/>
            <a:ext cx="384048" cy="384048"/>
          </a:xfrm>
          <a:prstGeom prst="roundRect">
            <a:avLst>
              <a:gd fmla="val 14286" name="adj"/>
            </a:avLst>
          </a:prstGeom>
          <a:solidFill>
            <a:srgbClr val="C5C5C5"/>
          </a:solidFill>
          <a:ln cap="flat" cmpd="sng" w="12700">
            <a:solidFill>
              <a:srgbClr val="C5C5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5394960" y="3895344"/>
            <a:ext cx="384048" cy="384048"/>
          </a:xfrm>
          <a:prstGeom prst="roundRect">
            <a:avLst>
              <a:gd fmla="val 14286"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5833872" y="3895344"/>
            <a:ext cx="384048" cy="384048"/>
          </a:xfrm>
          <a:prstGeom prst="roundRect">
            <a:avLst>
              <a:gd fmla="val 14286" name="adj"/>
            </a:avLst>
          </a:prstGeom>
          <a:solidFill>
            <a:srgbClr val="FF006E"/>
          </a:solidFill>
          <a:ln cap="flat" cmpd="sng" w="12700">
            <a:solidFill>
              <a:srgbClr val="FF00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6272784" y="3895344"/>
            <a:ext cx="384048" cy="384048"/>
          </a:xfrm>
          <a:prstGeom prst="roundRect">
            <a:avLst>
              <a:gd fmla="val 14286" name="adj"/>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6711696" y="3895344"/>
            <a:ext cx="384048" cy="384048"/>
          </a:xfrm>
          <a:prstGeom prst="roundRect">
            <a:avLst>
              <a:gd fmla="val 14286" name="adj"/>
            </a:avLst>
          </a:prstGeom>
          <a:solidFill>
            <a:srgbClr val="06D6A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50608" y="3895344"/>
            <a:ext cx="384048" cy="384048"/>
          </a:xfrm>
          <a:prstGeom prst="roundRect">
            <a:avLst>
              <a:gd fmla="val 14286" name="adj"/>
            </a:avLst>
          </a:prstGeom>
          <a:solidFill>
            <a:srgbClr val="6F6F6F"/>
          </a:solidFill>
          <a:ln cap="flat" cmpd="sng" w="12700">
            <a:solidFill>
              <a:srgbClr val="6F6F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7589520" y="3895344"/>
            <a:ext cx="384048" cy="384048"/>
          </a:xfrm>
          <a:prstGeom prst="roundRect">
            <a:avLst>
              <a:gd fmla="val 14286" name="adj"/>
            </a:avLst>
          </a:prstGeom>
          <a:solidFill>
            <a:srgbClr val="909090"/>
          </a:solidFill>
          <a:ln cap="flat" cmpd="sng" w="12700">
            <a:solidFill>
              <a:srgbClr val="909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8028432" y="3895344"/>
            <a:ext cx="384048" cy="384048"/>
          </a:xfrm>
          <a:prstGeom prst="roundRect">
            <a:avLst>
              <a:gd fmla="val 14286" name="adj"/>
            </a:avLst>
          </a:prstGeom>
          <a:solidFill>
            <a:srgbClr val="636363"/>
          </a:solidFill>
          <a:ln cap="flat" cmpd="sng" w="12700">
            <a:solidFill>
              <a:srgbClr val="6363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8467344" y="3895344"/>
            <a:ext cx="384048" cy="384048"/>
          </a:xfrm>
          <a:prstGeom prst="roundRect">
            <a:avLst>
              <a:gd fmla="val 14286" name="adj"/>
            </a:avLst>
          </a:prstGeom>
          <a:solidFill>
            <a:srgbClr val="6E6E6E"/>
          </a:solidFill>
          <a:ln cap="flat" cmpd="sng" w="12700">
            <a:solidFill>
              <a:srgbClr val="6E6E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2"/>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i="0" lang="en-US" sz="3200" u="none" cap="none" strike="noStrike">
                <a:solidFill>
                  <a:srgbClr val="500000"/>
                </a:solidFill>
                <a:latin typeface="Arial"/>
                <a:ea typeface="Arial"/>
                <a:cs typeface="Arial"/>
                <a:sym typeface="Arial"/>
              </a:rPr>
              <a:t>What is CUDA Vision?</a:t>
            </a:r>
            <a:endParaRPr b="0" i="0" sz="3200" u="none" cap="none" strike="noStrike">
              <a:solidFill>
                <a:schemeClr val="dk1"/>
              </a:solidFill>
              <a:latin typeface="Calibri"/>
              <a:ea typeface="Calibri"/>
              <a:cs typeface="Calibri"/>
              <a:sym typeface="Calibri"/>
            </a:endParaRPr>
          </a:p>
        </p:txBody>
      </p:sp>
      <p:sp>
        <p:nvSpPr>
          <p:cNvPr id="90" name="Google Shape;90;p2"/>
          <p:cNvSpPr txBox="1"/>
          <p:nvPr/>
        </p:nvSpPr>
        <p:spPr>
          <a:xfrm>
            <a:off x="457200" y="1234440"/>
            <a:ext cx="3657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800"/>
              <a:buFont typeface="Arial"/>
              <a:buNone/>
            </a:pPr>
            <a:r>
              <a:rPr b="1" i="0" lang="en-US" sz="1800" u="none" cap="none" strike="noStrike">
                <a:solidFill>
                  <a:srgbClr val="2B2B2B"/>
                </a:solidFill>
                <a:latin typeface="Arial"/>
                <a:ea typeface="Arial"/>
                <a:cs typeface="Arial"/>
                <a:sym typeface="Arial"/>
              </a:rPr>
              <a:t>A semester-long learning project for anyone curious about how GPUs work.</a:t>
            </a:r>
            <a:endParaRPr b="0" i="0" sz="1800" u="none" cap="none" strike="noStrike">
              <a:solidFill>
                <a:schemeClr val="dk1"/>
              </a:solidFill>
              <a:latin typeface="Calibri"/>
              <a:ea typeface="Calibri"/>
              <a:cs typeface="Calibri"/>
              <a:sym typeface="Calibri"/>
            </a:endParaRPr>
          </a:p>
        </p:txBody>
      </p:sp>
      <p:sp>
        <p:nvSpPr>
          <p:cNvPr id="91" name="Google Shape;91;p2"/>
          <p:cNvSpPr txBox="1"/>
          <p:nvPr/>
        </p:nvSpPr>
        <p:spPr>
          <a:xfrm>
            <a:off x="457200" y="2148840"/>
            <a:ext cx="365760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400"/>
              <a:buFont typeface="Arial"/>
              <a:buNone/>
            </a:pPr>
            <a:r>
              <a:rPr b="0" i="0" lang="en-US" sz="1400" u="none" cap="none" strike="noStrike">
                <a:solidFill>
                  <a:srgbClr val="6B6B6B"/>
                </a:solidFill>
                <a:latin typeface="Arial"/>
                <a:ea typeface="Arial"/>
                <a:cs typeface="Arial"/>
                <a:sym typeface="Arial"/>
              </a:rPr>
              <a:t>If you have written a for-loop in C++ (or honestly any language), you are ready. We start from zero on GPUs and build up together, one small program at a time.</a:t>
            </a:r>
            <a:endParaRPr b="0" i="0" sz="1400" u="none" cap="none" strike="noStrike">
              <a:solidFill>
                <a:schemeClr val="dk1"/>
              </a:solidFill>
              <a:latin typeface="Calibri"/>
              <a:ea typeface="Calibri"/>
              <a:cs typeface="Calibri"/>
              <a:sym typeface="Calibri"/>
            </a:endParaRPr>
          </a:p>
        </p:txBody>
      </p:sp>
      <p:sp>
        <p:nvSpPr>
          <p:cNvPr id="92" name="Google Shape;92;p2"/>
          <p:cNvSpPr/>
          <p:nvPr/>
        </p:nvSpPr>
        <p:spPr>
          <a:xfrm>
            <a:off x="4480560" y="1188720"/>
            <a:ext cx="4206240" cy="1005840"/>
          </a:xfrm>
          <a:prstGeom prst="roundRect">
            <a:avLst>
              <a:gd fmla="val 10909"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4663440" y="1371600"/>
            <a:ext cx="640080" cy="64008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 name="Google Shape;94;p2"/>
          <p:cNvPicPr preferRelativeResize="0"/>
          <p:nvPr/>
        </p:nvPicPr>
        <p:blipFill rotWithShape="1">
          <a:blip r:embed="rId3">
            <a:alphaModFix/>
          </a:blip>
          <a:srcRect b="0" l="0" r="0" t="0"/>
          <a:stretch/>
        </p:blipFill>
        <p:spPr>
          <a:xfrm>
            <a:off x="4842662" y="1550822"/>
            <a:ext cx="281635" cy="281635"/>
          </a:xfrm>
          <a:prstGeom prst="rect">
            <a:avLst/>
          </a:prstGeom>
          <a:noFill/>
          <a:ln>
            <a:noFill/>
          </a:ln>
        </p:spPr>
      </p:pic>
      <p:sp>
        <p:nvSpPr>
          <p:cNvPr id="95" name="Google Shape;95;p2"/>
          <p:cNvSpPr txBox="1"/>
          <p:nvPr/>
        </p:nvSpPr>
        <p:spPr>
          <a:xfrm>
            <a:off x="5486400" y="1344168"/>
            <a:ext cx="3017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600"/>
              <a:buFont typeface="Arial"/>
              <a:buNone/>
            </a:pPr>
            <a:r>
              <a:rPr b="1" i="0" lang="en-US" sz="1600" u="none" cap="none" strike="noStrike">
                <a:solidFill>
                  <a:srgbClr val="500000"/>
                </a:solidFill>
                <a:latin typeface="Arial"/>
                <a:ea typeface="Arial"/>
                <a:cs typeface="Arial"/>
                <a:sym typeface="Arial"/>
              </a:rPr>
              <a:t>Learn how GPUs think</a:t>
            </a:r>
            <a:endParaRPr b="0" i="0" sz="1600" u="none" cap="none" strike="noStrike">
              <a:solidFill>
                <a:schemeClr val="dk1"/>
              </a:solidFill>
              <a:latin typeface="Calibri"/>
              <a:ea typeface="Calibri"/>
              <a:cs typeface="Calibri"/>
              <a:sym typeface="Calibri"/>
            </a:endParaRPr>
          </a:p>
        </p:txBody>
      </p:sp>
      <p:sp>
        <p:nvSpPr>
          <p:cNvPr id="96" name="Google Shape;96;p2"/>
          <p:cNvSpPr txBox="1"/>
          <p:nvPr/>
        </p:nvSpPr>
        <p:spPr>
          <a:xfrm>
            <a:off x="5486400" y="1664208"/>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Parallel programming explained with pictures, not proofs.</a:t>
            </a:r>
            <a:endParaRPr b="0" i="0" sz="1200" u="none" cap="none" strike="noStrike">
              <a:solidFill>
                <a:schemeClr val="dk1"/>
              </a:solidFill>
              <a:latin typeface="Calibri"/>
              <a:ea typeface="Calibri"/>
              <a:cs typeface="Calibri"/>
              <a:sym typeface="Calibri"/>
            </a:endParaRPr>
          </a:p>
        </p:txBody>
      </p:sp>
      <p:sp>
        <p:nvSpPr>
          <p:cNvPr id="97" name="Google Shape;97;p2"/>
          <p:cNvSpPr/>
          <p:nvPr/>
        </p:nvSpPr>
        <p:spPr>
          <a:xfrm>
            <a:off x="4480560" y="2377440"/>
            <a:ext cx="4206240" cy="1005840"/>
          </a:xfrm>
          <a:prstGeom prst="roundRect">
            <a:avLst>
              <a:gd fmla="val 10909"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4663440" y="2560320"/>
            <a:ext cx="640080" cy="64008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 name="Google Shape;99;p2"/>
          <p:cNvPicPr preferRelativeResize="0"/>
          <p:nvPr/>
        </p:nvPicPr>
        <p:blipFill rotWithShape="1">
          <a:blip r:embed="rId4">
            <a:alphaModFix/>
          </a:blip>
          <a:srcRect b="0" l="0" r="0" t="0"/>
          <a:stretch/>
        </p:blipFill>
        <p:spPr>
          <a:xfrm>
            <a:off x="4842662" y="2739542"/>
            <a:ext cx="281635" cy="281635"/>
          </a:xfrm>
          <a:prstGeom prst="rect">
            <a:avLst/>
          </a:prstGeom>
          <a:noFill/>
          <a:ln>
            <a:noFill/>
          </a:ln>
        </p:spPr>
      </p:pic>
      <p:sp>
        <p:nvSpPr>
          <p:cNvPr id="100" name="Google Shape;100;p2"/>
          <p:cNvSpPr txBox="1"/>
          <p:nvPr/>
        </p:nvSpPr>
        <p:spPr>
          <a:xfrm>
            <a:off x="5486400" y="2532888"/>
            <a:ext cx="3017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600"/>
              <a:buFont typeface="Arial"/>
              <a:buNone/>
            </a:pPr>
            <a:r>
              <a:rPr b="1" i="0" lang="en-US" sz="1600" u="none" cap="none" strike="noStrike">
                <a:solidFill>
                  <a:srgbClr val="500000"/>
                </a:solidFill>
                <a:latin typeface="Arial"/>
                <a:ea typeface="Arial"/>
                <a:cs typeface="Arial"/>
                <a:sym typeface="Arial"/>
              </a:rPr>
              <a:t>Build real image filters</a:t>
            </a:r>
            <a:endParaRPr b="0" i="0" sz="1600" u="none" cap="none" strike="noStrike">
              <a:solidFill>
                <a:schemeClr val="dk1"/>
              </a:solidFill>
              <a:latin typeface="Calibri"/>
              <a:ea typeface="Calibri"/>
              <a:cs typeface="Calibri"/>
              <a:sym typeface="Calibri"/>
            </a:endParaRPr>
          </a:p>
        </p:txBody>
      </p:sp>
      <p:sp>
        <p:nvSpPr>
          <p:cNvPr id="101" name="Google Shape;101;p2"/>
          <p:cNvSpPr txBox="1"/>
          <p:nvPr/>
        </p:nvSpPr>
        <p:spPr>
          <a:xfrm>
            <a:off x="5486400" y="2852928"/>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Every exercise produces an image you can actually see.</a:t>
            </a:r>
            <a:endParaRPr b="0" i="0" sz="1200" u="none" cap="none" strike="noStrike">
              <a:solidFill>
                <a:schemeClr val="dk1"/>
              </a:solidFill>
              <a:latin typeface="Calibri"/>
              <a:ea typeface="Calibri"/>
              <a:cs typeface="Calibri"/>
              <a:sym typeface="Calibri"/>
            </a:endParaRPr>
          </a:p>
        </p:txBody>
      </p:sp>
      <p:sp>
        <p:nvSpPr>
          <p:cNvPr id="102" name="Google Shape;102;p2"/>
          <p:cNvSpPr/>
          <p:nvPr/>
        </p:nvSpPr>
        <p:spPr>
          <a:xfrm>
            <a:off x="4480560" y="3566160"/>
            <a:ext cx="4206240" cy="1005840"/>
          </a:xfrm>
          <a:prstGeom prst="roundRect">
            <a:avLst>
              <a:gd fmla="val 10909"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4663440" y="3749040"/>
            <a:ext cx="640080" cy="64008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 name="Google Shape;104;p2"/>
          <p:cNvPicPr preferRelativeResize="0"/>
          <p:nvPr/>
        </p:nvPicPr>
        <p:blipFill rotWithShape="1">
          <a:blip r:embed="rId5">
            <a:alphaModFix/>
          </a:blip>
          <a:srcRect b="0" l="0" r="0" t="0"/>
          <a:stretch/>
        </p:blipFill>
        <p:spPr>
          <a:xfrm>
            <a:off x="4842662" y="3928262"/>
            <a:ext cx="281635" cy="281635"/>
          </a:xfrm>
          <a:prstGeom prst="rect">
            <a:avLst/>
          </a:prstGeom>
          <a:noFill/>
          <a:ln>
            <a:noFill/>
          </a:ln>
        </p:spPr>
      </p:pic>
      <p:sp>
        <p:nvSpPr>
          <p:cNvPr id="105" name="Google Shape;105;p2"/>
          <p:cNvSpPr txBox="1"/>
          <p:nvPr/>
        </p:nvSpPr>
        <p:spPr>
          <a:xfrm>
            <a:off x="5486400" y="3721608"/>
            <a:ext cx="3017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600"/>
              <a:buFont typeface="Arial"/>
              <a:buNone/>
            </a:pPr>
            <a:r>
              <a:rPr b="1" i="0" lang="en-US" sz="1600" u="none" cap="none" strike="noStrike">
                <a:solidFill>
                  <a:srgbClr val="500000"/>
                </a:solidFill>
                <a:latin typeface="Arial"/>
                <a:ea typeface="Arial"/>
                <a:cs typeface="Arial"/>
                <a:sym typeface="Arial"/>
              </a:rPr>
              <a:t>No GPU? No problem</a:t>
            </a:r>
            <a:endParaRPr b="0" i="0" sz="1600" u="none" cap="none" strike="noStrike">
              <a:solidFill>
                <a:schemeClr val="dk1"/>
              </a:solidFill>
              <a:latin typeface="Calibri"/>
              <a:ea typeface="Calibri"/>
              <a:cs typeface="Calibri"/>
              <a:sym typeface="Calibri"/>
            </a:endParaRPr>
          </a:p>
        </p:txBody>
      </p:sp>
      <p:sp>
        <p:nvSpPr>
          <p:cNvPr id="106" name="Google Shape;106;p2"/>
          <p:cNvSpPr txBox="1"/>
          <p:nvPr/>
        </p:nvSpPr>
        <p:spPr>
          <a:xfrm>
            <a:off x="5486400" y="4041648"/>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We use free cloud GPUs, so any laptop works.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he3b7fdc4d9b28b1_0_0"/>
          <p:cNvSpPr txBox="1"/>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lang="en-US" sz="3200">
                <a:solidFill>
                  <a:srgbClr val="500000"/>
                </a:solidFill>
              </a:rPr>
              <a:t>Background</a:t>
            </a:r>
            <a:endParaRPr b="0" i="0" sz="3200" u="none" cap="none" strike="noStrike">
              <a:solidFill>
                <a:schemeClr val="dk1"/>
              </a:solidFill>
              <a:latin typeface="Calibri"/>
              <a:ea typeface="Calibri"/>
              <a:cs typeface="Calibri"/>
              <a:sym typeface="Calibri"/>
            </a:endParaRPr>
          </a:p>
        </p:txBody>
      </p:sp>
      <p:pic>
        <p:nvPicPr>
          <p:cNvPr id="113" name="Google Shape;113;he3b7fdc4d9b28b1_0_0" title="Transistor-Count-over-time.png"/>
          <p:cNvPicPr preferRelativeResize="0"/>
          <p:nvPr/>
        </p:nvPicPr>
        <p:blipFill>
          <a:blip r:embed="rId3">
            <a:alphaModFix/>
          </a:blip>
          <a:stretch>
            <a:fillRect/>
          </a:stretch>
        </p:blipFill>
        <p:spPr>
          <a:xfrm>
            <a:off x="1955237" y="960250"/>
            <a:ext cx="5335675" cy="40095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he3b7fdc4d9b28b1_0_6"/>
          <p:cNvSpPr txBox="1"/>
          <p:nvPr/>
        </p:nvSpPr>
        <p:spPr>
          <a:xfrm>
            <a:off x="457200" y="32004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lang="en-US" sz="3200">
                <a:solidFill>
                  <a:srgbClr val="500000"/>
                </a:solidFill>
              </a:rPr>
              <a:t>Dennard Scaling &amp; Growth</a:t>
            </a:r>
            <a:endParaRPr b="0" i="0" sz="3200" u="none" cap="none" strike="noStrike">
              <a:solidFill>
                <a:schemeClr val="dk1"/>
              </a:solidFill>
              <a:latin typeface="Calibri"/>
              <a:ea typeface="Calibri"/>
              <a:cs typeface="Calibri"/>
              <a:sym typeface="Calibri"/>
            </a:endParaRPr>
          </a:p>
        </p:txBody>
      </p:sp>
      <p:sp>
        <p:nvSpPr>
          <p:cNvPr id="120" name="Google Shape;120;he3b7fdc4d9b28b1_0_6"/>
          <p:cNvSpPr txBox="1"/>
          <p:nvPr/>
        </p:nvSpPr>
        <p:spPr>
          <a:xfrm>
            <a:off x="457200" y="1233075"/>
            <a:ext cx="8229600" cy="296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00">
                <a:solidFill>
                  <a:srgbClr val="6B6B6B"/>
                </a:solidFill>
              </a:rPr>
              <a:t>Dennard Scaling</a:t>
            </a:r>
            <a:endParaRPr b="1" sz="2000">
              <a:solidFill>
                <a:srgbClr val="6B6B6B"/>
              </a:solidFill>
            </a:endParaRPr>
          </a:p>
          <a:p>
            <a:pPr indent="-355600" lvl="0" marL="457200" marR="0" rtl="0" algn="l">
              <a:lnSpc>
                <a:spcPct val="100000"/>
              </a:lnSpc>
              <a:spcBef>
                <a:spcPts val="0"/>
              </a:spcBef>
              <a:spcAft>
                <a:spcPts val="0"/>
              </a:spcAft>
              <a:buClr>
                <a:schemeClr val="dk1"/>
              </a:buClr>
              <a:buSzPts val="2000"/>
              <a:buFont typeface="Calibri"/>
              <a:buChar char="●"/>
            </a:pPr>
            <a:r>
              <a:rPr lang="en-US" sz="2000">
                <a:solidFill>
                  <a:srgbClr val="6B6B6B"/>
                </a:solidFill>
              </a:rPr>
              <a:t>Power requirements </a:t>
            </a:r>
            <a:r>
              <a:rPr lang="en-US" sz="2000">
                <a:solidFill>
                  <a:srgbClr val="6B6B6B"/>
                </a:solidFill>
              </a:rPr>
              <a:t>proportional</a:t>
            </a:r>
            <a:r>
              <a:rPr lang="en-US" sz="2000">
                <a:solidFill>
                  <a:srgbClr val="6B6B6B"/>
                </a:solidFill>
              </a:rPr>
              <a:t> to area.</a:t>
            </a:r>
            <a:endParaRPr sz="2000">
              <a:solidFill>
                <a:srgbClr val="6B6B6B"/>
              </a:solidFill>
            </a:endParaRPr>
          </a:p>
          <a:p>
            <a:pPr indent="-355600" lvl="0" marL="457200" marR="0" rtl="0" algn="l">
              <a:lnSpc>
                <a:spcPct val="100000"/>
              </a:lnSpc>
              <a:spcBef>
                <a:spcPts val="0"/>
              </a:spcBef>
              <a:spcAft>
                <a:spcPts val="0"/>
              </a:spcAft>
              <a:buClr>
                <a:srgbClr val="6B6B6B"/>
              </a:buClr>
              <a:buSzPts val="2000"/>
              <a:buChar char="●"/>
            </a:pPr>
            <a:r>
              <a:rPr lang="en-US" sz="2000">
                <a:solidFill>
                  <a:srgbClr val="6B6B6B"/>
                </a:solidFill>
              </a:rPr>
              <a:t>Smaller transistors result in same power density.</a:t>
            </a:r>
            <a:endParaRPr sz="2000">
              <a:solidFill>
                <a:srgbClr val="6B6B6B"/>
              </a:solidFill>
            </a:endParaRPr>
          </a:p>
          <a:p>
            <a:pPr indent="0" lvl="0" marL="0" marR="0" rtl="0" algn="l">
              <a:lnSpc>
                <a:spcPct val="100000"/>
              </a:lnSpc>
              <a:spcBef>
                <a:spcPts val="0"/>
              </a:spcBef>
              <a:spcAft>
                <a:spcPts val="0"/>
              </a:spcAft>
              <a:buNone/>
            </a:pPr>
            <a:r>
              <a:t/>
            </a:r>
            <a:endParaRPr sz="2000">
              <a:solidFill>
                <a:srgbClr val="6B6B6B"/>
              </a:solidFill>
            </a:endParaRPr>
          </a:p>
          <a:p>
            <a:pPr indent="0" lvl="0" marL="0" marR="0" rtl="0" algn="l">
              <a:lnSpc>
                <a:spcPct val="100000"/>
              </a:lnSpc>
              <a:spcBef>
                <a:spcPts val="0"/>
              </a:spcBef>
              <a:spcAft>
                <a:spcPts val="0"/>
              </a:spcAft>
              <a:buNone/>
            </a:pPr>
            <a:r>
              <a:rPr b="1" lang="en-US" sz="2000">
                <a:solidFill>
                  <a:srgbClr val="6B6B6B"/>
                </a:solidFill>
              </a:rPr>
              <a:t>More performance</a:t>
            </a:r>
            <a:endParaRPr b="1" sz="2000">
              <a:solidFill>
                <a:srgbClr val="6B6B6B"/>
              </a:solidFill>
            </a:endParaRPr>
          </a:p>
          <a:p>
            <a:pPr indent="-355600" lvl="0" marL="457200" marR="0" rtl="0" algn="l">
              <a:lnSpc>
                <a:spcPct val="100000"/>
              </a:lnSpc>
              <a:spcBef>
                <a:spcPts val="0"/>
              </a:spcBef>
              <a:spcAft>
                <a:spcPts val="0"/>
              </a:spcAft>
              <a:buClr>
                <a:srgbClr val="6B6B6B"/>
              </a:buClr>
              <a:buSzPts val="2000"/>
              <a:buChar char="●"/>
            </a:pPr>
            <a:r>
              <a:rPr lang="en-US" sz="2000">
                <a:solidFill>
                  <a:srgbClr val="6B6B6B"/>
                </a:solidFill>
              </a:rPr>
              <a:t>Higher clock speeds (higher power consumption)</a:t>
            </a:r>
            <a:endParaRPr sz="2000">
              <a:solidFill>
                <a:srgbClr val="6B6B6B"/>
              </a:solidFill>
            </a:endParaRPr>
          </a:p>
          <a:p>
            <a:pPr indent="-355600" lvl="0" marL="457200" marR="0" rtl="0" algn="l">
              <a:lnSpc>
                <a:spcPct val="100000"/>
              </a:lnSpc>
              <a:spcBef>
                <a:spcPts val="0"/>
              </a:spcBef>
              <a:spcAft>
                <a:spcPts val="0"/>
              </a:spcAft>
              <a:buClr>
                <a:srgbClr val="6B6B6B"/>
              </a:buClr>
              <a:buSzPts val="2000"/>
              <a:buChar char="●"/>
            </a:pPr>
            <a:r>
              <a:rPr lang="en-US" sz="2000">
                <a:solidFill>
                  <a:srgbClr val="6B6B6B"/>
                </a:solidFill>
              </a:rPr>
              <a:t>At very small scales, Dennard Scaling breaks down</a:t>
            </a:r>
            <a:endParaRPr sz="2000">
              <a:solidFill>
                <a:srgbClr val="6B6B6B"/>
              </a:solidFill>
            </a:endParaRPr>
          </a:p>
          <a:p>
            <a:pPr indent="0" lvl="0" marL="0" marR="0" rtl="0" algn="l">
              <a:lnSpc>
                <a:spcPct val="100000"/>
              </a:lnSpc>
              <a:spcBef>
                <a:spcPts val="0"/>
              </a:spcBef>
              <a:spcAft>
                <a:spcPts val="0"/>
              </a:spcAft>
              <a:buNone/>
            </a:pPr>
            <a:r>
              <a:t/>
            </a:r>
            <a:endParaRPr sz="2000">
              <a:solidFill>
                <a:srgbClr val="6B6B6B"/>
              </a:solidFill>
            </a:endParaRPr>
          </a:p>
          <a:p>
            <a:pPr indent="0" lvl="0" marL="0" marR="0" rtl="0" algn="l">
              <a:lnSpc>
                <a:spcPct val="100000"/>
              </a:lnSpc>
              <a:spcBef>
                <a:spcPts val="0"/>
              </a:spcBef>
              <a:spcAft>
                <a:spcPts val="0"/>
              </a:spcAft>
              <a:buNone/>
            </a:pPr>
            <a:r>
              <a:rPr b="1" lang="en-US" sz="2000">
                <a:solidFill>
                  <a:srgbClr val="6B6B6B"/>
                </a:solidFill>
              </a:rPr>
              <a:t>How do we still get more performance?</a:t>
            </a:r>
            <a:endParaRPr b="1" sz="2000">
              <a:solidFill>
                <a:srgbClr val="6B6B6B"/>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3"/>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lang="en-US" sz="3200">
                <a:solidFill>
                  <a:srgbClr val="500000"/>
                </a:solidFill>
              </a:rPr>
              <a:t>Parallelization: </a:t>
            </a:r>
            <a:r>
              <a:rPr b="1" i="0" lang="en-US" sz="3200" u="none" cap="none" strike="noStrike">
                <a:solidFill>
                  <a:srgbClr val="500000"/>
                </a:solidFill>
                <a:latin typeface="Arial"/>
                <a:ea typeface="Arial"/>
                <a:cs typeface="Arial"/>
                <a:sym typeface="Arial"/>
              </a:rPr>
              <a:t>CPU vs GPU</a:t>
            </a:r>
            <a:endParaRPr b="0" i="0" sz="3200" u="none" cap="none" strike="noStrike">
              <a:solidFill>
                <a:schemeClr val="dk1"/>
              </a:solidFill>
              <a:latin typeface="Calibri"/>
              <a:ea typeface="Calibri"/>
              <a:cs typeface="Calibri"/>
              <a:sym typeface="Calibri"/>
            </a:endParaRPr>
          </a:p>
        </p:txBody>
      </p:sp>
      <p:sp>
        <p:nvSpPr>
          <p:cNvPr id="127" name="Google Shape;127;p3"/>
          <p:cNvSpPr/>
          <p:nvPr/>
        </p:nvSpPr>
        <p:spPr>
          <a:xfrm>
            <a:off x="457263" y="2212295"/>
            <a:ext cx="3931800" cy="2651700"/>
          </a:xfrm>
          <a:prstGeom prst="roundRect">
            <a:avLst>
              <a:gd fmla="val 4138"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731583" y="2349455"/>
            <a:ext cx="3383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2000"/>
              <a:buFont typeface="Arial"/>
              <a:buNone/>
            </a:pPr>
            <a:r>
              <a:rPr b="1" i="0" lang="en-US" sz="2000" u="none" cap="none" strike="noStrike">
                <a:solidFill>
                  <a:srgbClr val="500000"/>
                </a:solidFill>
                <a:latin typeface="Arial"/>
                <a:ea typeface="Arial"/>
                <a:cs typeface="Arial"/>
                <a:sym typeface="Arial"/>
              </a:rPr>
              <a:t>CPU</a:t>
            </a:r>
            <a:endParaRPr b="0" i="0" sz="2000" u="none" cap="none" strike="noStrike">
              <a:solidFill>
                <a:schemeClr val="dk1"/>
              </a:solidFill>
              <a:latin typeface="Calibri"/>
              <a:ea typeface="Calibri"/>
              <a:cs typeface="Calibri"/>
              <a:sym typeface="Calibri"/>
            </a:endParaRPr>
          </a:p>
        </p:txBody>
      </p:sp>
      <p:sp>
        <p:nvSpPr>
          <p:cNvPr id="129" name="Google Shape;129;p3"/>
          <p:cNvSpPr txBox="1"/>
          <p:nvPr/>
        </p:nvSpPr>
        <p:spPr>
          <a:xfrm>
            <a:off x="731583" y="4178255"/>
            <a:ext cx="3383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A few very powerful and capable cores. Great at complex tasks done one after another.</a:t>
            </a:r>
            <a:endParaRPr b="0" i="0" sz="1300" u="none" cap="none" strike="noStrike">
              <a:solidFill>
                <a:schemeClr val="dk1"/>
              </a:solidFill>
              <a:latin typeface="Calibri"/>
              <a:ea typeface="Calibri"/>
              <a:cs typeface="Calibri"/>
              <a:sym typeface="Calibri"/>
            </a:endParaRPr>
          </a:p>
        </p:txBody>
      </p:sp>
      <p:sp>
        <p:nvSpPr>
          <p:cNvPr id="130" name="Google Shape;130;p3"/>
          <p:cNvSpPr/>
          <p:nvPr/>
        </p:nvSpPr>
        <p:spPr>
          <a:xfrm>
            <a:off x="4754943" y="2212295"/>
            <a:ext cx="3931800" cy="2651700"/>
          </a:xfrm>
          <a:prstGeom prst="roundRect">
            <a:avLst>
              <a:gd fmla="val 4138"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5029263" y="2349455"/>
            <a:ext cx="3383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2000"/>
              <a:buFont typeface="Arial"/>
              <a:buNone/>
            </a:pPr>
            <a:r>
              <a:rPr b="1" i="0" lang="en-US" sz="2000" u="none" cap="none" strike="noStrike">
                <a:solidFill>
                  <a:srgbClr val="500000"/>
                </a:solidFill>
                <a:latin typeface="Arial"/>
                <a:ea typeface="Arial"/>
                <a:cs typeface="Arial"/>
                <a:sym typeface="Arial"/>
              </a:rPr>
              <a:t>GPU</a:t>
            </a:r>
            <a:endParaRPr b="0" i="0" sz="2000" u="none" cap="none" strike="noStrike">
              <a:solidFill>
                <a:schemeClr val="dk1"/>
              </a:solidFill>
              <a:latin typeface="Calibri"/>
              <a:ea typeface="Calibri"/>
              <a:cs typeface="Calibri"/>
              <a:sym typeface="Calibri"/>
            </a:endParaRPr>
          </a:p>
        </p:txBody>
      </p:sp>
      <p:sp>
        <p:nvSpPr>
          <p:cNvPr id="132" name="Google Shape;132;p3"/>
          <p:cNvSpPr txBox="1"/>
          <p:nvPr/>
        </p:nvSpPr>
        <p:spPr>
          <a:xfrm>
            <a:off x="5029263" y="4178255"/>
            <a:ext cx="3383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Thousands of simpler cores. Great at doing the same simple job to lots of data at once.</a:t>
            </a:r>
            <a:endParaRPr b="0" i="0" sz="1300" u="none" cap="none" strike="noStrike">
              <a:solidFill>
                <a:schemeClr val="dk1"/>
              </a:solidFill>
              <a:latin typeface="Calibri"/>
              <a:ea typeface="Calibri"/>
              <a:cs typeface="Calibri"/>
              <a:sym typeface="Calibri"/>
            </a:endParaRPr>
          </a:p>
        </p:txBody>
      </p:sp>
      <p:sp>
        <p:nvSpPr>
          <p:cNvPr id="133" name="Google Shape;133;p3"/>
          <p:cNvSpPr/>
          <p:nvPr/>
        </p:nvSpPr>
        <p:spPr>
          <a:xfrm>
            <a:off x="1691703" y="2806655"/>
            <a:ext cx="658500" cy="567000"/>
          </a:xfrm>
          <a:prstGeom prst="roundRect">
            <a:avLst>
              <a:gd fmla="val 9677"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2468943" y="2806655"/>
            <a:ext cx="658500" cy="567000"/>
          </a:xfrm>
          <a:prstGeom prst="roundRect">
            <a:avLst>
              <a:gd fmla="val 9677"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1691703" y="3465023"/>
            <a:ext cx="658500" cy="567000"/>
          </a:xfrm>
          <a:prstGeom prst="roundRect">
            <a:avLst>
              <a:gd fmla="val 9677"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2468943" y="3465023"/>
            <a:ext cx="658500" cy="567000"/>
          </a:xfrm>
          <a:prstGeom prst="roundRect">
            <a:avLst>
              <a:gd fmla="val 9677"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5029263"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5182882"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a:off x="5336501"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5490121"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5643740"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5797359"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p:nvPr/>
        </p:nvSpPr>
        <p:spPr>
          <a:xfrm>
            <a:off x="5950978"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p:nvPr/>
        </p:nvSpPr>
        <p:spPr>
          <a:xfrm>
            <a:off x="6104597"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
          <p:cNvSpPr/>
          <p:nvPr/>
        </p:nvSpPr>
        <p:spPr>
          <a:xfrm>
            <a:off x="6258217"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
          <p:cNvSpPr/>
          <p:nvPr/>
        </p:nvSpPr>
        <p:spPr>
          <a:xfrm>
            <a:off x="6411836"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p:nvPr/>
        </p:nvSpPr>
        <p:spPr>
          <a:xfrm>
            <a:off x="6565455"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
          <p:cNvSpPr/>
          <p:nvPr/>
        </p:nvSpPr>
        <p:spPr>
          <a:xfrm>
            <a:off x="6719074"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
          <p:cNvSpPr/>
          <p:nvPr/>
        </p:nvSpPr>
        <p:spPr>
          <a:xfrm>
            <a:off x="6872693"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p:nvPr/>
        </p:nvSpPr>
        <p:spPr>
          <a:xfrm>
            <a:off x="7026313"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
          <p:cNvSpPr/>
          <p:nvPr/>
        </p:nvSpPr>
        <p:spPr>
          <a:xfrm>
            <a:off x="7179932"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
          <p:cNvSpPr/>
          <p:nvPr/>
        </p:nvSpPr>
        <p:spPr>
          <a:xfrm>
            <a:off x="7333551"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
          <p:cNvSpPr/>
          <p:nvPr/>
        </p:nvSpPr>
        <p:spPr>
          <a:xfrm>
            <a:off x="7487170"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
          <p:cNvSpPr/>
          <p:nvPr/>
        </p:nvSpPr>
        <p:spPr>
          <a:xfrm>
            <a:off x="7640789"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
          <p:cNvSpPr/>
          <p:nvPr/>
        </p:nvSpPr>
        <p:spPr>
          <a:xfrm>
            <a:off x="7794409"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
          <p:cNvSpPr/>
          <p:nvPr/>
        </p:nvSpPr>
        <p:spPr>
          <a:xfrm>
            <a:off x="7948028"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
          <p:cNvSpPr/>
          <p:nvPr/>
        </p:nvSpPr>
        <p:spPr>
          <a:xfrm>
            <a:off x="8101647"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8255266" y="2824943"/>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
          <p:cNvSpPr/>
          <p:nvPr/>
        </p:nvSpPr>
        <p:spPr>
          <a:xfrm>
            <a:off x="5029263"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
          <p:cNvSpPr/>
          <p:nvPr/>
        </p:nvSpPr>
        <p:spPr>
          <a:xfrm>
            <a:off x="5182882"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
          <p:cNvSpPr/>
          <p:nvPr/>
        </p:nvSpPr>
        <p:spPr>
          <a:xfrm>
            <a:off x="5336501"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
          <p:cNvSpPr/>
          <p:nvPr/>
        </p:nvSpPr>
        <p:spPr>
          <a:xfrm>
            <a:off x="5490121"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
          <p:cNvSpPr/>
          <p:nvPr/>
        </p:nvSpPr>
        <p:spPr>
          <a:xfrm>
            <a:off x="5643740"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
          <p:cNvSpPr/>
          <p:nvPr/>
        </p:nvSpPr>
        <p:spPr>
          <a:xfrm>
            <a:off x="5797359"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
          <p:cNvSpPr/>
          <p:nvPr/>
        </p:nvSpPr>
        <p:spPr>
          <a:xfrm>
            <a:off x="5950978"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
          <p:cNvSpPr/>
          <p:nvPr/>
        </p:nvSpPr>
        <p:spPr>
          <a:xfrm>
            <a:off x="6104597"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p:nvPr/>
        </p:nvSpPr>
        <p:spPr>
          <a:xfrm>
            <a:off x="6258217"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
          <p:cNvSpPr/>
          <p:nvPr/>
        </p:nvSpPr>
        <p:spPr>
          <a:xfrm>
            <a:off x="6411836"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
          <p:cNvSpPr/>
          <p:nvPr/>
        </p:nvSpPr>
        <p:spPr>
          <a:xfrm>
            <a:off x="6565455"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p:nvPr/>
        </p:nvSpPr>
        <p:spPr>
          <a:xfrm>
            <a:off x="6719074"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
          <p:cNvSpPr/>
          <p:nvPr/>
        </p:nvSpPr>
        <p:spPr>
          <a:xfrm>
            <a:off x="6872693"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p:nvPr/>
        </p:nvSpPr>
        <p:spPr>
          <a:xfrm>
            <a:off x="7026313"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p:nvPr/>
        </p:nvSpPr>
        <p:spPr>
          <a:xfrm>
            <a:off x="7179932"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
          <p:cNvSpPr/>
          <p:nvPr/>
        </p:nvSpPr>
        <p:spPr>
          <a:xfrm>
            <a:off x="7333551"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
          <p:cNvSpPr/>
          <p:nvPr/>
        </p:nvSpPr>
        <p:spPr>
          <a:xfrm>
            <a:off x="7487170"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
          <p:cNvSpPr/>
          <p:nvPr/>
        </p:nvSpPr>
        <p:spPr>
          <a:xfrm>
            <a:off x="7640789"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
          <p:cNvSpPr/>
          <p:nvPr/>
        </p:nvSpPr>
        <p:spPr>
          <a:xfrm>
            <a:off x="7794409"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
          <p:cNvSpPr/>
          <p:nvPr/>
        </p:nvSpPr>
        <p:spPr>
          <a:xfrm>
            <a:off x="7948028"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
          <p:cNvSpPr/>
          <p:nvPr/>
        </p:nvSpPr>
        <p:spPr>
          <a:xfrm>
            <a:off x="8101647"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a:off x="8255266" y="2978562"/>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
          <p:cNvSpPr/>
          <p:nvPr/>
        </p:nvSpPr>
        <p:spPr>
          <a:xfrm>
            <a:off x="5029263"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
          <p:cNvSpPr/>
          <p:nvPr/>
        </p:nvSpPr>
        <p:spPr>
          <a:xfrm>
            <a:off x="5182882"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
          <p:cNvSpPr/>
          <p:nvPr/>
        </p:nvSpPr>
        <p:spPr>
          <a:xfrm>
            <a:off x="5336501"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p:nvPr/>
        </p:nvSpPr>
        <p:spPr>
          <a:xfrm>
            <a:off x="5490121"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
          <p:cNvSpPr/>
          <p:nvPr/>
        </p:nvSpPr>
        <p:spPr>
          <a:xfrm>
            <a:off x="5643740"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
          <p:cNvSpPr/>
          <p:nvPr/>
        </p:nvSpPr>
        <p:spPr>
          <a:xfrm>
            <a:off x="5797359"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
          <p:cNvSpPr/>
          <p:nvPr/>
        </p:nvSpPr>
        <p:spPr>
          <a:xfrm>
            <a:off x="5950978"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p:nvPr/>
        </p:nvSpPr>
        <p:spPr>
          <a:xfrm>
            <a:off x="6104597"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
          <p:cNvSpPr/>
          <p:nvPr/>
        </p:nvSpPr>
        <p:spPr>
          <a:xfrm>
            <a:off x="6258217"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
          <p:cNvSpPr/>
          <p:nvPr/>
        </p:nvSpPr>
        <p:spPr>
          <a:xfrm>
            <a:off x="6411836"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p:nvPr/>
        </p:nvSpPr>
        <p:spPr>
          <a:xfrm>
            <a:off x="6565455"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p:nvPr/>
        </p:nvSpPr>
        <p:spPr>
          <a:xfrm>
            <a:off x="6719074"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
          <p:cNvSpPr/>
          <p:nvPr/>
        </p:nvSpPr>
        <p:spPr>
          <a:xfrm>
            <a:off x="6872693"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p:nvPr/>
        </p:nvSpPr>
        <p:spPr>
          <a:xfrm>
            <a:off x="7026313"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
          <p:cNvSpPr/>
          <p:nvPr/>
        </p:nvSpPr>
        <p:spPr>
          <a:xfrm>
            <a:off x="7179932"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p:nvPr/>
        </p:nvSpPr>
        <p:spPr>
          <a:xfrm>
            <a:off x="7333551"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
          <p:cNvSpPr/>
          <p:nvPr/>
        </p:nvSpPr>
        <p:spPr>
          <a:xfrm>
            <a:off x="7487170"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
          <p:cNvSpPr/>
          <p:nvPr/>
        </p:nvSpPr>
        <p:spPr>
          <a:xfrm>
            <a:off x="7640789"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
          <p:cNvSpPr/>
          <p:nvPr/>
        </p:nvSpPr>
        <p:spPr>
          <a:xfrm>
            <a:off x="7794409"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p:nvPr/>
        </p:nvSpPr>
        <p:spPr>
          <a:xfrm>
            <a:off x="7948028"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
          <p:cNvSpPr/>
          <p:nvPr/>
        </p:nvSpPr>
        <p:spPr>
          <a:xfrm>
            <a:off x="8101647"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
          <p:cNvSpPr/>
          <p:nvPr/>
        </p:nvSpPr>
        <p:spPr>
          <a:xfrm>
            <a:off x="8255266" y="313218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
          <p:cNvSpPr/>
          <p:nvPr/>
        </p:nvSpPr>
        <p:spPr>
          <a:xfrm>
            <a:off x="5029263"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p:nvPr/>
        </p:nvSpPr>
        <p:spPr>
          <a:xfrm>
            <a:off x="5182882"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
          <p:cNvSpPr/>
          <p:nvPr/>
        </p:nvSpPr>
        <p:spPr>
          <a:xfrm>
            <a:off x="5336501"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
          <p:cNvSpPr/>
          <p:nvPr/>
        </p:nvSpPr>
        <p:spPr>
          <a:xfrm>
            <a:off x="5490121"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p:nvPr/>
        </p:nvSpPr>
        <p:spPr>
          <a:xfrm>
            <a:off x="5643740"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
          <p:cNvSpPr/>
          <p:nvPr/>
        </p:nvSpPr>
        <p:spPr>
          <a:xfrm>
            <a:off x="5797359"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
          <p:cNvSpPr/>
          <p:nvPr/>
        </p:nvSpPr>
        <p:spPr>
          <a:xfrm>
            <a:off x="5950978"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
          <p:cNvSpPr/>
          <p:nvPr/>
        </p:nvSpPr>
        <p:spPr>
          <a:xfrm>
            <a:off x="6104597"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
          <p:cNvSpPr/>
          <p:nvPr/>
        </p:nvSpPr>
        <p:spPr>
          <a:xfrm>
            <a:off x="6258217"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
          <p:cNvSpPr/>
          <p:nvPr/>
        </p:nvSpPr>
        <p:spPr>
          <a:xfrm>
            <a:off x="6411836"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
          <p:cNvSpPr/>
          <p:nvPr/>
        </p:nvSpPr>
        <p:spPr>
          <a:xfrm>
            <a:off x="6565455"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
          <p:cNvSpPr/>
          <p:nvPr/>
        </p:nvSpPr>
        <p:spPr>
          <a:xfrm>
            <a:off x="6719074"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
          <p:cNvSpPr/>
          <p:nvPr/>
        </p:nvSpPr>
        <p:spPr>
          <a:xfrm>
            <a:off x="6872693"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
          <p:cNvSpPr/>
          <p:nvPr/>
        </p:nvSpPr>
        <p:spPr>
          <a:xfrm>
            <a:off x="7026313"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
          <p:cNvSpPr/>
          <p:nvPr/>
        </p:nvSpPr>
        <p:spPr>
          <a:xfrm>
            <a:off x="7179932"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
          <p:cNvSpPr/>
          <p:nvPr/>
        </p:nvSpPr>
        <p:spPr>
          <a:xfrm>
            <a:off x="7333551"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
          <p:cNvSpPr/>
          <p:nvPr/>
        </p:nvSpPr>
        <p:spPr>
          <a:xfrm>
            <a:off x="7487170"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
          <p:cNvSpPr/>
          <p:nvPr/>
        </p:nvSpPr>
        <p:spPr>
          <a:xfrm>
            <a:off x="7640789"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
          <p:cNvSpPr/>
          <p:nvPr/>
        </p:nvSpPr>
        <p:spPr>
          <a:xfrm>
            <a:off x="7794409"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
          <p:cNvSpPr/>
          <p:nvPr/>
        </p:nvSpPr>
        <p:spPr>
          <a:xfrm>
            <a:off x="7948028"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
          <p:cNvSpPr/>
          <p:nvPr/>
        </p:nvSpPr>
        <p:spPr>
          <a:xfrm>
            <a:off x="8101647"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
          <p:cNvSpPr/>
          <p:nvPr/>
        </p:nvSpPr>
        <p:spPr>
          <a:xfrm>
            <a:off x="8255266" y="3285801"/>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
          <p:cNvSpPr/>
          <p:nvPr/>
        </p:nvSpPr>
        <p:spPr>
          <a:xfrm>
            <a:off x="5029263"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
          <p:cNvSpPr/>
          <p:nvPr/>
        </p:nvSpPr>
        <p:spPr>
          <a:xfrm>
            <a:off x="5182882"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
          <p:cNvSpPr/>
          <p:nvPr/>
        </p:nvSpPr>
        <p:spPr>
          <a:xfrm>
            <a:off x="5336501"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
          <p:cNvSpPr/>
          <p:nvPr/>
        </p:nvSpPr>
        <p:spPr>
          <a:xfrm>
            <a:off x="5490121"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
          <p:cNvSpPr/>
          <p:nvPr/>
        </p:nvSpPr>
        <p:spPr>
          <a:xfrm>
            <a:off x="5643740"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
          <p:cNvSpPr/>
          <p:nvPr/>
        </p:nvSpPr>
        <p:spPr>
          <a:xfrm>
            <a:off x="5797359"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5950978"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6104597"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a:off x="6258217"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
          <p:cNvSpPr/>
          <p:nvPr/>
        </p:nvSpPr>
        <p:spPr>
          <a:xfrm>
            <a:off x="6411836"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
          <p:cNvSpPr/>
          <p:nvPr/>
        </p:nvSpPr>
        <p:spPr>
          <a:xfrm>
            <a:off x="6565455"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
          <p:cNvSpPr/>
          <p:nvPr/>
        </p:nvSpPr>
        <p:spPr>
          <a:xfrm>
            <a:off x="6719074"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
          <p:cNvSpPr/>
          <p:nvPr/>
        </p:nvSpPr>
        <p:spPr>
          <a:xfrm>
            <a:off x="6872693"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
          <p:cNvSpPr/>
          <p:nvPr/>
        </p:nvSpPr>
        <p:spPr>
          <a:xfrm>
            <a:off x="7026313"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
          <p:cNvSpPr/>
          <p:nvPr/>
        </p:nvSpPr>
        <p:spPr>
          <a:xfrm>
            <a:off x="7179932"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
          <p:cNvSpPr/>
          <p:nvPr/>
        </p:nvSpPr>
        <p:spPr>
          <a:xfrm>
            <a:off x="7333551"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
          <p:cNvSpPr/>
          <p:nvPr/>
        </p:nvSpPr>
        <p:spPr>
          <a:xfrm>
            <a:off x="7487170"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
          <p:cNvSpPr/>
          <p:nvPr/>
        </p:nvSpPr>
        <p:spPr>
          <a:xfrm>
            <a:off x="7640789"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
          <p:cNvSpPr/>
          <p:nvPr/>
        </p:nvSpPr>
        <p:spPr>
          <a:xfrm>
            <a:off x="7794409"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
          <p:cNvSpPr/>
          <p:nvPr/>
        </p:nvSpPr>
        <p:spPr>
          <a:xfrm>
            <a:off x="7948028"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
          <p:cNvSpPr/>
          <p:nvPr/>
        </p:nvSpPr>
        <p:spPr>
          <a:xfrm>
            <a:off x="8101647"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
          <p:cNvSpPr/>
          <p:nvPr/>
        </p:nvSpPr>
        <p:spPr>
          <a:xfrm>
            <a:off x="8255266" y="3439420"/>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
          <p:cNvSpPr/>
          <p:nvPr/>
        </p:nvSpPr>
        <p:spPr>
          <a:xfrm>
            <a:off x="5029263"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
          <p:cNvSpPr/>
          <p:nvPr/>
        </p:nvSpPr>
        <p:spPr>
          <a:xfrm>
            <a:off x="5182882"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
          <p:cNvSpPr/>
          <p:nvPr/>
        </p:nvSpPr>
        <p:spPr>
          <a:xfrm>
            <a:off x="5336501"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
          <p:cNvSpPr/>
          <p:nvPr/>
        </p:nvSpPr>
        <p:spPr>
          <a:xfrm>
            <a:off x="5490121"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
          <p:cNvSpPr/>
          <p:nvPr/>
        </p:nvSpPr>
        <p:spPr>
          <a:xfrm>
            <a:off x="5643740"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
          <p:cNvSpPr/>
          <p:nvPr/>
        </p:nvSpPr>
        <p:spPr>
          <a:xfrm>
            <a:off x="5797359"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
          <p:cNvSpPr/>
          <p:nvPr/>
        </p:nvSpPr>
        <p:spPr>
          <a:xfrm>
            <a:off x="5950978"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
          <p:cNvSpPr/>
          <p:nvPr/>
        </p:nvSpPr>
        <p:spPr>
          <a:xfrm>
            <a:off x="6104597"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
          <p:cNvSpPr/>
          <p:nvPr/>
        </p:nvSpPr>
        <p:spPr>
          <a:xfrm>
            <a:off x="6258217"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
          <p:cNvSpPr/>
          <p:nvPr/>
        </p:nvSpPr>
        <p:spPr>
          <a:xfrm>
            <a:off x="6411836"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
          <p:cNvSpPr/>
          <p:nvPr/>
        </p:nvSpPr>
        <p:spPr>
          <a:xfrm>
            <a:off x="6565455"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
          <p:cNvSpPr/>
          <p:nvPr/>
        </p:nvSpPr>
        <p:spPr>
          <a:xfrm>
            <a:off x="6719074"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
          <p:cNvSpPr/>
          <p:nvPr/>
        </p:nvSpPr>
        <p:spPr>
          <a:xfrm>
            <a:off x="6872693"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
          <p:cNvSpPr/>
          <p:nvPr/>
        </p:nvSpPr>
        <p:spPr>
          <a:xfrm>
            <a:off x="7026313"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
          <p:cNvSpPr/>
          <p:nvPr/>
        </p:nvSpPr>
        <p:spPr>
          <a:xfrm>
            <a:off x="7179932"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
          <p:cNvSpPr/>
          <p:nvPr/>
        </p:nvSpPr>
        <p:spPr>
          <a:xfrm>
            <a:off x="7333551"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3"/>
          <p:cNvSpPr/>
          <p:nvPr/>
        </p:nvSpPr>
        <p:spPr>
          <a:xfrm>
            <a:off x="7487170"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
          <p:cNvSpPr/>
          <p:nvPr/>
        </p:nvSpPr>
        <p:spPr>
          <a:xfrm>
            <a:off x="7640789"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
          <p:cNvSpPr/>
          <p:nvPr/>
        </p:nvSpPr>
        <p:spPr>
          <a:xfrm>
            <a:off x="7794409"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
          <p:cNvSpPr/>
          <p:nvPr/>
        </p:nvSpPr>
        <p:spPr>
          <a:xfrm>
            <a:off x="7948028"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
          <p:cNvSpPr/>
          <p:nvPr/>
        </p:nvSpPr>
        <p:spPr>
          <a:xfrm>
            <a:off x="8101647"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8255266" y="3593039"/>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
          <p:cNvSpPr/>
          <p:nvPr/>
        </p:nvSpPr>
        <p:spPr>
          <a:xfrm>
            <a:off x="5029263"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
          <p:cNvSpPr/>
          <p:nvPr/>
        </p:nvSpPr>
        <p:spPr>
          <a:xfrm>
            <a:off x="5182882"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5336501"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
          <p:cNvSpPr/>
          <p:nvPr/>
        </p:nvSpPr>
        <p:spPr>
          <a:xfrm>
            <a:off x="5490121"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5643740"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
          <p:cNvSpPr/>
          <p:nvPr/>
        </p:nvSpPr>
        <p:spPr>
          <a:xfrm>
            <a:off x="5797359"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
          <p:cNvSpPr/>
          <p:nvPr/>
        </p:nvSpPr>
        <p:spPr>
          <a:xfrm>
            <a:off x="5950978"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
          <p:cNvSpPr/>
          <p:nvPr/>
        </p:nvSpPr>
        <p:spPr>
          <a:xfrm>
            <a:off x="6104597"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
          <p:cNvSpPr/>
          <p:nvPr/>
        </p:nvSpPr>
        <p:spPr>
          <a:xfrm>
            <a:off x="6258217"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3"/>
          <p:cNvSpPr/>
          <p:nvPr/>
        </p:nvSpPr>
        <p:spPr>
          <a:xfrm>
            <a:off x="6411836"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
          <p:cNvSpPr/>
          <p:nvPr/>
        </p:nvSpPr>
        <p:spPr>
          <a:xfrm>
            <a:off x="6565455"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
          <p:cNvSpPr/>
          <p:nvPr/>
        </p:nvSpPr>
        <p:spPr>
          <a:xfrm>
            <a:off x="6719074"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
          <p:cNvSpPr/>
          <p:nvPr/>
        </p:nvSpPr>
        <p:spPr>
          <a:xfrm>
            <a:off x="6872693"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
          <p:cNvSpPr/>
          <p:nvPr/>
        </p:nvSpPr>
        <p:spPr>
          <a:xfrm>
            <a:off x="7026313"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
          <p:cNvSpPr/>
          <p:nvPr/>
        </p:nvSpPr>
        <p:spPr>
          <a:xfrm>
            <a:off x="7179932"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
          <p:cNvSpPr/>
          <p:nvPr/>
        </p:nvSpPr>
        <p:spPr>
          <a:xfrm>
            <a:off x="7333551"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
          <p:cNvSpPr/>
          <p:nvPr/>
        </p:nvSpPr>
        <p:spPr>
          <a:xfrm>
            <a:off x="7487170"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
          <p:cNvSpPr/>
          <p:nvPr/>
        </p:nvSpPr>
        <p:spPr>
          <a:xfrm>
            <a:off x="7640789"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
          <p:cNvSpPr/>
          <p:nvPr/>
        </p:nvSpPr>
        <p:spPr>
          <a:xfrm>
            <a:off x="7794409"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
          <p:cNvSpPr/>
          <p:nvPr/>
        </p:nvSpPr>
        <p:spPr>
          <a:xfrm>
            <a:off x="7948028"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
          <p:cNvSpPr/>
          <p:nvPr/>
        </p:nvSpPr>
        <p:spPr>
          <a:xfrm>
            <a:off x="8101647"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
          <p:cNvSpPr/>
          <p:nvPr/>
        </p:nvSpPr>
        <p:spPr>
          <a:xfrm>
            <a:off x="8255266" y="3746658"/>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
          <p:cNvSpPr/>
          <p:nvPr/>
        </p:nvSpPr>
        <p:spPr>
          <a:xfrm>
            <a:off x="5029263"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
          <p:cNvSpPr/>
          <p:nvPr/>
        </p:nvSpPr>
        <p:spPr>
          <a:xfrm>
            <a:off x="5182882"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
          <p:cNvSpPr/>
          <p:nvPr/>
        </p:nvSpPr>
        <p:spPr>
          <a:xfrm>
            <a:off x="5336501"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
          <p:cNvSpPr/>
          <p:nvPr/>
        </p:nvSpPr>
        <p:spPr>
          <a:xfrm>
            <a:off x="5490121"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
          <p:cNvSpPr/>
          <p:nvPr/>
        </p:nvSpPr>
        <p:spPr>
          <a:xfrm>
            <a:off x="5643740"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
          <p:cNvSpPr/>
          <p:nvPr/>
        </p:nvSpPr>
        <p:spPr>
          <a:xfrm>
            <a:off x="5797359"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
          <p:cNvSpPr/>
          <p:nvPr/>
        </p:nvSpPr>
        <p:spPr>
          <a:xfrm>
            <a:off x="5950978"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
          <p:cNvSpPr/>
          <p:nvPr/>
        </p:nvSpPr>
        <p:spPr>
          <a:xfrm>
            <a:off x="6104597"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
          <p:cNvSpPr/>
          <p:nvPr/>
        </p:nvSpPr>
        <p:spPr>
          <a:xfrm>
            <a:off x="6258217"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
          <p:cNvSpPr/>
          <p:nvPr/>
        </p:nvSpPr>
        <p:spPr>
          <a:xfrm>
            <a:off x="6411836"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
          <p:cNvSpPr/>
          <p:nvPr/>
        </p:nvSpPr>
        <p:spPr>
          <a:xfrm>
            <a:off x="6565455"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
          <p:cNvSpPr/>
          <p:nvPr/>
        </p:nvSpPr>
        <p:spPr>
          <a:xfrm>
            <a:off x="6719074"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
          <p:cNvSpPr/>
          <p:nvPr/>
        </p:nvSpPr>
        <p:spPr>
          <a:xfrm>
            <a:off x="6872693"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
          <p:cNvSpPr/>
          <p:nvPr/>
        </p:nvSpPr>
        <p:spPr>
          <a:xfrm>
            <a:off x="7026313"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3"/>
          <p:cNvSpPr/>
          <p:nvPr/>
        </p:nvSpPr>
        <p:spPr>
          <a:xfrm>
            <a:off x="7179932"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
          <p:cNvSpPr/>
          <p:nvPr/>
        </p:nvSpPr>
        <p:spPr>
          <a:xfrm>
            <a:off x="7333551"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
          <p:cNvSpPr/>
          <p:nvPr/>
        </p:nvSpPr>
        <p:spPr>
          <a:xfrm>
            <a:off x="7487170"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
          <p:cNvSpPr/>
          <p:nvPr/>
        </p:nvSpPr>
        <p:spPr>
          <a:xfrm>
            <a:off x="7640789"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
          <p:cNvSpPr/>
          <p:nvPr/>
        </p:nvSpPr>
        <p:spPr>
          <a:xfrm>
            <a:off x="7794409"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
          <p:cNvSpPr/>
          <p:nvPr/>
        </p:nvSpPr>
        <p:spPr>
          <a:xfrm>
            <a:off x="7948028"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
          <p:cNvSpPr/>
          <p:nvPr/>
        </p:nvSpPr>
        <p:spPr>
          <a:xfrm>
            <a:off x="8101647"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
          <p:cNvSpPr/>
          <p:nvPr/>
        </p:nvSpPr>
        <p:spPr>
          <a:xfrm>
            <a:off x="8255266" y="3900277"/>
            <a:ext cx="118800" cy="118800"/>
          </a:xfrm>
          <a:prstGeom prst="rect">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
          <p:cNvSpPr/>
          <p:nvPr/>
        </p:nvSpPr>
        <p:spPr>
          <a:xfrm>
            <a:off x="457200" y="1106672"/>
            <a:ext cx="8229600" cy="776700"/>
          </a:xfrm>
          <a:prstGeom prst="roundRect">
            <a:avLst>
              <a:gd fmla="val 4138"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
          <p:cNvSpPr txBox="1"/>
          <p:nvPr/>
        </p:nvSpPr>
        <p:spPr>
          <a:xfrm>
            <a:off x="2880307" y="1197868"/>
            <a:ext cx="33834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2B2B"/>
              </a:buClr>
              <a:buSzPts val="1300"/>
              <a:buFont typeface="Arial"/>
              <a:buNone/>
            </a:pPr>
            <a:r>
              <a:rPr lang="en-US" sz="1300">
                <a:solidFill>
                  <a:srgbClr val="2B2B2B"/>
                </a:solidFill>
              </a:rPr>
              <a:t>More processors can do more work.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4"/>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i="0" lang="en-US" sz="3200" u="none" cap="none" strike="noStrike">
                <a:solidFill>
                  <a:srgbClr val="500000"/>
                </a:solidFill>
                <a:latin typeface="Arial"/>
                <a:ea typeface="Arial"/>
                <a:cs typeface="Arial"/>
                <a:sym typeface="Arial"/>
              </a:rPr>
              <a:t>So what is CUDA?</a:t>
            </a:r>
            <a:endParaRPr b="0" i="0" sz="3200" u="none" cap="none" strike="noStrike">
              <a:solidFill>
                <a:schemeClr val="dk1"/>
              </a:solidFill>
              <a:latin typeface="Calibri"/>
              <a:ea typeface="Calibri"/>
              <a:cs typeface="Calibri"/>
              <a:sym typeface="Calibri"/>
            </a:endParaRPr>
          </a:p>
        </p:txBody>
      </p:sp>
      <p:sp>
        <p:nvSpPr>
          <p:cNvPr id="321" name="Google Shape;321;p4"/>
          <p:cNvSpPr/>
          <p:nvPr/>
        </p:nvSpPr>
        <p:spPr>
          <a:xfrm>
            <a:off x="457200" y="1188720"/>
            <a:ext cx="8229600" cy="1097280"/>
          </a:xfrm>
          <a:prstGeom prst="roundRect">
            <a:avLst>
              <a:gd fmla="val 10000"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
          <p:cNvSpPr txBox="1"/>
          <p:nvPr/>
        </p:nvSpPr>
        <p:spPr>
          <a:xfrm>
            <a:off x="731520" y="1188720"/>
            <a:ext cx="768096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CUDA is NVIDIA's platform that lets you write C++ code that runs on the GPU.</a:t>
            </a:r>
            <a:endParaRPr b="0" i="0" sz="2200" u="none" cap="none" strike="noStrike">
              <a:solidFill>
                <a:schemeClr val="dk1"/>
              </a:solidFill>
              <a:latin typeface="Calibri"/>
              <a:ea typeface="Calibri"/>
              <a:cs typeface="Calibri"/>
              <a:sym typeface="Calibri"/>
            </a:endParaRPr>
          </a:p>
        </p:txBody>
      </p:sp>
      <p:sp>
        <p:nvSpPr>
          <p:cNvPr id="323" name="Google Shape;323;p4"/>
          <p:cNvSpPr txBox="1"/>
          <p:nvPr/>
        </p:nvSpPr>
        <p:spPr>
          <a:xfrm>
            <a:off x="457200" y="2606040"/>
            <a:ext cx="256032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4800"/>
              <a:buFont typeface="Arial"/>
              <a:buNone/>
            </a:pPr>
            <a:r>
              <a:rPr b="1" i="0" lang="en-US" sz="4800" u="none" cap="none" strike="noStrike">
                <a:solidFill>
                  <a:srgbClr val="500000"/>
                </a:solidFill>
                <a:latin typeface="Arial"/>
                <a:ea typeface="Arial"/>
                <a:cs typeface="Arial"/>
                <a:sym typeface="Arial"/>
              </a:rPr>
              <a:t>2007</a:t>
            </a:r>
            <a:endParaRPr b="0" i="0" sz="4800" u="none" cap="none" strike="noStrike">
              <a:solidFill>
                <a:schemeClr val="dk1"/>
              </a:solidFill>
              <a:latin typeface="Calibri"/>
              <a:ea typeface="Calibri"/>
              <a:cs typeface="Calibri"/>
              <a:sym typeface="Calibri"/>
            </a:endParaRPr>
          </a:p>
        </p:txBody>
      </p:sp>
      <p:sp>
        <p:nvSpPr>
          <p:cNvPr id="324" name="Google Shape;324;p4"/>
          <p:cNvSpPr txBox="1"/>
          <p:nvPr/>
        </p:nvSpPr>
        <p:spPr>
          <a:xfrm>
            <a:off x="457200" y="342900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400"/>
              <a:buFont typeface="Arial"/>
              <a:buNone/>
            </a:pPr>
            <a:r>
              <a:rPr b="0" i="0" lang="en-US" sz="1400" u="none" cap="none" strike="noStrike">
                <a:solidFill>
                  <a:srgbClr val="6B6B6B"/>
                </a:solidFill>
                <a:latin typeface="Arial"/>
                <a:ea typeface="Arial"/>
                <a:cs typeface="Arial"/>
                <a:sym typeface="Arial"/>
              </a:rPr>
              <a:t>Year NVIDIA released CUDA</a:t>
            </a:r>
            <a:endParaRPr b="0" i="0" sz="1400" u="none" cap="none" strike="noStrike">
              <a:solidFill>
                <a:schemeClr val="dk1"/>
              </a:solidFill>
              <a:latin typeface="Calibri"/>
              <a:ea typeface="Calibri"/>
              <a:cs typeface="Calibri"/>
              <a:sym typeface="Calibri"/>
            </a:endParaRPr>
          </a:p>
        </p:txBody>
      </p:sp>
      <p:sp>
        <p:nvSpPr>
          <p:cNvPr id="325" name="Google Shape;325;p4"/>
          <p:cNvSpPr txBox="1"/>
          <p:nvPr/>
        </p:nvSpPr>
        <p:spPr>
          <a:xfrm>
            <a:off x="3291840" y="2606040"/>
            <a:ext cx="256032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4800"/>
              <a:buFont typeface="Arial"/>
              <a:buNone/>
            </a:pPr>
            <a:r>
              <a:rPr b="1" i="0" lang="en-US" sz="4800" u="none" cap="none" strike="noStrike">
                <a:solidFill>
                  <a:srgbClr val="500000"/>
                </a:solidFill>
                <a:latin typeface="Arial"/>
                <a:ea typeface="Arial"/>
                <a:cs typeface="Arial"/>
                <a:sym typeface="Arial"/>
              </a:rPr>
              <a:t>C++</a:t>
            </a:r>
            <a:endParaRPr b="0" i="0" sz="4800" u="none" cap="none" strike="noStrike">
              <a:solidFill>
                <a:schemeClr val="dk1"/>
              </a:solidFill>
              <a:latin typeface="Calibri"/>
              <a:ea typeface="Calibri"/>
              <a:cs typeface="Calibri"/>
              <a:sym typeface="Calibri"/>
            </a:endParaRPr>
          </a:p>
        </p:txBody>
      </p:sp>
      <p:sp>
        <p:nvSpPr>
          <p:cNvPr id="326" name="Google Shape;326;p4"/>
          <p:cNvSpPr txBox="1"/>
          <p:nvPr/>
        </p:nvSpPr>
        <p:spPr>
          <a:xfrm>
            <a:off x="3291840" y="342900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400"/>
              <a:buFont typeface="Arial"/>
              <a:buNone/>
            </a:pPr>
            <a:r>
              <a:rPr b="0" i="0" lang="en-US" sz="1400" u="none" cap="none" strike="noStrike">
                <a:solidFill>
                  <a:srgbClr val="6B6B6B"/>
                </a:solidFill>
                <a:latin typeface="Arial"/>
                <a:ea typeface="Arial"/>
                <a:cs typeface="Arial"/>
                <a:sym typeface="Arial"/>
              </a:rPr>
              <a:t>Plus a few extra keywords</a:t>
            </a:r>
            <a:endParaRPr b="0" i="0" sz="1400" u="none" cap="none" strike="noStrike">
              <a:solidFill>
                <a:schemeClr val="dk1"/>
              </a:solidFill>
              <a:latin typeface="Calibri"/>
              <a:ea typeface="Calibri"/>
              <a:cs typeface="Calibri"/>
              <a:sym typeface="Calibri"/>
            </a:endParaRPr>
          </a:p>
        </p:txBody>
      </p:sp>
      <p:sp>
        <p:nvSpPr>
          <p:cNvPr id="327" name="Google Shape;327;p4"/>
          <p:cNvSpPr txBox="1"/>
          <p:nvPr/>
        </p:nvSpPr>
        <p:spPr>
          <a:xfrm>
            <a:off x="6126480" y="2606040"/>
            <a:ext cx="256032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4800"/>
              <a:buFont typeface="Arial"/>
              <a:buNone/>
            </a:pPr>
            <a:r>
              <a:rPr b="1" i="0" lang="en-US" sz="4800" u="none" cap="none" strike="noStrike">
                <a:solidFill>
                  <a:srgbClr val="500000"/>
                </a:solidFill>
                <a:latin typeface="Arial"/>
                <a:ea typeface="Arial"/>
                <a:cs typeface="Arial"/>
                <a:sym typeface="Arial"/>
              </a:rPr>
              <a:t>1000s</a:t>
            </a:r>
            <a:endParaRPr b="0" i="0" sz="4800" u="none" cap="none" strike="noStrike">
              <a:solidFill>
                <a:schemeClr val="dk1"/>
              </a:solidFill>
              <a:latin typeface="Calibri"/>
              <a:ea typeface="Calibri"/>
              <a:cs typeface="Calibri"/>
              <a:sym typeface="Calibri"/>
            </a:endParaRPr>
          </a:p>
        </p:txBody>
      </p:sp>
      <p:sp>
        <p:nvSpPr>
          <p:cNvPr id="328" name="Google Shape;328;p4"/>
          <p:cNvSpPr txBox="1"/>
          <p:nvPr/>
        </p:nvSpPr>
        <p:spPr>
          <a:xfrm>
            <a:off x="6126480" y="342900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400"/>
              <a:buFont typeface="Arial"/>
              <a:buNone/>
            </a:pPr>
            <a:r>
              <a:rPr b="0" i="0" lang="en-US" sz="1400" u="none" cap="none" strike="noStrike">
                <a:solidFill>
                  <a:srgbClr val="6B6B6B"/>
                </a:solidFill>
                <a:latin typeface="Arial"/>
                <a:ea typeface="Arial"/>
                <a:cs typeface="Arial"/>
                <a:sym typeface="Arial"/>
              </a:rPr>
              <a:t>Threads running your code at once</a:t>
            </a:r>
            <a:endParaRPr b="0" i="0" sz="1400" u="none" cap="none" strike="noStrike">
              <a:solidFill>
                <a:schemeClr val="dk1"/>
              </a:solidFill>
              <a:latin typeface="Calibri"/>
              <a:ea typeface="Calibri"/>
              <a:cs typeface="Calibri"/>
              <a:sym typeface="Calibri"/>
            </a:endParaRPr>
          </a:p>
        </p:txBody>
      </p:sp>
      <p:sp>
        <p:nvSpPr>
          <p:cNvPr id="329" name="Google Shape;329;p4"/>
          <p:cNvSpPr txBox="1"/>
          <p:nvPr/>
        </p:nvSpPr>
        <p:spPr>
          <a:xfrm>
            <a:off x="457200" y="42062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Arial"/>
              <a:buNone/>
            </a:pPr>
            <a:r>
              <a:rPr b="0" i="1" lang="en-US" sz="1200" u="none" cap="none" strike="noStrike">
                <a:solidFill>
                  <a:srgbClr val="6B6B6B"/>
                </a:solidFill>
                <a:latin typeface="Arial"/>
                <a:ea typeface="Arial"/>
                <a:cs typeface="Arial"/>
                <a:sym typeface="Arial"/>
              </a:rPr>
              <a:t>CUDA only runs on NVIDIA GPUs, which is why will use Google Colab and other sites that can run it for free.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5"/>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i="0" lang="en-US" sz="3200" u="none" cap="none" strike="noStrike">
                <a:solidFill>
                  <a:srgbClr val="500000"/>
                </a:solidFill>
                <a:latin typeface="Arial"/>
                <a:ea typeface="Arial"/>
                <a:cs typeface="Arial"/>
                <a:sym typeface="Arial"/>
              </a:rPr>
              <a:t>The big picture: where CUDA shows up</a:t>
            </a:r>
            <a:endParaRPr b="0" i="0" sz="3200" u="none" cap="none" strike="noStrike">
              <a:solidFill>
                <a:schemeClr val="dk1"/>
              </a:solidFill>
              <a:latin typeface="Calibri"/>
              <a:ea typeface="Calibri"/>
              <a:cs typeface="Calibri"/>
              <a:sym typeface="Calibri"/>
            </a:endParaRPr>
          </a:p>
        </p:txBody>
      </p:sp>
      <p:sp>
        <p:nvSpPr>
          <p:cNvPr id="336" name="Google Shape;336;p5"/>
          <p:cNvSpPr/>
          <p:nvPr/>
        </p:nvSpPr>
        <p:spPr>
          <a:xfrm>
            <a:off x="457200" y="1188720"/>
            <a:ext cx="4023360" cy="1417320"/>
          </a:xfrm>
          <a:prstGeom prst="roundRect">
            <a:avLst>
              <a:gd fmla="val 7742"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5"/>
          <p:cNvSpPr/>
          <p:nvPr/>
        </p:nvSpPr>
        <p:spPr>
          <a:xfrm>
            <a:off x="685800" y="1554480"/>
            <a:ext cx="685800" cy="68580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8" name="Google Shape;338;p5"/>
          <p:cNvPicPr preferRelativeResize="0"/>
          <p:nvPr/>
        </p:nvPicPr>
        <p:blipFill rotWithShape="1">
          <a:blip r:embed="rId3">
            <a:alphaModFix/>
          </a:blip>
          <a:srcRect b="0" l="0" r="0" t="0"/>
          <a:stretch/>
        </p:blipFill>
        <p:spPr>
          <a:xfrm>
            <a:off x="877824" y="1746504"/>
            <a:ext cx="301752" cy="301752"/>
          </a:xfrm>
          <a:prstGeom prst="rect">
            <a:avLst/>
          </a:prstGeom>
          <a:noFill/>
          <a:ln>
            <a:noFill/>
          </a:ln>
        </p:spPr>
      </p:pic>
      <p:sp>
        <p:nvSpPr>
          <p:cNvPr id="339" name="Google Shape;339;p5"/>
          <p:cNvSpPr txBox="1"/>
          <p:nvPr/>
        </p:nvSpPr>
        <p:spPr>
          <a:xfrm>
            <a:off x="1600200" y="1444752"/>
            <a:ext cx="2697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700"/>
              <a:buFont typeface="Arial"/>
              <a:buNone/>
            </a:pPr>
            <a:r>
              <a:rPr b="1" i="0" lang="en-US" sz="1700" u="none" cap="none" strike="noStrike">
                <a:solidFill>
                  <a:srgbClr val="500000"/>
                </a:solidFill>
                <a:latin typeface="Arial"/>
                <a:ea typeface="Arial"/>
                <a:cs typeface="Arial"/>
                <a:sym typeface="Arial"/>
              </a:rPr>
              <a:t>AI &amp; deep learning</a:t>
            </a:r>
            <a:endParaRPr b="0" i="0" sz="1700" u="none" cap="none" strike="noStrike">
              <a:solidFill>
                <a:schemeClr val="dk1"/>
              </a:solidFill>
              <a:latin typeface="Calibri"/>
              <a:ea typeface="Calibri"/>
              <a:cs typeface="Calibri"/>
              <a:sym typeface="Calibri"/>
            </a:endParaRPr>
          </a:p>
        </p:txBody>
      </p:sp>
      <p:sp>
        <p:nvSpPr>
          <p:cNvPr id="340" name="Google Shape;340;p5"/>
          <p:cNvSpPr txBox="1"/>
          <p:nvPr/>
        </p:nvSpPr>
        <p:spPr>
          <a:xfrm>
            <a:off x="1600200" y="1847088"/>
            <a:ext cx="26974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PyTorch and TensorFlow use CUDA to train and run neural networks.</a:t>
            </a:r>
            <a:endParaRPr b="0" i="0" sz="1300" u="none" cap="none" strike="noStrike">
              <a:solidFill>
                <a:schemeClr val="dk1"/>
              </a:solidFill>
              <a:latin typeface="Calibri"/>
              <a:ea typeface="Calibri"/>
              <a:cs typeface="Calibri"/>
              <a:sym typeface="Calibri"/>
            </a:endParaRPr>
          </a:p>
        </p:txBody>
      </p:sp>
      <p:sp>
        <p:nvSpPr>
          <p:cNvPr id="341" name="Google Shape;341;p5"/>
          <p:cNvSpPr/>
          <p:nvPr/>
        </p:nvSpPr>
        <p:spPr>
          <a:xfrm>
            <a:off x="4663440" y="1188720"/>
            <a:ext cx="4023360" cy="1417320"/>
          </a:xfrm>
          <a:prstGeom prst="roundRect">
            <a:avLst>
              <a:gd fmla="val 7742"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
          <p:cNvSpPr/>
          <p:nvPr/>
        </p:nvSpPr>
        <p:spPr>
          <a:xfrm>
            <a:off x="4892040" y="1554480"/>
            <a:ext cx="685800" cy="68580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3" name="Google Shape;343;p5"/>
          <p:cNvPicPr preferRelativeResize="0"/>
          <p:nvPr/>
        </p:nvPicPr>
        <p:blipFill rotWithShape="1">
          <a:blip r:embed="rId4">
            <a:alphaModFix/>
          </a:blip>
          <a:srcRect b="0" l="0" r="0" t="0"/>
          <a:stretch/>
        </p:blipFill>
        <p:spPr>
          <a:xfrm>
            <a:off x="5084064" y="1746504"/>
            <a:ext cx="301752" cy="301752"/>
          </a:xfrm>
          <a:prstGeom prst="rect">
            <a:avLst/>
          </a:prstGeom>
          <a:noFill/>
          <a:ln>
            <a:noFill/>
          </a:ln>
        </p:spPr>
      </p:pic>
      <p:sp>
        <p:nvSpPr>
          <p:cNvPr id="344" name="Google Shape;344;p5"/>
          <p:cNvSpPr txBox="1"/>
          <p:nvPr/>
        </p:nvSpPr>
        <p:spPr>
          <a:xfrm>
            <a:off x="5806440" y="1444752"/>
            <a:ext cx="2697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700"/>
              <a:buFont typeface="Arial"/>
              <a:buNone/>
            </a:pPr>
            <a:r>
              <a:rPr b="1" i="0" lang="en-US" sz="1700" u="none" cap="none" strike="noStrike">
                <a:solidFill>
                  <a:srgbClr val="500000"/>
                </a:solidFill>
                <a:latin typeface="Arial"/>
                <a:ea typeface="Arial"/>
                <a:cs typeface="Arial"/>
                <a:sym typeface="Arial"/>
              </a:rPr>
              <a:t>Science &amp; simulation</a:t>
            </a:r>
            <a:endParaRPr b="0" i="0" sz="1700" u="none" cap="none" strike="noStrike">
              <a:solidFill>
                <a:schemeClr val="dk1"/>
              </a:solidFill>
              <a:latin typeface="Calibri"/>
              <a:ea typeface="Calibri"/>
              <a:cs typeface="Calibri"/>
              <a:sym typeface="Calibri"/>
            </a:endParaRPr>
          </a:p>
        </p:txBody>
      </p:sp>
      <p:sp>
        <p:nvSpPr>
          <p:cNvPr id="345" name="Google Shape;345;p5"/>
          <p:cNvSpPr txBox="1"/>
          <p:nvPr/>
        </p:nvSpPr>
        <p:spPr>
          <a:xfrm>
            <a:off x="5806440" y="1847088"/>
            <a:ext cx="26974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Weather models, molecular dynamics, physics simulations.</a:t>
            </a:r>
            <a:endParaRPr b="0" i="0" sz="1300" u="none" cap="none" strike="noStrike">
              <a:solidFill>
                <a:schemeClr val="dk1"/>
              </a:solidFill>
              <a:latin typeface="Calibri"/>
              <a:ea typeface="Calibri"/>
              <a:cs typeface="Calibri"/>
              <a:sym typeface="Calibri"/>
            </a:endParaRPr>
          </a:p>
        </p:txBody>
      </p:sp>
      <p:sp>
        <p:nvSpPr>
          <p:cNvPr id="346" name="Google Shape;346;p5"/>
          <p:cNvSpPr/>
          <p:nvPr/>
        </p:nvSpPr>
        <p:spPr>
          <a:xfrm>
            <a:off x="457200" y="2788920"/>
            <a:ext cx="4023360" cy="1417320"/>
          </a:xfrm>
          <a:prstGeom prst="roundRect">
            <a:avLst>
              <a:gd fmla="val 7742"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5"/>
          <p:cNvSpPr/>
          <p:nvPr/>
        </p:nvSpPr>
        <p:spPr>
          <a:xfrm>
            <a:off x="685800" y="3154680"/>
            <a:ext cx="685800" cy="685800"/>
          </a:xfrm>
          <a:prstGeom prst="ellipse">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8" name="Google Shape;348;p5"/>
          <p:cNvPicPr preferRelativeResize="0"/>
          <p:nvPr/>
        </p:nvPicPr>
        <p:blipFill rotWithShape="1">
          <a:blip r:embed="rId5">
            <a:alphaModFix/>
          </a:blip>
          <a:srcRect b="0" l="0" r="0" t="0"/>
          <a:stretch/>
        </p:blipFill>
        <p:spPr>
          <a:xfrm>
            <a:off x="877824" y="3346704"/>
            <a:ext cx="301752" cy="301752"/>
          </a:xfrm>
          <a:prstGeom prst="rect">
            <a:avLst/>
          </a:prstGeom>
          <a:noFill/>
          <a:ln>
            <a:noFill/>
          </a:ln>
        </p:spPr>
      </p:pic>
      <p:sp>
        <p:nvSpPr>
          <p:cNvPr id="349" name="Google Shape;349;p5"/>
          <p:cNvSpPr txBox="1"/>
          <p:nvPr/>
        </p:nvSpPr>
        <p:spPr>
          <a:xfrm>
            <a:off x="1600200" y="3044952"/>
            <a:ext cx="2697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700"/>
              <a:buFont typeface="Arial"/>
              <a:buNone/>
            </a:pPr>
            <a:r>
              <a:rPr b="1" i="0" lang="en-US" sz="1700" u="none" cap="none" strike="noStrike">
                <a:solidFill>
                  <a:srgbClr val="500000"/>
                </a:solidFill>
                <a:latin typeface="Arial"/>
                <a:ea typeface="Arial"/>
                <a:cs typeface="Arial"/>
                <a:sym typeface="Arial"/>
              </a:rPr>
              <a:t>Graphics &amp; video</a:t>
            </a:r>
            <a:endParaRPr b="0" i="0" sz="1700" u="none" cap="none" strike="noStrike">
              <a:solidFill>
                <a:schemeClr val="dk1"/>
              </a:solidFill>
              <a:latin typeface="Calibri"/>
              <a:ea typeface="Calibri"/>
              <a:cs typeface="Calibri"/>
              <a:sym typeface="Calibri"/>
            </a:endParaRPr>
          </a:p>
        </p:txBody>
      </p:sp>
      <p:sp>
        <p:nvSpPr>
          <p:cNvPr id="350" name="Google Shape;350;p5"/>
          <p:cNvSpPr txBox="1"/>
          <p:nvPr/>
        </p:nvSpPr>
        <p:spPr>
          <a:xfrm>
            <a:off x="1600200" y="3447288"/>
            <a:ext cx="26974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Rendering, video editing, and image processing.</a:t>
            </a:r>
            <a:endParaRPr b="0" i="0" sz="1300" u="none" cap="none" strike="noStrike">
              <a:solidFill>
                <a:schemeClr val="dk1"/>
              </a:solidFill>
              <a:latin typeface="Calibri"/>
              <a:ea typeface="Calibri"/>
              <a:cs typeface="Calibri"/>
              <a:sym typeface="Calibri"/>
            </a:endParaRPr>
          </a:p>
        </p:txBody>
      </p:sp>
      <p:sp>
        <p:nvSpPr>
          <p:cNvPr id="351" name="Google Shape;351;p5"/>
          <p:cNvSpPr/>
          <p:nvPr/>
        </p:nvSpPr>
        <p:spPr>
          <a:xfrm>
            <a:off x="4663440" y="2788920"/>
            <a:ext cx="4023360" cy="1417320"/>
          </a:xfrm>
          <a:prstGeom prst="roundRect">
            <a:avLst>
              <a:gd fmla="val 7742" name="adj"/>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5"/>
          <p:cNvSpPr/>
          <p:nvPr/>
        </p:nvSpPr>
        <p:spPr>
          <a:xfrm>
            <a:off x="4892040" y="3154680"/>
            <a:ext cx="685800" cy="685800"/>
          </a:xfrm>
          <a:prstGeom prst="ellipse">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3" name="Google Shape;353;p5"/>
          <p:cNvPicPr preferRelativeResize="0"/>
          <p:nvPr/>
        </p:nvPicPr>
        <p:blipFill rotWithShape="1">
          <a:blip r:embed="rId6">
            <a:alphaModFix/>
          </a:blip>
          <a:srcRect b="0" l="0" r="0" t="0"/>
          <a:stretch/>
        </p:blipFill>
        <p:spPr>
          <a:xfrm>
            <a:off x="5084064" y="3346704"/>
            <a:ext cx="301752" cy="301752"/>
          </a:xfrm>
          <a:prstGeom prst="rect">
            <a:avLst/>
          </a:prstGeom>
          <a:noFill/>
          <a:ln>
            <a:noFill/>
          </a:ln>
        </p:spPr>
      </p:pic>
      <p:sp>
        <p:nvSpPr>
          <p:cNvPr id="354" name="Google Shape;354;p5"/>
          <p:cNvSpPr txBox="1"/>
          <p:nvPr/>
        </p:nvSpPr>
        <p:spPr>
          <a:xfrm>
            <a:off x="5806440" y="3044952"/>
            <a:ext cx="2697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700"/>
              <a:buFont typeface="Arial"/>
              <a:buNone/>
            </a:pPr>
            <a:r>
              <a:rPr b="1" i="0" lang="en-US" sz="1700" u="none" cap="none" strike="noStrike">
                <a:solidFill>
                  <a:srgbClr val="500000"/>
                </a:solidFill>
                <a:latin typeface="Arial"/>
                <a:ea typeface="Arial"/>
                <a:cs typeface="Arial"/>
                <a:sym typeface="Arial"/>
              </a:rPr>
              <a:t>Robotics &amp; self-driving</a:t>
            </a:r>
            <a:endParaRPr b="0" i="0" sz="1700" u="none" cap="none" strike="noStrike">
              <a:solidFill>
                <a:schemeClr val="dk1"/>
              </a:solidFill>
              <a:latin typeface="Calibri"/>
              <a:ea typeface="Calibri"/>
              <a:cs typeface="Calibri"/>
              <a:sym typeface="Calibri"/>
            </a:endParaRPr>
          </a:p>
        </p:txBody>
      </p:sp>
      <p:sp>
        <p:nvSpPr>
          <p:cNvPr id="355" name="Google Shape;355;p5"/>
          <p:cNvSpPr txBox="1"/>
          <p:nvPr/>
        </p:nvSpPr>
        <p:spPr>
          <a:xfrm>
            <a:off x="5806440" y="3447288"/>
            <a:ext cx="26974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Turning camera feeds into decisions in real time.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1"/>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i="0" lang="en-US" sz="3200" u="none" cap="none" strike="noStrike">
                <a:solidFill>
                  <a:srgbClr val="500000"/>
                </a:solidFill>
                <a:latin typeface="Arial"/>
                <a:ea typeface="Arial"/>
                <a:cs typeface="Arial"/>
                <a:sym typeface="Arial"/>
              </a:rPr>
              <a:t>Why it matters for your career</a:t>
            </a:r>
            <a:endParaRPr b="0" i="0" sz="3200" u="none" cap="none" strike="noStrike">
              <a:solidFill>
                <a:schemeClr val="dk1"/>
              </a:solidFill>
              <a:latin typeface="Calibri"/>
              <a:ea typeface="Calibri"/>
              <a:cs typeface="Calibri"/>
              <a:sym typeface="Calibri"/>
            </a:endParaRPr>
          </a:p>
        </p:txBody>
      </p:sp>
      <p:sp>
        <p:nvSpPr>
          <p:cNvPr id="362" name="Google Shape;362;p21"/>
          <p:cNvSpPr/>
          <p:nvPr/>
        </p:nvSpPr>
        <p:spPr>
          <a:xfrm>
            <a:off x="457200" y="1188720"/>
            <a:ext cx="4023360" cy="777240"/>
          </a:xfrm>
          <a:prstGeom prst="roundRect">
            <a:avLst>
              <a:gd fmla="val 11765"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1"/>
          <p:cNvSpPr txBox="1"/>
          <p:nvPr/>
        </p:nvSpPr>
        <p:spPr>
          <a:xfrm>
            <a:off x="640080" y="128016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500"/>
              <a:buFont typeface="Arial"/>
              <a:buNone/>
            </a:pPr>
            <a:r>
              <a:rPr b="1" i="0" lang="en-US" sz="1500" u="none" cap="none" strike="noStrike">
                <a:solidFill>
                  <a:srgbClr val="500000"/>
                </a:solidFill>
                <a:latin typeface="Arial"/>
                <a:ea typeface="Arial"/>
                <a:cs typeface="Arial"/>
                <a:sym typeface="Arial"/>
              </a:rPr>
              <a:t>NVIDIA</a:t>
            </a:r>
            <a:endParaRPr b="0" i="0" sz="1500" u="none" cap="none" strike="noStrike">
              <a:solidFill>
                <a:schemeClr val="dk1"/>
              </a:solidFill>
              <a:latin typeface="Calibri"/>
              <a:ea typeface="Calibri"/>
              <a:cs typeface="Calibri"/>
              <a:sym typeface="Calibri"/>
            </a:endParaRPr>
          </a:p>
        </p:txBody>
      </p:sp>
      <p:sp>
        <p:nvSpPr>
          <p:cNvPr id="364" name="Google Shape;364;p21"/>
          <p:cNvSpPr txBox="1"/>
          <p:nvPr/>
        </p:nvSpPr>
        <p:spPr>
          <a:xfrm>
            <a:off x="640080" y="1554480"/>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Created CUDA. It is the core of their AI and graphics software.</a:t>
            </a:r>
            <a:endParaRPr b="0" i="0" sz="1100" u="none" cap="none" strike="noStrike">
              <a:solidFill>
                <a:schemeClr val="dk1"/>
              </a:solidFill>
              <a:latin typeface="Calibri"/>
              <a:ea typeface="Calibri"/>
              <a:cs typeface="Calibri"/>
              <a:sym typeface="Calibri"/>
            </a:endParaRPr>
          </a:p>
        </p:txBody>
      </p:sp>
      <p:sp>
        <p:nvSpPr>
          <p:cNvPr id="365" name="Google Shape;365;p21"/>
          <p:cNvSpPr/>
          <p:nvPr/>
        </p:nvSpPr>
        <p:spPr>
          <a:xfrm>
            <a:off x="457200" y="2103120"/>
            <a:ext cx="4023360" cy="777240"/>
          </a:xfrm>
          <a:prstGeom prst="roundRect">
            <a:avLst>
              <a:gd fmla="val 11765"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1"/>
          <p:cNvSpPr txBox="1"/>
          <p:nvPr/>
        </p:nvSpPr>
        <p:spPr>
          <a:xfrm>
            <a:off x="640080" y="219456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500"/>
              <a:buFont typeface="Arial"/>
              <a:buNone/>
            </a:pPr>
            <a:r>
              <a:rPr b="1" i="0" lang="en-US" sz="1500" u="none" cap="none" strike="noStrike">
                <a:solidFill>
                  <a:srgbClr val="500000"/>
                </a:solidFill>
                <a:latin typeface="Arial"/>
                <a:ea typeface="Arial"/>
                <a:cs typeface="Arial"/>
                <a:sym typeface="Arial"/>
              </a:rPr>
              <a:t>AMD</a:t>
            </a:r>
            <a:endParaRPr b="0" i="0" sz="1500" u="none" cap="none" strike="noStrike">
              <a:solidFill>
                <a:schemeClr val="dk1"/>
              </a:solidFill>
              <a:latin typeface="Calibri"/>
              <a:ea typeface="Calibri"/>
              <a:cs typeface="Calibri"/>
              <a:sym typeface="Calibri"/>
            </a:endParaRPr>
          </a:p>
        </p:txBody>
      </p:sp>
      <p:sp>
        <p:nvSpPr>
          <p:cNvPr id="367" name="Google Shape;367;p21"/>
          <p:cNvSpPr txBox="1"/>
          <p:nvPr/>
        </p:nvSpPr>
        <p:spPr>
          <a:xfrm>
            <a:off x="640080" y="2468880"/>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HIP / ROCm: code looks nearly identical to CUDA, so the skills transfer directly.</a:t>
            </a:r>
            <a:endParaRPr b="0" i="0" sz="1100" u="none" cap="none" strike="noStrike">
              <a:solidFill>
                <a:schemeClr val="dk1"/>
              </a:solidFill>
              <a:latin typeface="Calibri"/>
              <a:ea typeface="Calibri"/>
              <a:cs typeface="Calibri"/>
              <a:sym typeface="Calibri"/>
            </a:endParaRPr>
          </a:p>
        </p:txBody>
      </p:sp>
      <p:sp>
        <p:nvSpPr>
          <p:cNvPr id="368" name="Google Shape;368;p21"/>
          <p:cNvSpPr/>
          <p:nvPr/>
        </p:nvSpPr>
        <p:spPr>
          <a:xfrm>
            <a:off x="457200" y="3017520"/>
            <a:ext cx="4023360" cy="777240"/>
          </a:xfrm>
          <a:prstGeom prst="roundRect">
            <a:avLst>
              <a:gd fmla="val 11765"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1"/>
          <p:cNvSpPr txBox="1"/>
          <p:nvPr/>
        </p:nvSpPr>
        <p:spPr>
          <a:xfrm>
            <a:off x="640080" y="310896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500"/>
              <a:buFont typeface="Arial"/>
              <a:buNone/>
            </a:pPr>
            <a:r>
              <a:rPr b="1" i="0" lang="en-US" sz="1500" u="none" cap="none" strike="noStrike">
                <a:solidFill>
                  <a:srgbClr val="500000"/>
                </a:solidFill>
                <a:latin typeface="Arial"/>
                <a:ea typeface="Arial"/>
                <a:cs typeface="Arial"/>
                <a:sym typeface="Arial"/>
              </a:rPr>
              <a:t>Intel, Apple &amp; more</a:t>
            </a:r>
            <a:endParaRPr b="0" i="0" sz="1500" u="none" cap="none" strike="noStrike">
              <a:solidFill>
                <a:schemeClr val="dk1"/>
              </a:solidFill>
              <a:latin typeface="Calibri"/>
              <a:ea typeface="Calibri"/>
              <a:cs typeface="Calibri"/>
              <a:sym typeface="Calibri"/>
            </a:endParaRPr>
          </a:p>
        </p:txBody>
      </p:sp>
      <p:sp>
        <p:nvSpPr>
          <p:cNvPr id="370" name="Google Shape;370;p21"/>
          <p:cNvSpPr txBox="1"/>
          <p:nvPr/>
        </p:nvSpPr>
        <p:spPr>
          <a:xfrm>
            <a:off x="640080" y="3383280"/>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SYCL, Metal and others use the same parallel ideas. So do Google, Meta, Tesla and AI startups.</a:t>
            </a:r>
            <a:endParaRPr b="0" i="0" sz="1100" u="none" cap="none" strike="noStrike">
              <a:solidFill>
                <a:schemeClr val="dk1"/>
              </a:solidFill>
              <a:latin typeface="Calibri"/>
              <a:ea typeface="Calibri"/>
              <a:cs typeface="Calibri"/>
              <a:sym typeface="Calibri"/>
            </a:endParaRPr>
          </a:p>
        </p:txBody>
      </p:sp>
      <p:sp>
        <p:nvSpPr>
          <p:cNvPr id="371" name="Google Shape;371;p21"/>
          <p:cNvSpPr txBox="1"/>
          <p:nvPr/>
        </p:nvSpPr>
        <p:spPr>
          <a:xfrm>
            <a:off x="4846320" y="1188720"/>
            <a:ext cx="3840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1600"/>
              <a:buFont typeface="Arial"/>
              <a:buNone/>
            </a:pPr>
            <a:r>
              <a:rPr b="1" i="0" lang="en-US" sz="1600" u="none" cap="none" strike="noStrike">
                <a:solidFill>
                  <a:srgbClr val="500000"/>
                </a:solidFill>
                <a:latin typeface="Arial"/>
                <a:ea typeface="Arial"/>
                <a:cs typeface="Arial"/>
                <a:sym typeface="Arial"/>
              </a:rPr>
              <a:t>Skills you can put on a resume</a:t>
            </a:r>
            <a:endParaRPr b="0" i="0" sz="1600" u="none" cap="none" strike="noStrike">
              <a:solidFill>
                <a:schemeClr val="dk1"/>
              </a:solidFill>
              <a:latin typeface="Calibri"/>
              <a:ea typeface="Calibri"/>
              <a:cs typeface="Calibri"/>
              <a:sym typeface="Calibri"/>
            </a:endParaRPr>
          </a:p>
        </p:txBody>
      </p:sp>
      <p:sp>
        <p:nvSpPr>
          <p:cNvPr id="372" name="Google Shape;372;p21"/>
          <p:cNvSpPr txBox="1"/>
          <p:nvPr/>
        </p:nvSpPr>
        <p:spPr>
          <a:xfrm>
            <a:off x="4846320" y="1600200"/>
            <a:ext cx="3840480" cy="173736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2B2B2B"/>
              </a:buClr>
              <a:buSzPts val="1300"/>
              <a:buFont typeface="Arial"/>
              <a:buChar char="•"/>
            </a:pPr>
            <a:r>
              <a:rPr b="0" i="0" lang="en-US" sz="1300" u="none" cap="none" strike="noStrike">
                <a:solidFill>
                  <a:srgbClr val="2B2B2B"/>
                </a:solidFill>
                <a:latin typeface="Arial"/>
                <a:ea typeface="Arial"/>
                <a:cs typeface="Arial"/>
                <a:sym typeface="Arial"/>
              </a:rPr>
              <a:t>C++ and working with memory directly</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300"/>
              <a:buFont typeface="Arial"/>
              <a:buChar char="•"/>
            </a:pPr>
            <a:r>
              <a:rPr b="0" i="0" lang="en-US" sz="1300" u="none" cap="none" strike="noStrike">
                <a:solidFill>
                  <a:srgbClr val="2B2B2B"/>
                </a:solidFill>
                <a:latin typeface="Arial"/>
                <a:ea typeface="Arial"/>
                <a:cs typeface="Arial"/>
                <a:sym typeface="Arial"/>
              </a:rPr>
              <a:t>Parallel programming (thinking in threads)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300"/>
              <a:buFont typeface="Arial"/>
              <a:buChar char="•"/>
            </a:pPr>
            <a:r>
              <a:rPr b="0" i="0" lang="en-US" sz="1300" u="none" cap="none" strike="noStrike">
                <a:solidFill>
                  <a:srgbClr val="2B2B2B"/>
                </a:solidFill>
                <a:latin typeface="Arial"/>
                <a:ea typeface="Arial"/>
                <a:cs typeface="Arial"/>
                <a:sym typeface="Arial"/>
              </a:rPr>
              <a:t>Measuring and improving performance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300"/>
              <a:buFont typeface="Arial"/>
              <a:buChar char="•"/>
            </a:pPr>
            <a:r>
              <a:rPr b="0" i="0" lang="en-US" sz="1300" u="none" cap="none" strike="noStrike">
                <a:solidFill>
                  <a:srgbClr val="2B2B2B"/>
                </a:solidFill>
                <a:latin typeface="Arial"/>
                <a:ea typeface="Arial"/>
                <a:cs typeface="Arial"/>
                <a:sym typeface="Arial"/>
              </a:rPr>
              <a:t>Image processing / computer vision basics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300"/>
              <a:buFont typeface="Arial"/>
              <a:buChar char="•"/>
            </a:pPr>
            <a:r>
              <a:rPr b="0" i="0" lang="en-US" sz="1300" u="none" cap="none" strike="noStrike">
                <a:solidFill>
                  <a:srgbClr val="2B2B2B"/>
                </a:solidFill>
                <a:latin typeface="Arial"/>
                <a:ea typeface="Arial"/>
                <a:cs typeface="Arial"/>
                <a:sym typeface="Arial"/>
              </a:rPr>
              <a:t>A finished project you can show and explain</a:t>
            </a:r>
            <a:endParaRPr b="0" i="0" sz="1300" u="none" cap="none" strike="noStrike">
              <a:solidFill>
                <a:schemeClr val="dk1"/>
              </a:solidFill>
              <a:latin typeface="Calibri"/>
              <a:ea typeface="Calibri"/>
              <a:cs typeface="Calibri"/>
              <a:sym typeface="Calibri"/>
            </a:endParaRPr>
          </a:p>
        </p:txBody>
      </p:sp>
      <p:sp>
        <p:nvSpPr>
          <p:cNvPr id="373" name="Google Shape;373;p21"/>
          <p:cNvSpPr/>
          <p:nvPr/>
        </p:nvSpPr>
        <p:spPr>
          <a:xfrm>
            <a:off x="457200" y="3931920"/>
            <a:ext cx="8229600" cy="731520"/>
          </a:xfrm>
          <a:prstGeom prst="roundRect">
            <a:avLst>
              <a:gd fmla="val 12500" name="adj"/>
            </a:avLst>
          </a:prstGeom>
          <a:solidFill>
            <a:srgbClr val="1B1B1D"/>
          </a:solidFill>
          <a:ln cap="flat" cmpd="sng" w="12700">
            <a:solidFill>
              <a:srgbClr val="1B1B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1"/>
          <p:cNvSpPr txBox="1"/>
          <p:nvPr/>
        </p:nvSpPr>
        <p:spPr>
          <a:xfrm>
            <a:off x="685800" y="3931920"/>
            <a:ext cx="77724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300"/>
              <a:buFont typeface="Arial"/>
              <a:buNone/>
            </a:pPr>
            <a:r>
              <a:rPr b="1" i="0" lang="en-US" sz="1300" u="none" cap="none" strike="noStrike">
                <a:solidFill>
                  <a:srgbClr val="76B900"/>
                </a:solidFill>
                <a:latin typeface="Arial"/>
                <a:ea typeface="Arial"/>
                <a:cs typeface="Arial"/>
                <a:sym typeface="Arial"/>
              </a:rPr>
              <a:t>Example resume line:  </a:t>
            </a:r>
            <a:r>
              <a:rPr b="0" i="1" lang="en-US" sz="1300" u="none" cap="none" strike="noStrike">
                <a:solidFill>
                  <a:srgbClr val="FFFFFF"/>
                </a:solidFill>
                <a:latin typeface="Arial"/>
                <a:ea typeface="Arial"/>
                <a:cs typeface="Arial"/>
                <a:sym typeface="Arial"/>
              </a:rPr>
              <a:t>"Wrote CUDA C++ kernels for image filters (grayscale, blur) and measured speedup over a CPU version of X%."</a:t>
            </a:r>
            <a:endParaRPr b="0" i="0" sz="1300" u="none" cap="none" strike="noStrike">
              <a:solidFill>
                <a:schemeClr val="dk1"/>
              </a:solidFill>
              <a:latin typeface="Calibri"/>
              <a:ea typeface="Calibri"/>
              <a:cs typeface="Calibri"/>
              <a:sym typeface="Calibri"/>
            </a:endParaRPr>
          </a:p>
        </p:txBody>
      </p:sp>
      <p:sp>
        <p:nvSpPr>
          <p:cNvPr id="375" name="Google Shape;375;p21"/>
          <p:cNvSpPr txBox="1"/>
          <p:nvPr/>
        </p:nvSpPr>
        <p:spPr>
          <a:xfrm>
            <a:off x="2849500" y="4571975"/>
            <a:ext cx="3840600" cy="2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Can be considered a “kernel” as you are compiling it uniquely with CUDA, nvcc.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380" name="Shape 380"/>
        <p:cNvGrpSpPr/>
        <p:nvPr/>
      </p:nvGrpSpPr>
      <p:grpSpPr>
        <a:xfrm>
          <a:off x="0" y="0"/>
          <a:ext cx="0" cy="0"/>
          <a:chOff x="0" y="0"/>
          <a:chExt cx="0" cy="0"/>
        </a:xfrm>
      </p:grpSpPr>
      <p:sp>
        <p:nvSpPr>
          <p:cNvPr id="381" name="Google Shape;381;p6"/>
          <p:cNvSpPr txBox="1"/>
          <p:nvPr/>
        </p:nvSpPr>
        <p:spPr>
          <a:xfrm>
            <a:off x="548640" y="960120"/>
            <a:ext cx="5486400" cy="320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6B900"/>
              </a:buClr>
              <a:buSzPts val="1200"/>
              <a:buFont typeface="Arial"/>
              <a:buNone/>
            </a:pPr>
            <a:r>
              <a:rPr b="1" i="0" lang="en-US" sz="1200" u="none" cap="none" strike="noStrike">
                <a:solidFill>
                  <a:srgbClr val="76B900"/>
                </a:solidFill>
                <a:latin typeface="Arial"/>
                <a:ea typeface="Arial"/>
                <a:cs typeface="Arial"/>
                <a:sym typeface="Arial"/>
              </a:rPr>
              <a:t>PART 2  ·  LEARNING</a:t>
            </a:r>
            <a:endParaRPr b="0" i="0" sz="1400" u="none" cap="none" strike="noStrike">
              <a:solidFill>
                <a:srgbClr val="000000"/>
              </a:solidFill>
              <a:latin typeface="Arial"/>
              <a:ea typeface="Arial"/>
              <a:cs typeface="Arial"/>
              <a:sym typeface="Arial"/>
            </a:endParaRPr>
          </a:p>
        </p:txBody>
      </p:sp>
      <p:sp>
        <p:nvSpPr>
          <p:cNvPr id="382" name="Google Shape;382;p6"/>
          <p:cNvSpPr txBox="1"/>
          <p:nvPr/>
        </p:nvSpPr>
        <p:spPr>
          <a:xfrm>
            <a:off x="548640" y="1325880"/>
            <a:ext cx="5669280" cy="1371600"/>
          </a:xfrm>
          <a:prstGeom prst="rect">
            <a:avLst/>
          </a:prstGeom>
          <a:noFill/>
          <a:ln>
            <a:noFill/>
          </a:ln>
        </p:spPr>
        <p:txBody>
          <a:bodyPr anchorCtr="0" anchor="t" bIns="0" lIns="0" spcFirstLastPara="1" rIns="0" wrap="square" tIns="0">
            <a:normAutofit/>
          </a:bodyPr>
          <a:lstStyle/>
          <a:p>
            <a:pPr indent="0" lvl="0" marL="0" marR="0" rtl="0" algn="l">
              <a:lnSpc>
                <a:spcPct val="95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GPU code that looks like the C++ standard library</a:t>
            </a:r>
            <a:endParaRPr b="0" i="0" sz="1400" u="none" cap="none" strike="noStrike">
              <a:solidFill>
                <a:srgbClr val="000000"/>
              </a:solidFill>
              <a:latin typeface="Arial"/>
              <a:ea typeface="Arial"/>
              <a:cs typeface="Arial"/>
              <a:sym typeface="Arial"/>
            </a:endParaRPr>
          </a:p>
        </p:txBody>
      </p:sp>
      <p:sp>
        <p:nvSpPr>
          <p:cNvPr id="383" name="Google Shape;383;p6"/>
          <p:cNvSpPr txBox="1"/>
          <p:nvPr/>
        </p:nvSpPr>
        <p:spPr>
          <a:xfrm>
            <a:off x="548640" y="2788920"/>
            <a:ext cx="5120640" cy="822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BDBDBD"/>
              </a:buClr>
              <a:buSzPts val="1400"/>
              <a:buFont typeface="Arial"/>
              <a:buNone/>
            </a:pPr>
            <a:r>
              <a:rPr b="0" i="0" lang="en-US" sz="1400" u="none" cap="none" strike="noStrike">
                <a:solidFill>
                  <a:srgbClr val="BDBDBD"/>
                </a:solidFill>
                <a:latin typeface="Arial"/>
                <a:ea typeface="Arial"/>
                <a:cs typeface="Arial"/>
                <a:sym typeface="Arial"/>
              </a:rPr>
              <a:t>We let a library do the hard part: Thrust.</a:t>
            </a:r>
            <a:endParaRPr b="0" i="0" sz="1400" u="none" cap="none" strike="noStrike">
              <a:solidFill>
                <a:srgbClr val="000000"/>
              </a:solidFill>
              <a:latin typeface="Arial"/>
              <a:ea typeface="Arial"/>
              <a:cs typeface="Arial"/>
              <a:sym typeface="Arial"/>
            </a:endParaRPr>
          </a:p>
        </p:txBody>
      </p:sp>
      <p:sp>
        <p:nvSpPr>
          <p:cNvPr id="384" name="Google Shape;384;p6"/>
          <p:cNvSpPr/>
          <p:nvPr/>
        </p:nvSpPr>
        <p:spPr>
          <a:xfrm>
            <a:off x="6172200" y="960120"/>
            <a:ext cx="310896" cy="310896"/>
          </a:xfrm>
          <a:prstGeom prst="ellipse">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6"/>
          <p:cNvSpPr txBox="1"/>
          <p:nvPr/>
        </p:nvSpPr>
        <p:spPr>
          <a:xfrm>
            <a:off x="6172200" y="960120"/>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86" name="Google Shape;386;p6"/>
          <p:cNvSpPr txBox="1"/>
          <p:nvPr/>
        </p:nvSpPr>
        <p:spPr>
          <a:xfrm>
            <a:off x="6583680" y="941832"/>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When is a GPU actually faster?</a:t>
            </a:r>
            <a:endParaRPr b="0" i="0" sz="1400" u="none" cap="none" strike="noStrike">
              <a:solidFill>
                <a:srgbClr val="000000"/>
              </a:solidFill>
              <a:latin typeface="Arial"/>
              <a:ea typeface="Arial"/>
              <a:cs typeface="Arial"/>
              <a:sym typeface="Arial"/>
            </a:endParaRPr>
          </a:p>
        </p:txBody>
      </p:sp>
      <p:sp>
        <p:nvSpPr>
          <p:cNvPr id="387" name="Google Shape;387;p6"/>
          <p:cNvSpPr/>
          <p:nvPr/>
        </p:nvSpPr>
        <p:spPr>
          <a:xfrm>
            <a:off x="6172200" y="1435608"/>
            <a:ext cx="310896" cy="310896"/>
          </a:xfrm>
          <a:prstGeom prst="ellipse">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
          <p:cNvSpPr txBox="1"/>
          <p:nvPr/>
        </p:nvSpPr>
        <p:spPr>
          <a:xfrm>
            <a:off x="6172200" y="1435608"/>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89" name="Google Shape;389;p6"/>
          <p:cNvSpPr txBox="1"/>
          <p:nvPr/>
        </p:nvSpPr>
        <p:spPr>
          <a:xfrm>
            <a:off x="6583680" y="1417320"/>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How C++ becomes GPU instructions</a:t>
            </a:r>
            <a:endParaRPr b="0" i="0" sz="1400" u="none" cap="none" strike="noStrike">
              <a:solidFill>
                <a:srgbClr val="000000"/>
              </a:solidFill>
              <a:latin typeface="Arial"/>
              <a:ea typeface="Arial"/>
              <a:cs typeface="Arial"/>
              <a:sym typeface="Arial"/>
            </a:endParaRPr>
          </a:p>
        </p:txBody>
      </p:sp>
      <p:sp>
        <p:nvSpPr>
          <p:cNvPr id="390" name="Google Shape;390;p6"/>
          <p:cNvSpPr/>
          <p:nvPr/>
        </p:nvSpPr>
        <p:spPr>
          <a:xfrm>
            <a:off x="6172200" y="1911096"/>
            <a:ext cx="310896" cy="310896"/>
          </a:xfrm>
          <a:prstGeom prst="ellipse">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6"/>
          <p:cNvSpPr txBox="1"/>
          <p:nvPr/>
        </p:nvSpPr>
        <p:spPr>
          <a:xfrm>
            <a:off x="6172200" y="1911096"/>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92" name="Google Shape;392;p6"/>
          <p:cNvSpPr txBox="1"/>
          <p:nvPr/>
        </p:nvSpPr>
        <p:spPr>
          <a:xfrm>
            <a:off x="6583680" y="1892808"/>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The CUDA library stack</a:t>
            </a:r>
            <a:endParaRPr b="0" i="0" sz="1400" u="none" cap="none" strike="noStrike">
              <a:solidFill>
                <a:srgbClr val="000000"/>
              </a:solidFill>
              <a:latin typeface="Arial"/>
              <a:ea typeface="Arial"/>
              <a:cs typeface="Arial"/>
              <a:sym typeface="Arial"/>
            </a:endParaRPr>
          </a:p>
        </p:txBody>
      </p:sp>
      <p:sp>
        <p:nvSpPr>
          <p:cNvPr id="393" name="Google Shape;393;p6"/>
          <p:cNvSpPr/>
          <p:nvPr/>
        </p:nvSpPr>
        <p:spPr>
          <a:xfrm>
            <a:off x="6172200" y="2386584"/>
            <a:ext cx="310896" cy="310896"/>
          </a:xfrm>
          <a:prstGeom prst="ellipse">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
          <p:cNvSpPr txBox="1"/>
          <p:nvPr/>
        </p:nvSpPr>
        <p:spPr>
          <a:xfrm>
            <a:off x="6172200" y="2386584"/>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395" name="Google Shape;395;p6"/>
          <p:cNvSpPr txBox="1"/>
          <p:nvPr/>
        </p:nvSpPr>
        <p:spPr>
          <a:xfrm>
            <a:off x="6583680" y="2368296"/>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Thrust: std::, GPU edition</a:t>
            </a:r>
            <a:endParaRPr b="0" i="0" sz="1400" u="none" cap="none" strike="noStrike">
              <a:solidFill>
                <a:srgbClr val="000000"/>
              </a:solidFill>
              <a:latin typeface="Arial"/>
              <a:ea typeface="Arial"/>
              <a:cs typeface="Arial"/>
              <a:sym typeface="Arial"/>
            </a:endParaRPr>
          </a:p>
        </p:txBody>
      </p:sp>
      <p:sp>
        <p:nvSpPr>
          <p:cNvPr id="396" name="Google Shape;396;p6"/>
          <p:cNvSpPr/>
          <p:nvPr/>
        </p:nvSpPr>
        <p:spPr>
          <a:xfrm>
            <a:off x="6172200" y="2862072"/>
            <a:ext cx="310896" cy="310896"/>
          </a:xfrm>
          <a:prstGeom prst="ellipse">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6"/>
          <p:cNvSpPr txBox="1"/>
          <p:nvPr/>
        </p:nvSpPr>
        <p:spPr>
          <a:xfrm>
            <a:off x="6172200" y="2862072"/>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398" name="Google Shape;398;p6"/>
          <p:cNvSpPr txBox="1"/>
          <p:nvPr/>
        </p:nvSpPr>
        <p:spPr>
          <a:xfrm>
            <a:off x="6583680" y="2843784"/>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Host vs device: policies &amp; specifiers</a:t>
            </a:r>
            <a:endParaRPr b="0" i="0" sz="1400" u="none" cap="none" strike="noStrike">
              <a:solidFill>
                <a:srgbClr val="000000"/>
              </a:solidFill>
              <a:latin typeface="Arial"/>
              <a:ea typeface="Arial"/>
              <a:cs typeface="Arial"/>
              <a:sym typeface="Arial"/>
            </a:endParaRPr>
          </a:p>
        </p:txBody>
      </p:sp>
      <p:sp>
        <p:nvSpPr>
          <p:cNvPr id="399" name="Google Shape;399;p6"/>
          <p:cNvSpPr/>
          <p:nvPr/>
        </p:nvSpPr>
        <p:spPr>
          <a:xfrm>
            <a:off x="6172200" y="3337560"/>
            <a:ext cx="310896" cy="310896"/>
          </a:xfrm>
          <a:prstGeom prst="ellipse">
            <a:avLst/>
          </a:prstGeom>
          <a:solidFill>
            <a:srgbClr val="76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
          <p:cNvSpPr txBox="1"/>
          <p:nvPr/>
        </p:nvSpPr>
        <p:spPr>
          <a:xfrm>
            <a:off x="6172200" y="3337560"/>
            <a:ext cx="310896" cy="31089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401" name="Google Shape;401;p6"/>
          <p:cNvSpPr txBox="1"/>
          <p:nvPr/>
        </p:nvSpPr>
        <p:spPr>
          <a:xfrm>
            <a:off x="6583680" y="3319272"/>
            <a:ext cx="22860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3 hands-on exercises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7"/>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Faster at what? A car and a bus</a:t>
            </a:r>
            <a:endParaRPr b="0" i="0" sz="1400" u="none" cap="none" strike="noStrike">
              <a:solidFill>
                <a:srgbClr val="000000"/>
              </a:solidFill>
              <a:latin typeface="Arial"/>
              <a:ea typeface="Arial"/>
              <a:cs typeface="Arial"/>
              <a:sym typeface="Arial"/>
            </a:endParaRPr>
          </a:p>
        </p:txBody>
      </p:sp>
      <p:sp>
        <p:nvSpPr>
          <p:cNvPr id="408" name="Google Shape;408;p7"/>
          <p:cNvSpPr/>
          <p:nvPr/>
        </p:nvSpPr>
        <p:spPr>
          <a:xfrm>
            <a:off x="457200" y="1097280"/>
            <a:ext cx="3977640" cy="2514600"/>
          </a:xfrm>
          <a:prstGeom prst="roundRect">
            <a:avLst>
              <a:gd fmla="val 5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7"/>
          <p:cNvSpPr/>
          <p:nvPr/>
        </p:nvSpPr>
        <p:spPr>
          <a:xfrm>
            <a:off x="731520" y="1490472"/>
            <a:ext cx="1188720" cy="365760"/>
          </a:xfrm>
          <a:prstGeom prst="roundRect">
            <a:avLst>
              <a:gd fmla="val 30000" name="adj"/>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7"/>
          <p:cNvSpPr/>
          <p:nvPr/>
        </p:nvSpPr>
        <p:spPr>
          <a:xfrm>
            <a:off x="1005840" y="1325880"/>
            <a:ext cx="640080" cy="274320"/>
          </a:xfrm>
          <a:prstGeom prst="roundRect">
            <a:avLst>
              <a:gd fmla="val 30000" name="adj"/>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7"/>
          <p:cNvSpPr/>
          <p:nvPr/>
        </p:nvSpPr>
        <p:spPr>
          <a:xfrm>
            <a:off x="1078992" y="1380744"/>
            <a:ext cx="219456" cy="146304"/>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7"/>
          <p:cNvSpPr/>
          <p:nvPr/>
        </p:nvSpPr>
        <p:spPr>
          <a:xfrm>
            <a:off x="1353312" y="1380744"/>
            <a:ext cx="219456" cy="146304"/>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7"/>
          <p:cNvSpPr/>
          <p:nvPr/>
        </p:nvSpPr>
        <p:spPr>
          <a:xfrm>
            <a:off x="868680" y="1737360"/>
            <a:ext cx="237744" cy="237744"/>
          </a:xfrm>
          <a:prstGeom prst="ellipse">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7"/>
          <p:cNvSpPr/>
          <p:nvPr/>
        </p:nvSpPr>
        <p:spPr>
          <a:xfrm>
            <a:off x="1554480" y="1737360"/>
            <a:ext cx="237744" cy="237744"/>
          </a:xfrm>
          <a:prstGeom prst="ellipse">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7"/>
          <p:cNvSpPr txBox="1"/>
          <p:nvPr/>
        </p:nvSpPr>
        <p:spPr>
          <a:xfrm>
            <a:off x="2103120" y="1325880"/>
            <a:ext cx="2194560"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600"/>
              <a:buFont typeface="Arial"/>
              <a:buNone/>
            </a:pPr>
            <a:r>
              <a:rPr b="1" i="0" lang="en-US" sz="1600" u="none" cap="none" strike="noStrike">
                <a:solidFill>
                  <a:srgbClr val="500000"/>
                </a:solidFill>
                <a:latin typeface="Arial"/>
                <a:ea typeface="Arial"/>
                <a:cs typeface="Arial"/>
                <a:sym typeface="Arial"/>
              </a:rPr>
              <a:t>CPU = the car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Optimized for latency</a:t>
            </a:r>
            <a:endParaRPr b="0" i="0" sz="1400" u="none" cap="none" strike="noStrike">
              <a:solidFill>
                <a:srgbClr val="000000"/>
              </a:solidFill>
              <a:latin typeface="Arial"/>
              <a:ea typeface="Arial"/>
              <a:cs typeface="Arial"/>
              <a:sym typeface="Arial"/>
            </a:endParaRPr>
          </a:p>
        </p:txBody>
      </p:sp>
      <p:sp>
        <p:nvSpPr>
          <p:cNvPr id="416" name="Google Shape;416;p7"/>
          <p:cNvSpPr txBox="1"/>
          <p:nvPr/>
        </p:nvSpPr>
        <p:spPr>
          <a:xfrm>
            <a:off x="685800" y="2148840"/>
            <a:ext cx="3566160" cy="1371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Gets </a:t>
            </a:r>
            <a:r>
              <a:rPr b="1" i="0" lang="en-US" sz="1200" u="none" cap="none" strike="noStrike">
                <a:solidFill>
                  <a:srgbClr val="500000"/>
                </a:solidFill>
                <a:latin typeface="Arial"/>
                <a:ea typeface="Arial"/>
                <a:cs typeface="Arial"/>
                <a:sym typeface="Arial"/>
              </a:rPr>
              <a:t>a few</a:t>
            </a:r>
            <a:r>
              <a:rPr b="0" i="0" lang="en-US" sz="1200" u="none" cap="none" strike="noStrike">
                <a:solidFill>
                  <a:srgbClr val="2B2B2B"/>
                </a:solidFill>
                <a:latin typeface="Arial"/>
                <a:ea typeface="Arial"/>
                <a:cs typeface="Arial"/>
                <a:sym typeface="Arial"/>
              </a:rPr>
              <a:t> people there fast.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Takes many trips to move a crowd.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Few, powerful cores. Low overhead to get started.</a:t>
            </a:r>
            <a:endParaRPr b="0" i="0" sz="1400" u="none" cap="none" strike="noStrike">
              <a:solidFill>
                <a:srgbClr val="000000"/>
              </a:solidFill>
              <a:latin typeface="Arial"/>
              <a:ea typeface="Arial"/>
              <a:cs typeface="Arial"/>
              <a:sym typeface="Arial"/>
            </a:endParaRPr>
          </a:p>
        </p:txBody>
      </p:sp>
      <p:sp>
        <p:nvSpPr>
          <p:cNvPr id="417" name="Google Shape;417;p7"/>
          <p:cNvSpPr/>
          <p:nvPr/>
        </p:nvSpPr>
        <p:spPr>
          <a:xfrm>
            <a:off x="4709160" y="1097280"/>
            <a:ext cx="3977640" cy="2514600"/>
          </a:xfrm>
          <a:prstGeom prst="roundRect">
            <a:avLst>
              <a:gd fmla="val 5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7"/>
          <p:cNvSpPr/>
          <p:nvPr/>
        </p:nvSpPr>
        <p:spPr>
          <a:xfrm>
            <a:off x="4937760" y="1325880"/>
            <a:ext cx="2194560" cy="566928"/>
          </a:xfrm>
          <a:prstGeom prst="roundRect">
            <a:avLst>
              <a:gd fmla="val 14000" name="adj"/>
            </a:avLst>
          </a:prstGeom>
          <a:solidFill>
            <a:srgbClr val="76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7"/>
          <p:cNvSpPr/>
          <p:nvPr/>
        </p:nvSpPr>
        <p:spPr>
          <a:xfrm>
            <a:off x="5074920" y="1417320"/>
            <a:ext cx="292608" cy="201168"/>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7"/>
          <p:cNvSpPr/>
          <p:nvPr/>
        </p:nvSpPr>
        <p:spPr>
          <a:xfrm>
            <a:off x="5458968" y="1417320"/>
            <a:ext cx="292608" cy="201168"/>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7"/>
          <p:cNvSpPr/>
          <p:nvPr/>
        </p:nvSpPr>
        <p:spPr>
          <a:xfrm>
            <a:off x="5843016" y="1417320"/>
            <a:ext cx="292608" cy="201168"/>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7"/>
          <p:cNvSpPr/>
          <p:nvPr/>
        </p:nvSpPr>
        <p:spPr>
          <a:xfrm>
            <a:off x="6227064" y="1417320"/>
            <a:ext cx="292608" cy="201168"/>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7"/>
          <p:cNvSpPr/>
          <p:nvPr/>
        </p:nvSpPr>
        <p:spPr>
          <a:xfrm>
            <a:off x="6611112" y="1417320"/>
            <a:ext cx="292608" cy="201168"/>
          </a:xfrm>
          <a:prstGeom prst="roundRect">
            <a:avLst>
              <a:gd fmla="val 200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7"/>
          <p:cNvSpPr/>
          <p:nvPr/>
        </p:nvSpPr>
        <p:spPr>
          <a:xfrm>
            <a:off x="5212080" y="1783080"/>
            <a:ext cx="256032" cy="256032"/>
          </a:xfrm>
          <a:prstGeom prst="ellipse">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7"/>
          <p:cNvSpPr/>
          <p:nvPr/>
        </p:nvSpPr>
        <p:spPr>
          <a:xfrm>
            <a:off x="6583680" y="1783080"/>
            <a:ext cx="256032" cy="256032"/>
          </a:xfrm>
          <a:prstGeom prst="ellipse">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7"/>
          <p:cNvSpPr txBox="1"/>
          <p:nvPr/>
        </p:nvSpPr>
        <p:spPr>
          <a:xfrm>
            <a:off x="7269480" y="1325880"/>
            <a:ext cx="1371600"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4E7A00"/>
              </a:buClr>
              <a:buSzPts val="1600"/>
              <a:buFont typeface="Arial"/>
              <a:buNone/>
            </a:pPr>
            <a:r>
              <a:rPr b="1" i="0" lang="en-US" sz="1600" u="none" cap="none" strike="noStrike">
                <a:solidFill>
                  <a:srgbClr val="4E7A00"/>
                </a:solidFill>
                <a:latin typeface="Arial"/>
                <a:ea typeface="Arial"/>
                <a:cs typeface="Arial"/>
                <a:sym typeface="Arial"/>
              </a:rPr>
              <a:t>GPU = the bus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Optimized for throughput</a:t>
            </a:r>
            <a:endParaRPr b="0" i="0" sz="1400" u="none" cap="none" strike="noStrike">
              <a:solidFill>
                <a:srgbClr val="000000"/>
              </a:solidFill>
              <a:latin typeface="Arial"/>
              <a:ea typeface="Arial"/>
              <a:cs typeface="Arial"/>
              <a:sym typeface="Arial"/>
            </a:endParaRPr>
          </a:p>
        </p:txBody>
      </p:sp>
      <p:sp>
        <p:nvSpPr>
          <p:cNvPr id="427" name="Google Shape;427;p7"/>
          <p:cNvSpPr txBox="1"/>
          <p:nvPr/>
        </p:nvSpPr>
        <p:spPr>
          <a:xfrm>
            <a:off x="4937760" y="2148840"/>
            <a:ext cx="3566160" cy="1371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Slower for a few people.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Moves </a:t>
            </a:r>
            <a:r>
              <a:rPr b="1" i="0" lang="en-US" sz="1200" u="none" cap="none" strike="noStrike">
                <a:solidFill>
                  <a:srgbClr val="4E7A00"/>
                </a:solidFill>
                <a:latin typeface="Arial"/>
                <a:ea typeface="Arial"/>
                <a:cs typeface="Arial"/>
                <a:sym typeface="Arial"/>
              </a:rPr>
              <a:t>a crowd</a:t>
            </a:r>
            <a:r>
              <a:rPr b="0" i="0" lang="en-US" sz="1200" u="none" cap="none" strike="noStrike">
                <a:solidFill>
                  <a:srgbClr val="2B2B2B"/>
                </a:solidFill>
                <a:latin typeface="Arial"/>
                <a:ea typeface="Arial"/>
                <a:cs typeface="Arial"/>
                <a:sym typeface="Arial"/>
              </a:rPr>
              <a:t> in one trip.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Thousands of simple cores. Costs time to "load up".</a:t>
            </a:r>
            <a:endParaRPr b="0" i="0" sz="1400" u="none" cap="none" strike="noStrike">
              <a:solidFill>
                <a:srgbClr val="000000"/>
              </a:solidFill>
              <a:latin typeface="Arial"/>
              <a:ea typeface="Arial"/>
              <a:cs typeface="Arial"/>
              <a:sym typeface="Arial"/>
            </a:endParaRPr>
          </a:p>
        </p:txBody>
      </p:sp>
      <p:sp>
        <p:nvSpPr>
          <p:cNvPr id="428" name="Google Shape;428;p7"/>
          <p:cNvSpPr/>
          <p:nvPr/>
        </p:nvSpPr>
        <p:spPr>
          <a:xfrm>
            <a:off x="457200" y="3840480"/>
            <a:ext cx="8229600" cy="548640"/>
          </a:xfrm>
          <a:prstGeom prst="roundRect">
            <a:avLst>
              <a:gd fmla="val 120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7"/>
          <p:cNvSpPr txBox="1"/>
          <p:nvPr/>
        </p:nvSpPr>
        <p:spPr>
          <a:xfrm>
            <a:off x="640080" y="3840480"/>
            <a:ext cx="786384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"Which is faster?" is the wrong question. Ask: </a:t>
            </a:r>
            <a:r>
              <a:rPr b="1" i="0" lang="en-US" sz="1300" u="none" cap="none" strike="noStrike">
                <a:solidFill>
                  <a:srgbClr val="76B900"/>
                </a:solidFill>
                <a:latin typeface="Arial"/>
                <a:ea typeface="Arial"/>
                <a:cs typeface="Arial"/>
                <a:sym typeface="Arial"/>
              </a:rPr>
              <a:t>faster at moving how much?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8"/>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Problem size picks the winner</a:t>
            </a:r>
            <a:endParaRPr b="0" i="0" sz="1400" u="none" cap="none" strike="noStrike">
              <a:solidFill>
                <a:srgbClr val="000000"/>
              </a:solidFill>
              <a:latin typeface="Arial"/>
              <a:ea typeface="Arial"/>
              <a:cs typeface="Arial"/>
              <a:sym typeface="Arial"/>
            </a:endParaRPr>
          </a:p>
        </p:txBody>
      </p:sp>
      <p:sp>
        <p:nvSpPr>
          <p:cNvPr id="436" name="Google Shape;436;p8"/>
          <p:cNvSpPr/>
          <p:nvPr/>
        </p:nvSpPr>
        <p:spPr>
          <a:xfrm>
            <a:off x="457200" y="1097280"/>
            <a:ext cx="2606040" cy="3246120"/>
          </a:xfrm>
          <a:prstGeom prst="roundRect">
            <a:avLst>
              <a:gd fmla="val 5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8"/>
          <p:cNvSpPr txBox="1"/>
          <p:nvPr/>
        </p:nvSpPr>
        <p:spPr>
          <a:xfrm>
            <a:off x="640080" y="1207008"/>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SMALL JOB</a:t>
            </a:r>
            <a:endParaRPr b="0" i="0" sz="1400" u="none" cap="none" strike="noStrike">
              <a:solidFill>
                <a:srgbClr val="000000"/>
              </a:solidFill>
              <a:latin typeface="Arial"/>
              <a:ea typeface="Arial"/>
              <a:cs typeface="Arial"/>
              <a:sym typeface="Arial"/>
            </a:endParaRPr>
          </a:p>
        </p:txBody>
      </p:sp>
      <p:sp>
        <p:nvSpPr>
          <p:cNvPr id="438" name="Google Shape;438;p8"/>
          <p:cNvSpPr txBox="1"/>
          <p:nvPr/>
        </p:nvSpPr>
        <p:spPr>
          <a:xfrm>
            <a:off x="640080" y="1444752"/>
            <a:ext cx="2286000" cy="3657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500"/>
              <a:buFont typeface="Arial"/>
              <a:buNone/>
            </a:pPr>
            <a:r>
              <a:rPr b="1" i="0" lang="en-US" sz="1500" u="none" cap="none" strike="noStrike">
                <a:solidFill>
                  <a:srgbClr val="2B2B2B"/>
                </a:solidFill>
                <a:latin typeface="Arial"/>
                <a:ea typeface="Arial"/>
                <a:cs typeface="Arial"/>
                <a:sym typeface="Arial"/>
              </a:rPr>
              <a:t>512 elements</a:t>
            </a:r>
            <a:endParaRPr b="0" i="0" sz="1400" u="none" cap="none" strike="noStrike">
              <a:solidFill>
                <a:srgbClr val="000000"/>
              </a:solidFill>
              <a:latin typeface="Arial"/>
              <a:ea typeface="Arial"/>
              <a:cs typeface="Arial"/>
              <a:sym typeface="Arial"/>
            </a:endParaRPr>
          </a:p>
        </p:txBody>
      </p:sp>
      <p:sp>
        <p:nvSpPr>
          <p:cNvPr id="439" name="Google Shape;439;p8"/>
          <p:cNvSpPr/>
          <p:nvPr/>
        </p:nvSpPr>
        <p:spPr>
          <a:xfrm>
            <a:off x="1338682" y="2051914"/>
            <a:ext cx="833933" cy="833933"/>
          </a:xfrm>
          <a:prstGeom prst="rect">
            <a:avLst/>
          </a:prstGeom>
          <a:solidFill>
            <a:srgbClr val="5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8"/>
          <p:cNvSpPr txBox="1"/>
          <p:nvPr/>
        </p:nvSpPr>
        <p:spPr>
          <a:xfrm>
            <a:off x="640080" y="3108960"/>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Fastest: </a:t>
            </a:r>
            <a:r>
              <a:rPr b="1" i="0" lang="en-US" sz="1300" u="none" cap="none" strike="noStrike">
                <a:solidFill>
                  <a:srgbClr val="500000"/>
                </a:solidFill>
                <a:latin typeface="Arial"/>
                <a:ea typeface="Arial"/>
                <a:cs typeface="Arial"/>
                <a:sym typeface="Arial"/>
              </a:rPr>
              <a:t>1 CPU thread</a:t>
            </a:r>
            <a:endParaRPr b="0" i="0" sz="1400" u="none" cap="none" strike="noStrike">
              <a:solidFill>
                <a:srgbClr val="000000"/>
              </a:solidFill>
              <a:latin typeface="Arial"/>
              <a:ea typeface="Arial"/>
              <a:cs typeface="Arial"/>
              <a:sym typeface="Arial"/>
            </a:endParaRPr>
          </a:p>
        </p:txBody>
      </p:sp>
      <p:sp>
        <p:nvSpPr>
          <p:cNvPr id="441" name="Google Shape;441;p8"/>
          <p:cNvSpPr txBox="1"/>
          <p:nvPr/>
        </p:nvSpPr>
        <p:spPr>
          <a:xfrm>
            <a:off x="640080" y="3401568"/>
            <a:ext cx="2286000" cy="8686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Arial"/>
              <a:buNone/>
            </a:pPr>
            <a:r>
              <a:rPr b="0" i="0" lang="en-US" sz="1000" u="none" cap="none" strike="noStrike">
                <a:solidFill>
                  <a:srgbClr val="2B2B2B"/>
                </a:solidFill>
                <a:latin typeface="Arial"/>
                <a:ea typeface="Arial"/>
                <a:cs typeface="Arial"/>
                <a:sym typeface="Arial"/>
              </a:rPr>
              <a:t>Starting extra threads, or waking up the GPU, costs more time than the work itself.</a:t>
            </a:r>
            <a:endParaRPr b="0" i="0" sz="1400" u="none" cap="none" strike="noStrike">
              <a:solidFill>
                <a:srgbClr val="000000"/>
              </a:solidFill>
              <a:latin typeface="Arial"/>
              <a:ea typeface="Arial"/>
              <a:cs typeface="Arial"/>
              <a:sym typeface="Arial"/>
            </a:endParaRPr>
          </a:p>
        </p:txBody>
      </p:sp>
      <p:sp>
        <p:nvSpPr>
          <p:cNvPr id="442" name="Google Shape;442;p8"/>
          <p:cNvSpPr/>
          <p:nvPr/>
        </p:nvSpPr>
        <p:spPr>
          <a:xfrm>
            <a:off x="3246120" y="1097280"/>
            <a:ext cx="2606040" cy="3246120"/>
          </a:xfrm>
          <a:prstGeom prst="roundRect">
            <a:avLst>
              <a:gd fmla="val 5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8"/>
          <p:cNvSpPr txBox="1"/>
          <p:nvPr/>
        </p:nvSpPr>
        <p:spPr>
          <a:xfrm>
            <a:off x="3429000" y="1207008"/>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MEDIUM JOB</a:t>
            </a:r>
            <a:endParaRPr b="0" i="0" sz="1400" u="none" cap="none" strike="noStrike">
              <a:solidFill>
                <a:srgbClr val="000000"/>
              </a:solidFill>
              <a:latin typeface="Arial"/>
              <a:ea typeface="Arial"/>
              <a:cs typeface="Arial"/>
              <a:sym typeface="Arial"/>
            </a:endParaRPr>
          </a:p>
        </p:txBody>
      </p:sp>
      <p:sp>
        <p:nvSpPr>
          <p:cNvPr id="444" name="Google Shape;444;p8"/>
          <p:cNvSpPr txBox="1"/>
          <p:nvPr/>
        </p:nvSpPr>
        <p:spPr>
          <a:xfrm>
            <a:off x="3429000" y="1444752"/>
            <a:ext cx="2286000" cy="3657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500"/>
              <a:buFont typeface="Arial"/>
              <a:buNone/>
            </a:pPr>
            <a:r>
              <a:rPr b="1" i="0" lang="en-US" sz="1500" u="none" cap="none" strike="noStrike">
                <a:solidFill>
                  <a:srgbClr val="2B2B2B"/>
                </a:solidFill>
                <a:latin typeface="Arial"/>
                <a:ea typeface="Arial"/>
                <a:cs typeface="Arial"/>
                <a:sym typeface="Arial"/>
              </a:rPr>
              <a:t>65,536 elements</a:t>
            </a:r>
            <a:endParaRPr b="0" i="0" sz="1400" u="none" cap="none" strike="noStrike">
              <a:solidFill>
                <a:srgbClr val="000000"/>
              </a:solidFill>
              <a:latin typeface="Arial"/>
              <a:ea typeface="Arial"/>
              <a:cs typeface="Arial"/>
              <a:sym typeface="Arial"/>
            </a:endParaRPr>
          </a:p>
        </p:txBody>
      </p:sp>
      <p:sp>
        <p:nvSpPr>
          <p:cNvPr id="445" name="Google Shape;445;p8"/>
          <p:cNvSpPr/>
          <p:nvPr/>
        </p:nvSpPr>
        <p:spPr>
          <a:xfrm>
            <a:off x="4028846" y="195315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8"/>
          <p:cNvSpPr/>
          <p:nvPr/>
        </p:nvSpPr>
        <p:spPr>
          <a:xfrm>
            <a:off x="4303166" y="195315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8"/>
          <p:cNvSpPr/>
          <p:nvPr/>
        </p:nvSpPr>
        <p:spPr>
          <a:xfrm>
            <a:off x="4577486" y="195315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8"/>
          <p:cNvSpPr/>
          <p:nvPr/>
        </p:nvSpPr>
        <p:spPr>
          <a:xfrm>
            <a:off x="4851806" y="195315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8"/>
          <p:cNvSpPr/>
          <p:nvPr/>
        </p:nvSpPr>
        <p:spPr>
          <a:xfrm>
            <a:off x="4028846" y="222747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8"/>
          <p:cNvSpPr/>
          <p:nvPr/>
        </p:nvSpPr>
        <p:spPr>
          <a:xfrm>
            <a:off x="4303166" y="222747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8"/>
          <p:cNvSpPr/>
          <p:nvPr/>
        </p:nvSpPr>
        <p:spPr>
          <a:xfrm>
            <a:off x="4577486" y="222747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8"/>
          <p:cNvSpPr/>
          <p:nvPr/>
        </p:nvSpPr>
        <p:spPr>
          <a:xfrm>
            <a:off x="4851806" y="222747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8"/>
          <p:cNvSpPr/>
          <p:nvPr/>
        </p:nvSpPr>
        <p:spPr>
          <a:xfrm>
            <a:off x="4028846" y="250179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8"/>
          <p:cNvSpPr/>
          <p:nvPr/>
        </p:nvSpPr>
        <p:spPr>
          <a:xfrm>
            <a:off x="4303166" y="250179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8"/>
          <p:cNvSpPr/>
          <p:nvPr/>
        </p:nvSpPr>
        <p:spPr>
          <a:xfrm>
            <a:off x="4577486" y="250179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8"/>
          <p:cNvSpPr/>
          <p:nvPr/>
        </p:nvSpPr>
        <p:spPr>
          <a:xfrm>
            <a:off x="4851806" y="250179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8"/>
          <p:cNvSpPr/>
          <p:nvPr/>
        </p:nvSpPr>
        <p:spPr>
          <a:xfrm>
            <a:off x="4028846" y="277611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8"/>
          <p:cNvSpPr/>
          <p:nvPr/>
        </p:nvSpPr>
        <p:spPr>
          <a:xfrm>
            <a:off x="4303166" y="277611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8"/>
          <p:cNvSpPr/>
          <p:nvPr/>
        </p:nvSpPr>
        <p:spPr>
          <a:xfrm>
            <a:off x="4577486" y="277611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8"/>
          <p:cNvSpPr/>
          <p:nvPr/>
        </p:nvSpPr>
        <p:spPr>
          <a:xfrm>
            <a:off x="4851806" y="2776118"/>
            <a:ext cx="208483" cy="208483"/>
          </a:xfrm>
          <a:prstGeom prst="rect">
            <a:avLst/>
          </a:prstGeom>
          <a:solidFill>
            <a:srgbClr val="8A2A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8"/>
          <p:cNvSpPr txBox="1"/>
          <p:nvPr/>
        </p:nvSpPr>
        <p:spPr>
          <a:xfrm>
            <a:off x="3429000" y="3108960"/>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Fastest: </a:t>
            </a:r>
            <a:r>
              <a:rPr b="1" i="0" lang="en-US" sz="1300" u="none" cap="none" strike="noStrike">
                <a:solidFill>
                  <a:srgbClr val="8A2A2A"/>
                </a:solidFill>
                <a:latin typeface="Arial"/>
                <a:ea typeface="Arial"/>
                <a:cs typeface="Arial"/>
                <a:sym typeface="Arial"/>
              </a:rPr>
              <a:t>64 CPU threads</a:t>
            </a:r>
            <a:endParaRPr b="0" i="0" sz="1400" u="none" cap="none" strike="noStrike">
              <a:solidFill>
                <a:srgbClr val="000000"/>
              </a:solidFill>
              <a:latin typeface="Arial"/>
              <a:ea typeface="Arial"/>
              <a:cs typeface="Arial"/>
              <a:sym typeface="Arial"/>
            </a:endParaRPr>
          </a:p>
        </p:txBody>
      </p:sp>
      <p:sp>
        <p:nvSpPr>
          <p:cNvPr id="462" name="Google Shape;462;p8"/>
          <p:cNvSpPr txBox="1"/>
          <p:nvPr/>
        </p:nvSpPr>
        <p:spPr>
          <a:xfrm>
            <a:off x="3429000" y="3401568"/>
            <a:ext cx="2286000" cy="8686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Arial"/>
              <a:buNone/>
            </a:pPr>
            <a:r>
              <a:rPr b="0" i="0" lang="en-US" sz="1000" u="none" cap="none" strike="noStrike">
                <a:solidFill>
                  <a:srgbClr val="2B2B2B"/>
                </a:solidFill>
                <a:latin typeface="Arial"/>
                <a:ea typeface="Arial"/>
                <a:cs typeface="Arial"/>
                <a:sym typeface="Arial"/>
              </a:rPr>
              <a:t>Now there is enough work to split across CPU cores, so multithreading pays off.</a:t>
            </a:r>
            <a:endParaRPr b="0" i="0" sz="1000" u="none" cap="none" strike="noStrike">
              <a:solidFill>
                <a:srgbClr val="2B2B2B"/>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1000"/>
              <a:buFont typeface="Arial"/>
              <a:buNone/>
            </a:pPr>
            <a:r>
              <a:rPr b="0" i="0" lang="en-US" sz="1000" u="none" cap="none" strike="noStrike">
                <a:solidFill>
                  <a:srgbClr val="2B2B2B"/>
                </a:solidFill>
                <a:latin typeface="Arial"/>
                <a:ea typeface="Arial"/>
                <a:cs typeface="Arial"/>
                <a:sym typeface="Arial"/>
              </a:rPr>
              <a:t>Multithreading breaks up processes into pieces to then be run at the same time.</a:t>
            </a:r>
            <a:endParaRPr b="0" i="0" sz="1000" u="none" cap="none" strike="noStrike">
              <a:solidFill>
                <a:srgbClr val="2B2B2B"/>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1000"/>
              <a:buFont typeface="Arial"/>
              <a:buNone/>
            </a:pPr>
            <a:r>
              <a:t/>
            </a:r>
            <a:endParaRPr b="0" i="0" sz="1000" u="none" cap="none" strike="noStrike">
              <a:solidFill>
                <a:srgbClr val="2B2B2B"/>
              </a:solidFill>
              <a:latin typeface="Arial"/>
              <a:ea typeface="Arial"/>
              <a:cs typeface="Arial"/>
              <a:sym typeface="Arial"/>
            </a:endParaRPr>
          </a:p>
        </p:txBody>
      </p:sp>
      <p:sp>
        <p:nvSpPr>
          <p:cNvPr id="463" name="Google Shape;463;p8"/>
          <p:cNvSpPr/>
          <p:nvPr/>
        </p:nvSpPr>
        <p:spPr>
          <a:xfrm>
            <a:off x="6035040" y="1097280"/>
            <a:ext cx="2606040" cy="3246120"/>
          </a:xfrm>
          <a:prstGeom prst="roundRect">
            <a:avLst>
              <a:gd fmla="val 5000" name="adj"/>
            </a:avLst>
          </a:prstGeom>
          <a:solidFill>
            <a:srgbClr val="EEF6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8"/>
          <p:cNvSpPr txBox="1"/>
          <p:nvPr/>
        </p:nvSpPr>
        <p:spPr>
          <a:xfrm>
            <a:off x="6217920" y="1207008"/>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HUGE JOB</a:t>
            </a:r>
            <a:endParaRPr b="0" i="0" sz="1400" u="none" cap="none" strike="noStrike">
              <a:solidFill>
                <a:srgbClr val="000000"/>
              </a:solidFill>
              <a:latin typeface="Arial"/>
              <a:ea typeface="Arial"/>
              <a:cs typeface="Arial"/>
              <a:sym typeface="Arial"/>
            </a:endParaRPr>
          </a:p>
        </p:txBody>
      </p:sp>
      <p:sp>
        <p:nvSpPr>
          <p:cNvPr id="465" name="Google Shape;465;p8"/>
          <p:cNvSpPr txBox="1"/>
          <p:nvPr/>
        </p:nvSpPr>
        <p:spPr>
          <a:xfrm>
            <a:off x="6217920" y="1444752"/>
            <a:ext cx="2286000" cy="3657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500"/>
              <a:buFont typeface="Arial"/>
              <a:buNone/>
            </a:pPr>
            <a:r>
              <a:rPr b="1" i="0" lang="en-US" sz="1500" u="none" cap="none" strike="noStrike">
                <a:solidFill>
                  <a:srgbClr val="2B2B2B"/>
                </a:solidFill>
                <a:latin typeface="Arial"/>
                <a:ea typeface="Arial"/>
                <a:cs typeface="Arial"/>
                <a:sym typeface="Arial"/>
              </a:rPr>
              <a:t>268 million elements</a:t>
            </a:r>
            <a:endParaRPr b="0" i="0" sz="1400" u="none" cap="none" strike="noStrike">
              <a:solidFill>
                <a:srgbClr val="000000"/>
              </a:solidFill>
              <a:latin typeface="Arial"/>
              <a:ea typeface="Arial"/>
              <a:cs typeface="Arial"/>
              <a:sym typeface="Arial"/>
            </a:endParaRPr>
          </a:p>
        </p:txBody>
      </p:sp>
      <p:sp>
        <p:nvSpPr>
          <p:cNvPr id="466" name="Google Shape;466;p8"/>
          <p:cNvSpPr/>
          <p:nvPr/>
        </p:nvSpPr>
        <p:spPr>
          <a:xfrm>
            <a:off x="679582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8"/>
          <p:cNvSpPr/>
          <p:nvPr/>
        </p:nvSpPr>
        <p:spPr>
          <a:xfrm>
            <a:off x="688726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8"/>
          <p:cNvSpPr/>
          <p:nvPr/>
        </p:nvSpPr>
        <p:spPr>
          <a:xfrm>
            <a:off x="697870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8"/>
          <p:cNvSpPr/>
          <p:nvPr/>
        </p:nvSpPr>
        <p:spPr>
          <a:xfrm>
            <a:off x="707014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8"/>
          <p:cNvSpPr/>
          <p:nvPr/>
        </p:nvSpPr>
        <p:spPr>
          <a:xfrm>
            <a:off x="716158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8"/>
          <p:cNvSpPr/>
          <p:nvPr/>
        </p:nvSpPr>
        <p:spPr>
          <a:xfrm>
            <a:off x="725302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8"/>
          <p:cNvSpPr/>
          <p:nvPr/>
        </p:nvSpPr>
        <p:spPr>
          <a:xfrm>
            <a:off x="734446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8"/>
          <p:cNvSpPr/>
          <p:nvPr/>
        </p:nvSpPr>
        <p:spPr>
          <a:xfrm>
            <a:off x="743590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8"/>
          <p:cNvSpPr/>
          <p:nvPr/>
        </p:nvSpPr>
        <p:spPr>
          <a:xfrm>
            <a:off x="752734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8"/>
          <p:cNvSpPr/>
          <p:nvPr/>
        </p:nvSpPr>
        <p:spPr>
          <a:xfrm>
            <a:off x="761878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8"/>
          <p:cNvSpPr/>
          <p:nvPr/>
        </p:nvSpPr>
        <p:spPr>
          <a:xfrm>
            <a:off x="771022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8"/>
          <p:cNvSpPr/>
          <p:nvPr/>
        </p:nvSpPr>
        <p:spPr>
          <a:xfrm>
            <a:off x="7801661" y="19312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8"/>
          <p:cNvSpPr/>
          <p:nvPr/>
        </p:nvSpPr>
        <p:spPr>
          <a:xfrm>
            <a:off x="679582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8"/>
          <p:cNvSpPr/>
          <p:nvPr/>
        </p:nvSpPr>
        <p:spPr>
          <a:xfrm>
            <a:off x="688726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8"/>
          <p:cNvSpPr/>
          <p:nvPr/>
        </p:nvSpPr>
        <p:spPr>
          <a:xfrm>
            <a:off x="697870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8"/>
          <p:cNvSpPr/>
          <p:nvPr/>
        </p:nvSpPr>
        <p:spPr>
          <a:xfrm>
            <a:off x="707014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8"/>
          <p:cNvSpPr/>
          <p:nvPr/>
        </p:nvSpPr>
        <p:spPr>
          <a:xfrm>
            <a:off x="716158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8"/>
          <p:cNvSpPr/>
          <p:nvPr/>
        </p:nvSpPr>
        <p:spPr>
          <a:xfrm>
            <a:off x="725302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8"/>
          <p:cNvSpPr/>
          <p:nvPr/>
        </p:nvSpPr>
        <p:spPr>
          <a:xfrm>
            <a:off x="734446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8"/>
          <p:cNvSpPr/>
          <p:nvPr/>
        </p:nvSpPr>
        <p:spPr>
          <a:xfrm>
            <a:off x="743590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8"/>
          <p:cNvSpPr/>
          <p:nvPr/>
        </p:nvSpPr>
        <p:spPr>
          <a:xfrm>
            <a:off x="752734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8"/>
          <p:cNvSpPr/>
          <p:nvPr/>
        </p:nvSpPr>
        <p:spPr>
          <a:xfrm>
            <a:off x="761878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8"/>
          <p:cNvSpPr/>
          <p:nvPr/>
        </p:nvSpPr>
        <p:spPr>
          <a:xfrm>
            <a:off x="771022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8"/>
          <p:cNvSpPr/>
          <p:nvPr/>
        </p:nvSpPr>
        <p:spPr>
          <a:xfrm>
            <a:off x="7801661" y="20226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8"/>
          <p:cNvSpPr/>
          <p:nvPr/>
        </p:nvSpPr>
        <p:spPr>
          <a:xfrm>
            <a:off x="679582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8"/>
          <p:cNvSpPr/>
          <p:nvPr/>
        </p:nvSpPr>
        <p:spPr>
          <a:xfrm>
            <a:off x="688726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8"/>
          <p:cNvSpPr/>
          <p:nvPr/>
        </p:nvSpPr>
        <p:spPr>
          <a:xfrm>
            <a:off x="697870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8"/>
          <p:cNvSpPr/>
          <p:nvPr/>
        </p:nvSpPr>
        <p:spPr>
          <a:xfrm>
            <a:off x="707014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8"/>
          <p:cNvSpPr/>
          <p:nvPr/>
        </p:nvSpPr>
        <p:spPr>
          <a:xfrm>
            <a:off x="716158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8"/>
          <p:cNvSpPr/>
          <p:nvPr/>
        </p:nvSpPr>
        <p:spPr>
          <a:xfrm>
            <a:off x="725302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8"/>
          <p:cNvSpPr/>
          <p:nvPr/>
        </p:nvSpPr>
        <p:spPr>
          <a:xfrm>
            <a:off x="734446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8"/>
          <p:cNvSpPr/>
          <p:nvPr/>
        </p:nvSpPr>
        <p:spPr>
          <a:xfrm>
            <a:off x="743590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8"/>
          <p:cNvSpPr/>
          <p:nvPr/>
        </p:nvSpPr>
        <p:spPr>
          <a:xfrm>
            <a:off x="752734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8"/>
          <p:cNvSpPr/>
          <p:nvPr/>
        </p:nvSpPr>
        <p:spPr>
          <a:xfrm>
            <a:off x="761878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8"/>
          <p:cNvSpPr/>
          <p:nvPr/>
        </p:nvSpPr>
        <p:spPr>
          <a:xfrm>
            <a:off x="771022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8"/>
          <p:cNvSpPr/>
          <p:nvPr/>
        </p:nvSpPr>
        <p:spPr>
          <a:xfrm>
            <a:off x="7801661" y="21140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8"/>
          <p:cNvSpPr/>
          <p:nvPr/>
        </p:nvSpPr>
        <p:spPr>
          <a:xfrm>
            <a:off x="679582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8"/>
          <p:cNvSpPr/>
          <p:nvPr/>
        </p:nvSpPr>
        <p:spPr>
          <a:xfrm>
            <a:off x="688726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8"/>
          <p:cNvSpPr/>
          <p:nvPr/>
        </p:nvSpPr>
        <p:spPr>
          <a:xfrm>
            <a:off x="697870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8"/>
          <p:cNvSpPr/>
          <p:nvPr/>
        </p:nvSpPr>
        <p:spPr>
          <a:xfrm>
            <a:off x="707014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8"/>
          <p:cNvSpPr/>
          <p:nvPr/>
        </p:nvSpPr>
        <p:spPr>
          <a:xfrm>
            <a:off x="716158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8"/>
          <p:cNvSpPr/>
          <p:nvPr/>
        </p:nvSpPr>
        <p:spPr>
          <a:xfrm>
            <a:off x="725302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8"/>
          <p:cNvSpPr/>
          <p:nvPr/>
        </p:nvSpPr>
        <p:spPr>
          <a:xfrm>
            <a:off x="734446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8"/>
          <p:cNvSpPr/>
          <p:nvPr/>
        </p:nvSpPr>
        <p:spPr>
          <a:xfrm>
            <a:off x="743590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8"/>
          <p:cNvSpPr/>
          <p:nvPr/>
        </p:nvSpPr>
        <p:spPr>
          <a:xfrm>
            <a:off x="752734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8"/>
          <p:cNvSpPr/>
          <p:nvPr/>
        </p:nvSpPr>
        <p:spPr>
          <a:xfrm>
            <a:off x="761878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8"/>
          <p:cNvSpPr/>
          <p:nvPr/>
        </p:nvSpPr>
        <p:spPr>
          <a:xfrm>
            <a:off x="771022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8"/>
          <p:cNvSpPr/>
          <p:nvPr/>
        </p:nvSpPr>
        <p:spPr>
          <a:xfrm>
            <a:off x="7801661" y="22055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8"/>
          <p:cNvSpPr/>
          <p:nvPr/>
        </p:nvSpPr>
        <p:spPr>
          <a:xfrm>
            <a:off x="679582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8"/>
          <p:cNvSpPr/>
          <p:nvPr/>
        </p:nvSpPr>
        <p:spPr>
          <a:xfrm>
            <a:off x="688726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8"/>
          <p:cNvSpPr/>
          <p:nvPr/>
        </p:nvSpPr>
        <p:spPr>
          <a:xfrm>
            <a:off x="697870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8"/>
          <p:cNvSpPr/>
          <p:nvPr/>
        </p:nvSpPr>
        <p:spPr>
          <a:xfrm>
            <a:off x="707014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8"/>
          <p:cNvSpPr/>
          <p:nvPr/>
        </p:nvSpPr>
        <p:spPr>
          <a:xfrm>
            <a:off x="716158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8"/>
          <p:cNvSpPr/>
          <p:nvPr/>
        </p:nvSpPr>
        <p:spPr>
          <a:xfrm>
            <a:off x="725302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8"/>
          <p:cNvSpPr/>
          <p:nvPr/>
        </p:nvSpPr>
        <p:spPr>
          <a:xfrm>
            <a:off x="734446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8"/>
          <p:cNvSpPr/>
          <p:nvPr/>
        </p:nvSpPr>
        <p:spPr>
          <a:xfrm>
            <a:off x="743590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8"/>
          <p:cNvSpPr/>
          <p:nvPr/>
        </p:nvSpPr>
        <p:spPr>
          <a:xfrm>
            <a:off x="752734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8"/>
          <p:cNvSpPr/>
          <p:nvPr/>
        </p:nvSpPr>
        <p:spPr>
          <a:xfrm>
            <a:off x="761878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8"/>
          <p:cNvSpPr/>
          <p:nvPr/>
        </p:nvSpPr>
        <p:spPr>
          <a:xfrm>
            <a:off x="771022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8"/>
          <p:cNvSpPr/>
          <p:nvPr/>
        </p:nvSpPr>
        <p:spPr>
          <a:xfrm>
            <a:off x="7801661" y="22969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8"/>
          <p:cNvSpPr/>
          <p:nvPr/>
        </p:nvSpPr>
        <p:spPr>
          <a:xfrm>
            <a:off x="679582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8"/>
          <p:cNvSpPr/>
          <p:nvPr/>
        </p:nvSpPr>
        <p:spPr>
          <a:xfrm>
            <a:off x="688726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8"/>
          <p:cNvSpPr/>
          <p:nvPr/>
        </p:nvSpPr>
        <p:spPr>
          <a:xfrm>
            <a:off x="697870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8"/>
          <p:cNvSpPr/>
          <p:nvPr/>
        </p:nvSpPr>
        <p:spPr>
          <a:xfrm>
            <a:off x="707014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8"/>
          <p:cNvSpPr/>
          <p:nvPr/>
        </p:nvSpPr>
        <p:spPr>
          <a:xfrm>
            <a:off x="716158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8"/>
          <p:cNvSpPr/>
          <p:nvPr/>
        </p:nvSpPr>
        <p:spPr>
          <a:xfrm>
            <a:off x="725302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8"/>
          <p:cNvSpPr/>
          <p:nvPr/>
        </p:nvSpPr>
        <p:spPr>
          <a:xfrm>
            <a:off x="734446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8"/>
          <p:cNvSpPr/>
          <p:nvPr/>
        </p:nvSpPr>
        <p:spPr>
          <a:xfrm>
            <a:off x="743590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8"/>
          <p:cNvSpPr/>
          <p:nvPr/>
        </p:nvSpPr>
        <p:spPr>
          <a:xfrm>
            <a:off x="752734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8"/>
          <p:cNvSpPr/>
          <p:nvPr/>
        </p:nvSpPr>
        <p:spPr>
          <a:xfrm>
            <a:off x="761878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8"/>
          <p:cNvSpPr/>
          <p:nvPr/>
        </p:nvSpPr>
        <p:spPr>
          <a:xfrm>
            <a:off x="771022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8"/>
          <p:cNvSpPr/>
          <p:nvPr/>
        </p:nvSpPr>
        <p:spPr>
          <a:xfrm>
            <a:off x="7801661" y="23884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8"/>
          <p:cNvSpPr/>
          <p:nvPr/>
        </p:nvSpPr>
        <p:spPr>
          <a:xfrm>
            <a:off x="679582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8"/>
          <p:cNvSpPr/>
          <p:nvPr/>
        </p:nvSpPr>
        <p:spPr>
          <a:xfrm>
            <a:off x="688726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8"/>
          <p:cNvSpPr/>
          <p:nvPr/>
        </p:nvSpPr>
        <p:spPr>
          <a:xfrm>
            <a:off x="697870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8"/>
          <p:cNvSpPr/>
          <p:nvPr/>
        </p:nvSpPr>
        <p:spPr>
          <a:xfrm>
            <a:off x="707014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8"/>
          <p:cNvSpPr/>
          <p:nvPr/>
        </p:nvSpPr>
        <p:spPr>
          <a:xfrm>
            <a:off x="716158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8"/>
          <p:cNvSpPr/>
          <p:nvPr/>
        </p:nvSpPr>
        <p:spPr>
          <a:xfrm>
            <a:off x="725302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8"/>
          <p:cNvSpPr/>
          <p:nvPr/>
        </p:nvSpPr>
        <p:spPr>
          <a:xfrm>
            <a:off x="734446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8"/>
          <p:cNvSpPr/>
          <p:nvPr/>
        </p:nvSpPr>
        <p:spPr>
          <a:xfrm>
            <a:off x="743590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8"/>
          <p:cNvSpPr/>
          <p:nvPr/>
        </p:nvSpPr>
        <p:spPr>
          <a:xfrm>
            <a:off x="752734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8"/>
          <p:cNvSpPr/>
          <p:nvPr/>
        </p:nvSpPr>
        <p:spPr>
          <a:xfrm>
            <a:off x="761878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8"/>
          <p:cNvSpPr/>
          <p:nvPr/>
        </p:nvSpPr>
        <p:spPr>
          <a:xfrm>
            <a:off x="771022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8"/>
          <p:cNvSpPr/>
          <p:nvPr/>
        </p:nvSpPr>
        <p:spPr>
          <a:xfrm>
            <a:off x="7801661" y="24798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8"/>
          <p:cNvSpPr/>
          <p:nvPr/>
        </p:nvSpPr>
        <p:spPr>
          <a:xfrm>
            <a:off x="679582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8"/>
          <p:cNvSpPr/>
          <p:nvPr/>
        </p:nvSpPr>
        <p:spPr>
          <a:xfrm>
            <a:off x="688726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8"/>
          <p:cNvSpPr/>
          <p:nvPr/>
        </p:nvSpPr>
        <p:spPr>
          <a:xfrm>
            <a:off x="697870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8"/>
          <p:cNvSpPr/>
          <p:nvPr/>
        </p:nvSpPr>
        <p:spPr>
          <a:xfrm>
            <a:off x="707014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8"/>
          <p:cNvSpPr/>
          <p:nvPr/>
        </p:nvSpPr>
        <p:spPr>
          <a:xfrm>
            <a:off x="716158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8"/>
          <p:cNvSpPr/>
          <p:nvPr/>
        </p:nvSpPr>
        <p:spPr>
          <a:xfrm>
            <a:off x="725302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8"/>
          <p:cNvSpPr/>
          <p:nvPr/>
        </p:nvSpPr>
        <p:spPr>
          <a:xfrm>
            <a:off x="734446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8"/>
          <p:cNvSpPr/>
          <p:nvPr/>
        </p:nvSpPr>
        <p:spPr>
          <a:xfrm>
            <a:off x="743590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8"/>
          <p:cNvSpPr/>
          <p:nvPr/>
        </p:nvSpPr>
        <p:spPr>
          <a:xfrm>
            <a:off x="752734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8"/>
          <p:cNvSpPr/>
          <p:nvPr/>
        </p:nvSpPr>
        <p:spPr>
          <a:xfrm>
            <a:off x="761878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8"/>
          <p:cNvSpPr/>
          <p:nvPr/>
        </p:nvSpPr>
        <p:spPr>
          <a:xfrm>
            <a:off x="771022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8"/>
          <p:cNvSpPr/>
          <p:nvPr/>
        </p:nvSpPr>
        <p:spPr>
          <a:xfrm>
            <a:off x="7801661" y="257129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8"/>
          <p:cNvSpPr/>
          <p:nvPr/>
        </p:nvSpPr>
        <p:spPr>
          <a:xfrm>
            <a:off x="679582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8"/>
          <p:cNvSpPr/>
          <p:nvPr/>
        </p:nvSpPr>
        <p:spPr>
          <a:xfrm>
            <a:off x="688726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8"/>
          <p:cNvSpPr/>
          <p:nvPr/>
        </p:nvSpPr>
        <p:spPr>
          <a:xfrm>
            <a:off x="697870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8"/>
          <p:cNvSpPr/>
          <p:nvPr/>
        </p:nvSpPr>
        <p:spPr>
          <a:xfrm>
            <a:off x="707014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8"/>
          <p:cNvSpPr/>
          <p:nvPr/>
        </p:nvSpPr>
        <p:spPr>
          <a:xfrm>
            <a:off x="716158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8"/>
          <p:cNvSpPr/>
          <p:nvPr/>
        </p:nvSpPr>
        <p:spPr>
          <a:xfrm>
            <a:off x="725302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8"/>
          <p:cNvSpPr/>
          <p:nvPr/>
        </p:nvSpPr>
        <p:spPr>
          <a:xfrm>
            <a:off x="734446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8"/>
          <p:cNvSpPr/>
          <p:nvPr/>
        </p:nvSpPr>
        <p:spPr>
          <a:xfrm>
            <a:off x="743590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8"/>
          <p:cNvSpPr/>
          <p:nvPr/>
        </p:nvSpPr>
        <p:spPr>
          <a:xfrm>
            <a:off x="752734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8"/>
          <p:cNvSpPr/>
          <p:nvPr/>
        </p:nvSpPr>
        <p:spPr>
          <a:xfrm>
            <a:off x="761878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8"/>
          <p:cNvSpPr/>
          <p:nvPr/>
        </p:nvSpPr>
        <p:spPr>
          <a:xfrm>
            <a:off x="771022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8"/>
          <p:cNvSpPr/>
          <p:nvPr/>
        </p:nvSpPr>
        <p:spPr>
          <a:xfrm>
            <a:off x="7801661" y="266273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8"/>
          <p:cNvSpPr/>
          <p:nvPr/>
        </p:nvSpPr>
        <p:spPr>
          <a:xfrm>
            <a:off x="679582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8"/>
          <p:cNvSpPr/>
          <p:nvPr/>
        </p:nvSpPr>
        <p:spPr>
          <a:xfrm>
            <a:off x="688726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8"/>
          <p:cNvSpPr/>
          <p:nvPr/>
        </p:nvSpPr>
        <p:spPr>
          <a:xfrm>
            <a:off x="697870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8"/>
          <p:cNvSpPr/>
          <p:nvPr/>
        </p:nvSpPr>
        <p:spPr>
          <a:xfrm>
            <a:off x="707014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8"/>
          <p:cNvSpPr/>
          <p:nvPr/>
        </p:nvSpPr>
        <p:spPr>
          <a:xfrm>
            <a:off x="716158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8"/>
          <p:cNvSpPr/>
          <p:nvPr/>
        </p:nvSpPr>
        <p:spPr>
          <a:xfrm>
            <a:off x="725302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8"/>
          <p:cNvSpPr/>
          <p:nvPr/>
        </p:nvSpPr>
        <p:spPr>
          <a:xfrm>
            <a:off x="734446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8"/>
          <p:cNvSpPr/>
          <p:nvPr/>
        </p:nvSpPr>
        <p:spPr>
          <a:xfrm>
            <a:off x="743590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8"/>
          <p:cNvSpPr/>
          <p:nvPr/>
        </p:nvSpPr>
        <p:spPr>
          <a:xfrm>
            <a:off x="752734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8"/>
          <p:cNvSpPr/>
          <p:nvPr/>
        </p:nvSpPr>
        <p:spPr>
          <a:xfrm>
            <a:off x="761878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8"/>
          <p:cNvSpPr/>
          <p:nvPr/>
        </p:nvSpPr>
        <p:spPr>
          <a:xfrm>
            <a:off x="771022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8"/>
          <p:cNvSpPr/>
          <p:nvPr/>
        </p:nvSpPr>
        <p:spPr>
          <a:xfrm>
            <a:off x="7801661" y="275417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8"/>
          <p:cNvSpPr/>
          <p:nvPr/>
        </p:nvSpPr>
        <p:spPr>
          <a:xfrm>
            <a:off x="679582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8"/>
          <p:cNvSpPr/>
          <p:nvPr/>
        </p:nvSpPr>
        <p:spPr>
          <a:xfrm>
            <a:off x="688726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8"/>
          <p:cNvSpPr/>
          <p:nvPr/>
        </p:nvSpPr>
        <p:spPr>
          <a:xfrm>
            <a:off x="697870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8"/>
          <p:cNvSpPr/>
          <p:nvPr/>
        </p:nvSpPr>
        <p:spPr>
          <a:xfrm>
            <a:off x="707014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8"/>
          <p:cNvSpPr/>
          <p:nvPr/>
        </p:nvSpPr>
        <p:spPr>
          <a:xfrm>
            <a:off x="716158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8"/>
          <p:cNvSpPr/>
          <p:nvPr/>
        </p:nvSpPr>
        <p:spPr>
          <a:xfrm>
            <a:off x="725302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8"/>
          <p:cNvSpPr/>
          <p:nvPr/>
        </p:nvSpPr>
        <p:spPr>
          <a:xfrm>
            <a:off x="734446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8"/>
          <p:cNvSpPr/>
          <p:nvPr/>
        </p:nvSpPr>
        <p:spPr>
          <a:xfrm>
            <a:off x="743590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8"/>
          <p:cNvSpPr/>
          <p:nvPr/>
        </p:nvSpPr>
        <p:spPr>
          <a:xfrm>
            <a:off x="752734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8"/>
          <p:cNvSpPr/>
          <p:nvPr/>
        </p:nvSpPr>
        <p:spPr>
          <a:xfrm>
            <a:off x="761878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8"/>
          <p:cNvSpPr/>
          <p:nvPr/>
        </p:nvSpPr>
        <p:spPr>
          <a:xfrm>
            <a:off x="771022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8"/>
          <p:cNvSpPr/>
          <p:nvPr/>
        </p:nvSpPr>
        <p:spPr>
          <a:xfrm>
            <a:off x="7801661" y="284561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8"/>
          <p:cNvSpPr/>
          <p:nvPr/>
        </p:nvSpPr>
        <p:spPr>
          <a:xfrm>
            <a:off x="679582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8"/>
          <p:cNvSpPr/>
          <p:nvPr/>
        </p:nvSpPr>
        <p:spPr>
          <a:xfrm>
            <a:off x="688726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8"/>
          <p:cNvSpPr/>
          <p:nvPr/>
        </p:nvSpPr>
        <p:spPr>
          <a:xfrm>
            <a:off x="697870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8"/>
          <p:cNvSpPr/>
          <p:nvPr/>
        </p:nvSpPr>
        <p:spPr>
          <a:xfrm>
            <a:off x="707014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
          <p:cNvSpPr/>
          <p:nvPr/>
        </p:nvSpPr>
        <p:spPr>
          <a:xfrm>
            <a:off x="716158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
          <p:cNvSpPr/>
          <p:nvPr/>
        </p:nvSpPr>
        <p:spPr>
          <a:xfrm>
            <a:off x="725302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8"/>
          <p:cNvSpPr/>
          <p:nvPr/>
        </p:nvSpPr>
        <p:spPr>
          <a:xfrm>
            <a:off x="734446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
          <p:cNvSpPr/>
          <p:nvPr/>
        </p:nvSpPr>
        <p:spPr>
          <a:xfrm>
            <a:off x="743590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
          <p:cNvSpPr/>
          <p:nvPr/>
        </p:nvSpPr>
        <p:spPr>
          <a:xfrm>
            <a:off x="752734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8"/>
          <p:cNvSpPr/>
          <p:nvPr/>
        </p:nvSpPr>
        <p:spPr>
          <a:xfrm>
            <a:off x="761878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
          <p:cNvSpPr/>
          <p:nvPr/>
        </p:nvSpPr>
        <p:spPr>
          <a:xfrm>
            <a:off x="771022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
          <p:cNvSpPr/>
          <p:nvPr/>
        </p:nvSpPr>
        <p:spPr>
          <a:xfrm>
            <a:off x="7801661" y="2937053"/>
            <a:ext cx="69494" cy="69494"/>
          </a:xfrm>
          <a:prstGeom prst="rect">
            <a:avLst/>
          </a:prstGeom>
          <a:solidFill>
            <a:srgbClr val="4E7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8"/>
          <p:cNvSpPr txBox="1"/>
          <p:nvPr/>
        </p:nvSpPr>
        <p:spPr>
          <a:xfrm>
            <a:off x="6217920" y="3108960"/>
            <a:ext cx="22860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Fastest: </a:t>
            </a:r>
            <a:r>
              <a:rPr b="1" i="0" lang="en-US" sz="1300" u="none" cap="none" strike="noStrike">
                <a:solidFill>
                  <a:srgbClr val="4E7A00"/>
                </a:solidFill>
                <a:latin typeface="Arial"/>
                <a:ea typeface="Arial"/>
                <a:cs typeface="Arial"/>
                <a:sym typeface="Arial"/>
              </a:rPr>
              <a:t>GPU</a:t>
            </a:r>
            <a:endParaRPr b="0" i="0" sz="1400" u="none" cap="none" strike="noStrike">
              <a:solidFill>
                <a:srgbClr val="000000"/>
              </a:solidFill>
              <a:latin typeface="Arial"/>
              <a:ea typeface="Arial"/>
              <a:cs typeface="Arial"/>
              <a:sym typeface="Arial"/>
            </a:endParaRPr>
          </a:p>
        </p:txBody>
      </p:sp>
      <p:sp>
        <p:nvSpPr>
          <p:cNvPr id="611" name="Google Shape;611;p8"/>
          <p:cNvSpPr txBox="1"/>
          <p:nvPr/>
        </p:nvSpPr>
        <p:spPr>
          <a:xfrm>
            <a:off x="6217920" y="3401568"/>
            <a:ext cx="2286000" cy="8686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Arial"/>
              <a:buNone/>
            </a:pPr>
            <a:r>
              <a:rPr b="0" i="0" lang="en-US" sz="1000" u="none" cap="none" strike="noStrike">
                <a:solidFill>
                  <a:srgbClr val="2B2B2B"/>
                </a:solidFill>
                <a:latin typeface="Arial"/>
                <a:ea typeface="Arial"/>
                <a:cs typeface="Arial"/>
                <a:sym typeface="Arial"/>
              </a:rPr>
              <a:t>The setup cost is tiny next to the work. Thousands of GPU threads win easily.</a:t>
            </a:r>
            <a:endParaRPr b="0" i="0" sz="1400" u="none" cap="none" strike="noStrike">
              <a:solidFill>
                <a:srgbClr val="000000"/>
              </a:solidFill>
              <a:latin typeface="Arial"/>
              <a:ea typeface="Arial"/>
              <a:cs typeface="Arial"/>
              <a:sym typeface="Arial"/>
            </a:endParaRPr>
          </a:p>
        </p:txBody>
      </p:sp>
      <p:sp>
        <p:nvSpPr>
          <p:cNvPr id="612" name="Google Shape;612;p8"/>
          <p:cNvSpPr txBox="1"/>
          <p:nvPr/>
        </p:nvSpPr>
        <p:spPr>
          <a:xfrm>
            <a:off x="457200" y="4434840"/>
            <a:ext cx="8229600" cy="3657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100"/>
              <a:buFont typeface="Arial"/>
              <a:buNone/>
            </a:pPr>
            <a:r>
              <a:rPr b="0" i="1" lang="en-US" sz="1100" u="none" cap="none" strike="noStrike">
                <a:solidFill>
                  <a:srgbClr val="6E6E6E"/>
                </a:solidFill>
                <a:latin typeface="Arial"/>
                <a:ea typeface="Arial"/>
                <a:cs typeface="Arial"/>
                <a:sym typeface="Arial"/>
              </a:rPr>
              <a:t>Takeaway: the GPU only wins when you give it enough work. Images (millions of pixels) are a perfect fit.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9"/>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One line of C++, three different machines</a:t>
            </a:r>
            <a:endParaRPr b="0" i="0" sz="1400" u="none" cap="none" strike="noStrike">
              <a:solidFill>
                <a:srgbClr val="000000"/>
              </a:solidFill>
              <a:latin typeface="Arial"/>
              <a:ea typeface="Arial"/>
              <a:cs typeface="Arial"/>
              <a:sym typeface="Arial"/>
            </a:endParaRPr>
          </a:p>
        </p:txBody>
      </p:sp>
      <p:sp>
        <p:nvSpPr>
          <p:cNvPr id="619" name="Google Shape;619;p9"/>
          <p:cNvSpPr/>
          <p:nvPr/>
        </p:nvSpPr>
        <p:spPr>
          <a:xfrm>
            <a:off x="2971800" y="1051560"/>
            <a:ext cx="3200400" cy="548640"/>
          </a:xfrm>
          <a:prstGeom prst="roundRect">
            <a:avLst>
              <a:gd fmla="val 15000" name="adj"/>
            </a:avLst>
          </a:prstGeom>
          <a:solidFill>
            <a:srgbClr val="DCE9F7"/>
          </a:solidFill>
          <a:ln cap="flat" cmpd="sng" w="12700">
            <a:solidFill>
              <a:srgbClr val="5B8D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9"/>
          <p:cNvSpPr txBox="1"/>
          <p:nvPr/>
        </p:nvSpPr>
        <p:spPr>
          <a:xfrm>
            <a:off x="2971800" y="1051560"/>
            <a:ext cx="3200400" cy="54864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600"/>
              <a:buFont typeface="Courier New"/>
              <a:buNone/>
            </a:pPr>
            <a:r>
              <a:rPr b="1" i="0" lang="en-US" sz="1600" u="none" cap="none" strike="noStrike">
                <a:solidFill>
                  <a:srgbClr val="2B2B2B"/>
                </a:solidFill>
                <a:latin typeface="Courier New"/>
                <a:ea typeface="Courier New"/>
                <a:cs typeface="Courier New"/>
                <a:sym typeface="Courier New"/>
              </a:rPr>
              <a:t>temp[i] + k * diff</a:t>
            </a:r>
            <a:endParaRPr b="0" i="0" sz="1400" u="none" cap="none" strike="noStrike">
              <a:solidFill>
                <a:srgbClr val="000000"/>
              </a:solidFill>
              <a:latin typeface="Arial"/>
              <a:ea typeface="Arial"/>
              <a:cs typeface="Arial"/>
              <a:sym typeface="Arial"/>
            </a:endParaRPr>
          </a:p>
        </p:txBody>
      </p:sp>
      <p:sp>
        <p:nvSpPr>
          <p:cNvPr id="621" name="Google Shape;621;p9"/>
          <p:cNvSpPr txBox="1"/>
          <p:nvPr/>
        </p:nvSpPr>
        <p:spPr>
          <a:xfrm>
            <a:off x="2971800" y="896112"/>
            <a:ext cx="3200400" cy="18288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6E6E6E"/>
              </a:buClr>
              <a:buSzPts val="900"/>
              <a:buFont typeface="Arial"/>
              <a:buNone/>
            </a:pPr>
            <a:r>
              <a:rPr b="0" i="0" lang="en-US" sz="900" u="none" cap="none" strike="noStrike">
                <a:solidFill>
                  <a:srgbClr val="6E6E6E"/>
                </a:solidFill>
                <a:latin typeface="Arial"/>
                <a:ea typeface="Arial"/>
                <a:cs typeface="Arial"/>
                <a:sym typeface="Arial"/>
              </a:rPr>
              <a:t>your C++ expression</a:t>
            </a:r>
            <a:endParaRPr b="0" i="0" sz="1400" u="none" cap="none" strike="noStrike">
              <a:solidFill>
                <a:srgbClr val="000000"/>
              </a:solidFill>
              <a:latin typeface="Arial"/>
              <a:ea typeface="Arial"/>
              <a:cs typeface="Arial"/>
              <a:sym typeface="Arial"/>
            </a:endParaRPr>
          </a:p>
        </p:txBody>
      </p:sp>
      <p:cxnSp>
        <p:nvCxnSpPr>
          <p:cNvPr id="622" name="Google Shape;622;p9"/>
          <p:cNvCxnSpPr/>
          <p:nvPr/>
        </p:nvCxnSpPr>
        <p:spPr>
          <a:xfrm flipH="1">
            <a:off x="1737360" y="1600200"/>
            <a:ext cx="2834640" cy="457200"/>
          </a:xfrm>
          <a:prstGeom prst="straightConnector1">
            <a:avLst/>
          </a:prstGeom>
          <a:noFill/>
          <a:ln cap="flat" cmpd="sng" w="19050">
            <a:solidFill>
              <a:srgbClr val="5B8DD6"/>
            </a:solidFill>
            <a:prstDash val="solid"/>
            <a:round/>
            <a:headEnd len="sm" w="sm" type="none"/>
            <a:tailEnd len="med" w="med" type="triangle"/>
          </a:ln>
        </p:spPr>
      </p:cxnSp>
      <p:sp>
        <p:nvSpPr>
          <p:cNvPr id="623" name="Google Shape;623;p9"/>
          <p:cNvSpPr/>
          <p:nvPr/>
        </p:nvSpPr>
        <p:spPr>
          <a:xfrm>
            <a:off x="548640" y="2057400"/>
            <a:ext cx="2377440" cy="502920"/>
          </a:xfrm>
          <a:prstGeom prst="roundRect">
            <a:avLst>
              <a:gd fmla="val 15000" name="adj"/>
            </a:avLst>
          </a:prstGeom>
          <a:solidFill>
            <a:srgbClr val="FBE3E3"/>
          </a:solidFill>
          <a:ln cap="flat" cmpd="sng" w="12700">
            <a:solidFill>
              <a:srgbClr val="C25A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9"/>
          <p:cNvSpPr txBox="1"/>
          <p:nvPr/>
        </p:nvSpPr>
        <p:spPr>
          <a:xfrm>
            <a:off x="548640" y="2057400"/>
            <a:ext cx="2377440" cy="5029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1" i="0" lang="en-US" sz="1300" u="none" cap="none" strike="noStrike">
                <a:solidFill>
                  <a:srgbClr val="2B2B2B"/>
                </a:solidFill>
                <a:latin typeface="Courier New"/>
                <a:ea typeface="Courier New"/>
                <a:cs typeface="Courier New"/>
                <a:sym typeface="Courier New"/>
              </a:rPr>
              <a:t>g++ main.cpp</a:t>
            </a:r>
            <a:endParaRPr b="0" i="0" sz="1400" u="none" cap="none" strike="noStrike">
              <a:solidFill>
                <a:srgbClr val="000000"/>
              </a:solidFill>
              <a:latin typeface="Arial"/>
              <a:ea typeface="Arial"/>
              <a:cs typeface="Arial"/>
              <a:sym typeface="Arial"/>
            </a:endParaRPr>
          </a:p>
        </p:txBody>
      </p:sp>
      <p:cxnSp>
        <p:nvCxnSpPr>
          <p:cNvPr id="625" name="Google Shape;625;p9"/>
          <p:cNvCxnSpPr/>
          <p:nvPr/>
        </p:nvCxnSpPr>
        <p:spPr>
          <a:xfrm>
            <a:off x="1737360" y="2560320"/>
            <a:ext cx="0" cy="274320"/>
          </a:xfrm>
          <a:prstGeom prst="straightConnector1">
            <a:avLst/>
          </a:prstGeom>
          <a:noFill/>
          <a:ln cap="flat" cmpd="sng" w="19050">
            <a:solidFill>
              <a:srgbClr val="C25A5A"/>
            </a:solidFill>
            <a:prstDash val="solid"/>
            <a:round/>
            <a:headEnd len="sm" w="sm" type="none"/>
            <a:tailEnd len="med" w="med" type="triangle"/>
          </a:ln>
        </p:spPr>
      </p:cxnSp>
      <p:sp>
        <p:nvSpPr>
          <p:cNvPr id="626" name="Google Shape;626;p9"/>
          <p:cNvSpPr/>
          <p:nvPr/>
        </p:nvSpPr>
        <p:spPr>
          <a:xfrm>
            <a:off x="548640" y="2834640"/>
            <a:ext cx="2377440" cy="457200"/>
          </a:xfrm>
          <a:prstGeom prst="roundRect">
            <a:avLst>
              <a:gd fmla="val 15000" name="adj"/>
            </a:avLst>
          </a:prstGeom>
          <a:solidFill>
            <a:srgbClr val="FFFFFF"/>
          </a:solidFill>
          <a:ln cap="flat" cmpd="sng" w="12700">
            <a:solidFill>
              <a:srgbClr val="C25A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9"/>
          <p:cNvSpPr txBox="1"/>
          <p:nvPr/>
        </p:nvSpPr>
        <p:spPr>
          <a:xfrm>
            <a:off x="548640" y="2834640"/>
            <a:ext cx="237744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0" i="0" lang="en-US" sz="1300" u="none" cap="none" strike="noStrike">
                <a:solidFill>
                  <a:srgbClr val="2B2B2B"/>
                </a:solidFill>
                <a:latin typeface="Courier New"/>
                <a:ea typeface="Courier New"/>
                <a:cs typeface="Courier New"/>
                <a:sym typeface="Courier New"/>
              </a:rPr>
              <a:t>vfmadd132ss</a:t>
            </a:r>
            <a:endParaRPr b="0" i="0" sz="1400" u="none" cap="none" strike="noStrike">
              <a:solidFill>
                <a:srgbClr val="000000"/>
              </a:solidFill>
              <a:latin typeface="Arial"/>
              <a:ea typeface="Arial"/>
              <a:cs typeface="Arial"/>
              <a:sym typeface="Arial"/>
            </a:endParaRPr>
          </a:p>
        </p:txBody>
      </p:sp>
      <p:sp>
        <p:nvSpPr>
          <p:cNvPr id="628" name="Google Shape;628;p9"/>
          <p:cNvSpPr txBox="1"/>
          <p:nvPr/>
        </p:nvSpPr>
        <p:spPr>
          <a:xfrm>
            <a:off x="548640" y="3337560"/>
            <a:ext cx="2377440" cy="4572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C25A5A"/>
              </a:buClr>
              <a:buSzPts val="1200"/>
              <a:buFont typeface="Arial"/>
              <a:buNone/>
            </a:pPr>
            <a:r>
              <a:rPr b="1" i="0" lang="en-US" sz="1200" u="none" cap="none" strike="noStrike">
                <a:solidFill>
                  <a:srgbClr val="C25A5A"/>
                </a:solidFill>
                <a:latin typeface="Arial"/>
                <a:ea typeface="Arial"/>
                <a:cs typeface="Arial"/>
                <a:sym typeface="Arial"/>
              </a:rPr>
              <a:t>runs on x86 CPU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6E6E6E"/>
              </a:buClr>
              <a:buSzPts val="1000"/>
              <a:buFont typeface="Arial"/>
              <a:buNone/>
            </a:pPr>
            <a:r>
              <a:rPr b="0" i="0" lang="en-US" sz="1000" u="none" cap="none" strike="noStrike">
                <a:solidFill>
                  <a:srgbClr val="6E6E6E"/>
                </a:solidFill>
                <a:latin typeface="Arial"/>
                <a:ea typeface="Arial"/>
                <a:cs typeface="Arial"/>
                <a:sym typeface="Arial"/>
              </a:rPr>
              <a:t>Intel / AMD laptops</a:t>
            </a:r>
            <a:endParaRPr b="0" i="0" sz="1400" u="none" cap="none" strike="noStrike">
              <a:solidFill>
                <a:srgbClr val="000000"/>
              </a:solidFill>
              <a:latin typeface="Arial"/>
              <a:ea typeface="Arial"/>
              <a:cs typeface="Arial"/>
              <a:sym typeface="Arial"/>
            </a:endParaRPr>
          </a:p>
        </p:txBody>
      </p:sp>
      <p:cxnSp>
        <p:nvCxnSpPr>
          <p:cNvPr id="629" name="Google Shape;629;p9"/>
          <p:cNvCxnSpPr/>
          <p:nvPr/>
        </p:nvCxnSpPr>
        <p:spPr>
          <a:xfrm flipH="1">
            <a:off x="4480560" y="1600200"/>
            <a:ext cx="91440" cy="457200"/>
          </a:xfrm>
          <a:prstGeom prst="straightConnector1">
            <a:avLst/>
          </a:prstGeom>
          <a:noFill/>
          <a:ln cap="flat" cmpd="sng" w="19050">
            <a:solidFill>
              <a:srgbClr val="5B8DD6"/>
            </a:solidFill>
            <a:prstDash val="solid"/>
            <a:round/>
            <a:headEnd len="sm" w="sm" type="none"/>
            <a:tailEnd len="med" w="med" type="triangle"/>
          </a:ln>
        </p:spPr>
      </p:cxnSp>
      <p:sp>
        <p:nvSpPr>
          <p:cNvPr id="630" name="Google Shape;630;p9"/>
          <p:cNvSpPr/>
          <p:nvPr/>
        </p:nvSpPr>
        <p:spPr>
          <a:xfrm>
            <a:off x="3291840" y="2057400"/>
            <a:ext cx="2377440" cy="502920"/>
          </a:xfrm>
          <a:prstGeom prst="roundRect">
            <a:avLst>
              <a:gd fmla="val 15000" name="adj"/>
            </a:avLst>
          </a:prstGeom>
          <a:solidFill>
            <a:srgbClr val="FBF2D9"/>
          </a:solidFill>
          <a:ln cap="flat" cmpd="sng" w="12700">
            <a:solidFill>
              <a:srgbClr val="C9A2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9"/>
          <p:cNvSpPr txBox="1"/>
          <p:nvPr/>
        </p:nvSpPr>
        <p:spPr>
          <a:xfrm>
            <a:off x="3291840" y="2057400"/>
            <a:ext cx="2377440" cy="5029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1" i="0" lang="en-US" sz="1300" u="none" cap="none" strike="noStrike">
                <a:solidFill>
                  <a:srgbClr val="2B2B2B"/>
                </a:solidFill>
                <a:latin typeface="Courier New"/>
                <a:ea typeface="Courier New"/>
                <a:cs typeface="Courier New"/>
                <a:sym typeface="Courier New"/>
              </a:rPr>
              <a:t>aarch64-g++ main.cpp</a:t>
            </a:r>
            <a:endParaRPr b="0" i="0" sz="1400" u="none" cap="none" strike="noStrike">
              <a:solidFill>
                <a:srgbClr val="000000"/>
              </a:solidFill>
              <a:latin typeface="Arial"/>
              <a:ea typeface="Arial"/>
              <a:cs typeface="Arial"/>
              <a:sym typeface="Arial"/>
            </a:endParaRPr>
          </a:p>
        </p:txBody>
      </p:sp>
      <p:cxnSp>
        <p:nvCxnSpPr>
          <p:cNvPr id="632" name="Google Shape;632;p9"/>
          <p:cNvCxnSpPr/>
          <p:nvPr/>
        </p:nvCxnSpPr>
        <p:spPr>
          <a:xfrm>
            <a:off x="4480560" y="2560320"/>
            <a:ext cx="0" cy="274320"/>
          </a:xfrm>
          <a:prstGeom prst="straightConnector1">
            <a:avLst/>
          </a:prstGeom>
          <a:noFill/>
          <a:ln cap="flat" cmpd="sng" w="19050">
            <a:solidFill>
              <a:srgbClr val="C9A23A"/>
            </a:solidFill>
            <a:prstDash val="solid"/>
            <a:round/>
            <a:headEnd len="sm" w="sm" type="none"/>
            <a:tailEnd len="med" w="med" type="triangle"/>
          </a:ln>
        </p:spPr>
      </p:cxnSp>
      <p:sp>
        <p:nvSpPr>
          <p:cNvPr id="633" name="Google Shape;633;p9"/>
          <p:cNvSpPr/>
          <p:nvPr/>
        </p:nvSpPr>
        <p:spPr>
          <a:xfrm>
            <a:off x="3291840" y="2834640"/>
            <a:ext cx="2377440" cy="457200"/>
          </a:xfrm>
          <a:prstGeom prst="roundRect">
            <a:avLst>
              <a:gd fmla="val 15000" name="adj"/>
            </a:avLst>
          </a:prstGeom>
          <a:solidFill>
            <a:srgbClr val="FFFFFF"/>
          </a:solidFill>
          <a:ln cap="flat" cmpd="sng" w="12700">
            <a:solidFill>
              <a:srgbClr val="C9A2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9"/>
          <p:cNvSpPr txBox="1"/>
          <p:nvPr/>
        </p:nvSpPr>
        <p:spPr>
          <a:xfrm>
            <a:off x="3291840" y="2834640"/>
            <a:ext cx="237744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0" i="0" lang="en-US" sz="1300" u="none" cap="none" strike="noStrike">
                <a:solidFill>
                  <a:srgbClr val="2B2B2B"/>
                </a:solidFill>
                <a:latin typeface="Courier New"/>
                <a:ea typeface="Courier New"/>
                <a:cs typeface="Courier New"/>
                <a:sym typeface="Courier New"/>
              </a:rPr>
              <a:t>vmla.f32</a:t>
            </a:r>
            <a:endParaRPr b="0" i="0" sz="1400" u="none" cap="none" strike="noStrike">
              <a:solidFill>
                <a:srgbClr val="000000"/>
              </a:solidFill>
              <a:latin typeface="Arial"/>
              <a:ea typeface="Arial"/>
              <a:cs typeface="Arial"/>
              <a:sym typeface="Arial"/>
            </a:endParaRPr>
          </a:p>
        </p:txBody>
      </p:sp>
      <p:sp>
        <p:nvSpPr>
          <p:cNvPr id="635" name="Google Shape;635;p9"/>
          <p:cNvSpPr txBox="1"/>
          <p:nvPr/>
        </p:nvSpPr>
        <p:spPr>
          <a:xfrm>
            <a:off x="3291840" y="3337560"/>
            <a:ext cx="2377440" cy="4572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C9A23A"/>
              </a:buClr>
              <a:buSzPts val="1200"/>
              <a:buFont typeface="Arial"/>
              <a:buNone/>
            </a:pPr>
            <a:r>
              <a:rPr b="1" i="0" lang="en-US" sz="1200" u="none" cap="none" strike="noStrike">
                <a:solidFill>
                  <a:srgbClr val="C9A23A"/>
                </a:solidFill>
                <a:latin typeface="Arial"/>
                <a:ea typeface="Arial"/>
                <a:cs typeface="Arial"/>
                <a:sym typeface="Arial"/>
              </a:rPr>
              <a:t>runs on ARM CPU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6E6E6E"/>
              </a:buClr>
              <a:buSzPts val="1000"/>
              <a:buFont typeface="Arial"/>
              <a:buNone/>
            </a:pPr>
            <a:r>
              <a:rPr b="0" i="0" lang="en-US" sz="1000" u="none" cap="none" strike="noStrike">
                <a:solidFill>
                  <a:srgbClr val="6E6E6E"/>
                </a:solidFill>
                <a:latin typeface="Arial"/>
                <a:ea typeface="Arial"/>
                <a:cs typeface="Arial"/>
                <a:sym typeface="Arial"/>
              </a:rPr>
              <a:t>Phones, Apple silicon</a:t>
            </a:r>
            <a:endParaRPr b="0" i="0" sz="1400" u="none" cap="none" strike="noStrike">
              <a:solidFill>
                <a:srgbClr val="000000"/>
              </a:solidFill>
              <a:latin typeface="Arial"/>
              <a:ea typeface="Arial"/>
              <a:cs typeface="Arial"/>
              <a:sym typeface="Arial"/>
            </a:endParaRPr>
          </a:p>
        </p:txBody>
      </p:sp>
      <p:cxnSp>
        <p:nvCxnSpPr>
          <p:cNvPr id="636" name="Google Shape;636;p9"/>
          <p:cNvCxnSpPr/>
          <p:nvPr/>
        </p:nvCxnSpPr>
        <p:spPr>
          <a:xfrm>
            <a:off x="4572000" y="1600200"/>
            <a:ext cx="2651760" cy="457200"/>
          </a:xfrm>
          <a:prstGeom prst="straightConnector1">
            <a:avLst/>
          </a:prstGeom>
          <a:noFill/>
          <a:ln cap="flat" cmpd="sng" w="19050">
            <a:solidFill>
              <a:srgbClr val="5B8DD6"/>
            </a:solidFill>
            <a:prstDash val="solid"/>
            <a:round/>
            <a:headEnd len="sm" w="sm" type="none"/>
            <a:tailEnd len="med" w="med" type="triangle"/>
          </a:ln>
        </p:spPr>
      </p:cxnSp>
      <p:sp>
        <p:nvSpPr>
          <p:cNvPr id="637" name="Google Shape;637;p9"/>
          <p:cNvSpPr/>
          <p:nvPr/>
        </p:nvSpPr>
        <p:spPr>
          <a:xfrm>
            <a:off x="6035040" y="2057400"/>
            <a:ext cx="2377440" cy="502920"/>
          </a:xfrm>
          <a:prstGeom prst="roundRect">
            <a:avLst>
              <a:gd fmla="val 15000" name="adj"/>
            </a:avLst>
          </a:prstGeom>
          <a:solidFill>
            <a:srgbClr val="E4F2CF"/>
          </a:solidFill>
          <a:ln cap="flat" cmpd="sng" w="19050">
            <a:solidFill>
              <a:srgbClr val="4E7A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9"/>
          <p:cNvSpPr txBox="1"/>
          <p:nvPr/>
        </p:nvSpPr>
        <p:spPr>
          <a:xfrm>
            <a:off x="6035040" y="2057400"/>
            <a:ext cx="2377440" cy="5029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1" i="0" lang="en-US" sz="1300" u="none" cap="none" strike="noStrike">
                <a:solidFill>
                  <a:srgbClr val="2B2B2B"/>
                </a:solidFill>
                <a:latin typeface="Courier New"/>
                <a:ea typeface="Courier New"/>
                <a:cs typeface="Courier New"/>
                <a:sym typeface="Courier New"/>
              </a:rPr>
              <a:t>nvcc main.cpp</a:t>
            </a:r>
            <a:endParaRPr b="0" i="0" sz="1400" u="none" cap="none" strike="noStrike">
              <a:solidFill>
                <a:srgbClr val="000000"/>
              </a:solidFill>
              <a:latin typeface="Arial"/>
              <a:ea typeface="Arial"/>
              <a:cs typeface="Arial"/>
              <a:sym typeface="Arial"/>
            </a:endParaRPr>
          </a:p>
        </p:txBody>
      </p:sp>
      <p:cxnSp>
        <p:nvCxnSpPr>
          <p:cNvPr id="639" name="Google Shape;639;p9"/>
          <p:cNvCxnSpPr/>
          <p:nvPr/>
        </p:nvCxnSpPr>
        <p:spPr>
          <a:xfrm>
            <a:off x="7223760" y="2560320"/>
            <a:ext cx="0" cy="274320"/>
          </a:xfrm>
          <a:prstGeom prst="straightConnector1">
            <a:avLst/>
          </a:prstGeom>
          <a:noFill/>
          <a:ln cap="flat" cmpd="sng" w="19050">
            <a:solidFill>
              <a:srgbClr val="4E7A00"/>
            </a:solidFill>
            <a:prstDash val="solid"/>
            <a:round/>
            <a:headEnd len="sm" w="sm" type="none"/>
            <a:tailEnd len="med" w="med" type="triangle"/>
          </a:ln>
        </p:spPr>
      </p:cxnSp>
      <p:sp>
        <p:nvSpPr>
          <p:cNvPr id="640" name="Google Shape;640;p9"/>
          <p:cNvSpPr/>
          <p:nvPr/>
        </p:nvSpPr>
        <p:spPr>
          <a:xfrm>
            <a:off x="6035040" y="2834640"/>
            <a:ext cx="2377440" cy="457200"/>
          </a:xfrm>
          <a:prstGeom prst="roundRect">
            <a:avLst>
              <a:gd fmla="val 15000" name="adj"/>
            </a:avLst>
          </a:prstGeom>
          <a:solidFill>
            <a:srgbClr val="FFFFFF"/>
          </a:solidFill>
          <a:ln cap="flat" cmpd="sng" w="12700">
            <a:solidFill>
              <a:srgbClr val="4E7A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9"/>
          <p:cNvSpPr txBox="1"/>
          <p:nvPr/>
        </p:nvSpPr>
        <p:spPr>
          <a:xfrm>
            <a:off x="6035040" y="2834640"/>
            <a:ext cx="237744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B2B2B"/>
              </a:buClr>
              <a:buSzPts val="1300"/>
              <a:buFont typeface="Courier New"/>
              <a:buNone/>
            </a:pPr>
            <a:r>
              <a:rPr b="0" i="0" lang="en-US" sz="1300" u="none" cap="none" strike="noStrike">
                <a:solidFill>
                  <a:srgbClr val="2B2B2B"/>
                </a:solidFill>
                <a:latin typeface="Courier New"/>
                <a:ea typeface="Courier New"/>
                <a:cs typeface="Courier New"/>
                <a:sym typeface="Courier New"/>
              </a:rPr>
              <a:t>fma.rn.f32</a:t>
            </a:r>
            <a:endParaRPr b="0" i="0" sz="1400" u="none" cap="none" strike="noStrike">
              <a:solidFill>
                <a:srgbClr val="000000"/>
              </a:solidFill>
              <a:latin typeface="Arial"/>
              <a:ea typeface="Arial"/>
              <a:cs typeface="Arial"/>
              <a:sym typeface="Arial"/>
            </a:endParaRPr>
          </a:p>
        </p:txBody>
      </p:sp>
      <p:sp>
        <p:nvSpPr>
          <p:cNvPr id="642" name="Google Shape;642;p9"/>
          <p:cNvSpPr txBox="1"/>
          <p:nvPr/>
        </p:nvSpPr>
        <p:spPr>
          <a:xfrm>
            <a:off x="6035040" y="3337560"/>
            <a:ext cx="2377440" cy="4572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4E7A00"/>
              </a:buClr>
              <a:buSzPts val="1200"/>
              <a:buFont typeface="Arial"/>
              <a:buNone/>
            </a:pPr>
            <a:r>
              <a:rPr b="1" i="0" lang="en-US" sz="1200" u="none" cap="none" strike="noStrike">
                <a:solidFill>
                  <a:srgbClr val="4E7A00"/>
                </a:solidFill>
                <a:latin typeface="Arial"/>
                <a:ea typeface="Arial"/>
                <a:cs typeface="Arial"/>
                <a:sym typeface="Arial"/>
              </a:rPr>
              <a:t>runs on NVIDIA GPU</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6E6E6E"/>
              </a:buClr>
              <a:buSzPts val="1000"/>
              <a:buFont typeface="Arial"/>
              <a:buNone/>
            </a:pPr>
            <a:r>
              <a:rPr b="0" i="0" lang="en-US" sz="1000" u="none" cap="none" strike="noStrike">
                <a:solidFill>
                  <a:srgbClr val="6E6E6E"/>
                </a:solidFill>
                <a:latin typeface="Arial"/>
                <a:ea typeface="Arial"/>
                <a:cs typeface="Arial"/>
                <a:sym typeface="Arial"/>
              </a:rPr>
              <a:t>What we use</a:t>
            </a:r>
            <a:endParaRPr b="0" i="0" sz="1400" u="none" cap="none" strike="noStrike">
              <a:solidFill>
                <a:srgbClr val="000000"/>
              </a:solidFill>
              <a:latin typeface="Arial"/>
              <a:ea typeface="Arial"/>
              <a:cs typeface="Arial"/>
              <a:sym typeface="Arial"/>
            </a:endParaRPr>
          </a:p>
        </p:txBody>
      </p:sp>
      <p:sp>
        <p:nvSpPr>
          <p:cNvPr id="643" name="Google Shape;643;p9"/>
          <p:cNvSpPr/>
          <p:nvPr/>
        </p:nvSpPr>
        <p:spPr>
          <a:xfrm>
            <a:off x="457200" y="4069080"/>
            <a:ext cx="8229600" cy="502920"/>
          </a:xfrm>
          <a:prstGeom prst="roundRect">
            <a:avLst>
              <a:gd fmla="val 12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9"/>
          <p:cNvSpPr txBox="1"/>
          <p:nvPr/>
        </p:nvSpPr>
        <p:spPr>
          <a:xfrm>
            <a:off x="640080" y="4069080"/>
            <a:ext cx="786384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Courier New"/>
              <a:buNone/>
            </a:pPr>
            <a:r>
              <a:rPr b="1" i="0" lang="en-US" sz="1200" u="none" cap="none" strike="noStrike">
                <a:solidFill>
                  <a:srgbClr val="500000"/>
                </a:solidFill>
                <a:latin typeface="Courier New"/>
                <a:ea typeface="Courier New"/>
                <a:cs typeface="Courier New"/>
                <a:sym typeface="Courier New"/>
              </a:rPr>
              <a:t>nvcc</a:t>
            </a:r>
            <a:r>
              <a:rPr b="0" i="0" lang="en-US" sz="1200" u="none" cap="none" strike="noStrike">
                <a:solidFill>
                  <a:srgbClr val="2B2B2B"/>
                </a:solidFill>
                <a:latin typeface="Arial"/>
                <a:ea typeface="Arial"/>
                <a:cs typeface="Arial"/>
                <a:sym typeface="Arial"/>
              </a:rPr>
              <a:t> (NVIDIA CUDA Compiler) knows how to turn C++ into GPU instructions. Same source, new target.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10"/>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The CUDA software stack</a:t>
            </a:r>
            <a:endParaRPr b="0" i="0" sz="1400" u="none" cap="none" strike="noStrike">
              <a:solidFill>
                <a:srgbClr val="000000"/>
              </a:solidFill>
              <a:latin typeface="Arial"/>
              <a:ea typeface="Arial"/>
              <a:cs typeface="Arial"/>
              <a:sym typeface="Arial"/>
            </a:endParaRPr>
          </a:p>
        </p:txBody>
      </p:sp>
      <p:sp>
        <p:nvSpPr>
          <p:cNvPr id="651" name="Google Shape;651;p10"/>
          <p:cNvSpPr/>
          <p:nvPr/>
        </p:nvSpPr>
        <p:spPr>
          <a:xfrm>
            <a:off x="457200" y="1051560"/>
            <a:ext cx="5120640" cy="457200"/>
          </a:xfrm>
          <a:prstGeom prst="roundRect">
            <a:avLst>
              <a:gd fmla="val 12000" name="adj"/>
            </a:avLst>
          </a:prstGeom>
          <a:solidFill>
            <a:srgbClr val="FCE9C8"/>
          </a:solidFill>
          <a:ln cap="flat" cmpd="sng" w="12700">
            <a:solidFill>
              <a:srgbClr val="D9A4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0"/>
          <p:cNvSpPr txBox="1"/>
          <p:nvPr/>
        </p:nvSpPr>
        <p:spPr>
          <a:xfrm>
            <a:off x="457200" y="1051560"/>
            <a:ext cx="512064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8A5A00"/>
              </a:buClr>
              <a:buSzPts val="1300"/>
              <a:buFont typeface="Arial"/>
              <a:buNone/>
            </a:pPr>
            <a:r>
              <a:rPr b="1" i="0" lang="en-US" sz="1300" u="none" cap="none" strike="noStrike">
                <a:solidFill>
                  <a:srgbClr val="8A5A00"/>
                </a:solidFill>
                <a:latin typeface="Arial"/>
                <a:ea typeface="Arial"/>
                <a:cs typeface="Arial"/>
                <a:sym typeface="Arial"/>
              </a:rPr>
              <a:t>Your application</a:t>
            </a:r>
            <a:endParaRPr b="0" i="0" sz="1400" u="none" cap="none" strike="noStrike">
              <a:solidFill>
                <a:srgbClr val="000000"/>
              </a:solidFill>
              <a:latin typeface="Arial"/>
              <a:ea typeface="Arial"/>
              <a:cs typeface="Arial"/>
              <a:sym typeface="Arial"/>
            </a:endParaRPr>
          </a:p>
        </p:txBody>
      </p:sp>
      <p:sp>
        <p:nvSpPr>
          <p:cNvPr id="653" name="Google Shape;653;p10"/>
          <p:cNvSpPr/>
          <p:nvPr/>
        </p:nvSpPr>
        <p:spPr>
          <a:xfrm>
            <a:off x="2148840" y="1645920"/>
            <a:ext cx="2103120" cy="548640"/>
          </a:xfrm>
          <a:prstGeom prst="roundRect">
            <a:avLst>
              <a:gd fmla="val 10000" name="adj"/>
            </a:avLst>
          </a:prstGeom>
          <a:solidFill>
            <a:srgbClr val="DCEFC4"/>
          </a:solidFill>
          <a:ln cap="flat" cmpd="sng" w="12700">
            <a:solidFill>
              <a:srgbClr val="6E9E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0"/>
          <p:cNvSpPr txBox="1"/>
          <p:nvPr/>
        </p:nvSpPr>
        <p:spPr>
          <a:xfrm>
            <a:off x="2258568" y="1645920"/>
            <a:ext cx="1883664"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300"/>
              <a:buFont typeface="Arial"/>
              <a:buNone/>
            </a:pPr>
            <a:r>
              <a:rPr b="1" i="0" lang="en-US" sz="1300" u="none" cap="none" strike="noStrike">
                <a:solidFill>
                  <a:srgbClr val="3A5F0B"/>
                </a:solidFill>
                <a:latin typeface="Arial"/>
                <a:ea typeface="Arial"/>
                <a:cs typeface="Arial"/>
                <a:sym typeface="Arial"/>
              </a:rPr>
              <a:t>Thrust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std-style algorithms &amp; containers</a:t>
            </a:r>
            <a:endParaRPr b="0" i="0" sz="1400" u="none" cap="none" strike="noStrike">
              <a:solidFill>
                <a:srgbClr val="000000"/>
              </a:solidFill>
              <a:latin typeface="Arial"/>
              <a:ea typeface="Arial"/>
              <a:cs typeface="Arial"/>
              <a:sym typeface="Arial"/>
            </a:endParaRPr>
          </a:p>
        </p:txBody>
      </p:sp>
      <p:sp>
        <p:nvSpPr>
          <p:cNvPr id="655" name="Google Shape;655;p10"/>
          <p:cNvSpPr/>
          <p:nvPr/>
        </p:nvSpPr>
        <p:spPr>
          <a:xfrm>
            <a:off x="1325880" y="2286000"/>
            <a:ext cx="2926080" cy="548640"/>
          </a:xfrm>
          <a:prstGeom prst="roundRect">
            <a:avLst>
              <a:gd fmla="val 10000" name="adj"/>
            </a:avLst>
          </a:prstGeom>
          <a:solidFill>
            <a:srgbClr val="DCEFC4"/>
          </a:solidFill>
          <a:ln cap="flat" cmpd="sng" w="12700">
            <a:solidFill>
              <a:srgbClr val="6E9E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0"/>
          <p:cNvSpPr txBox="1"/>
          <p:nvPr/>
        </p:nvSpPr>
        <p:spPr>
          <a:xfrm>
            <a:off x="1435608" y="2286000"/>
            <a:ext cx="2706624"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300"/>
              <a:buFont typeface="Arial"/>
              <a:buNone/>
            </a:pPr>
            <a:r>
              <a:rPr b="1" i="0" lang="en-US" sz="1300" u="none" cap="none" strike="noStrike">
                <a:solidFill>
                  <a:srgbClr val="3A5F0B"/>
                </a:solidFill>
                <a:latin typeface="Arial"/>
                <a:ea typeface="Arial"/>
                <a:cs typeface="Arial"/>
                <a:sym typeface="Arial"/>
              </a:rPr>
              <a:t>CUB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fast GPU building blocks</a:t>
            </a:r>
            <a:endParaRPr b="0" i="0" sz="1400" u="none" cap="none" strike="noStrike">
              <a:solidFill>
                <a:srgbClr val="000000"/>
              </a:solidFill>
              <a:latin typeface="Arial"/>
              <a:ea typeface="Arial"/>
              <a:cs typeface="Arial"/>
              <a:sym typeface="Arial"/>
            </a:endParaRPr>
          </a:p>
        </p:txBody>
      </p:sp>
      <p:sp>
        <p:nvSpPr>
          <p:cNvPr id="657" name="Google Shape;657;p10"/>
          <p:cNvSpPr/>
          <p:nvPr/>
        </p:nvSpPr>
        <p:spPr>
          <a:xfrm>
            <a:off x="457200" y="2926080"/>
            <a:ext cx="3794760" cy="548640"/>
          </a:xfrm>
          <a:prstGeom prst="roundRect">
            <a:avLst>
              <a:gd fmla="val 10000" name="adj"/>
            </a:avLst>
          </a:prstGeom>
          <a:solidFill>
            <a:srgbClr val="DCEFC4"/>
          </a:solidFill>
          <a:ln cap="flat" cmpd="sng" w="12700">
            <a:solidFill>
              <a:srgbClr val="6E9E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0"/>
          <p:cNvSpPr txBox="1"/>
          <p:nvPr/>
        </p:nvSpPr>
        <p:spPr>
          <a:xfrm>
            <a:off x="566928" y="2926080"/>
            <a:ext cx="3575304"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300"/>
              <a:buFont typeface="Arial"/>
              <a:buNone/>
            </a:pPr>
            <a:r>
              <a:rPr b="1" i="0" lang="en-US" sz="1300" u="none" cap="none" strike="noStrike">
                <a:solidFill>
                  <a:srgbClr val="3A5F0B"/>
                </a:solidFill>
                <a:latin typeface="Arial"/>
                <a:ea typeface="Arial"/>
                <a:cs typeface="Arial"/>
                <a:sym typeface="Arial"/>
              </a:rPr>
              <a:t>libcu++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C++ standard library pieces for GPU</a:t>
            </a:r>
            <a:endParaRPr b="0" i="0" sz="1400" u="none" cap="none" strike="noStrike">
              <a:solidFill>
                <a:srgbClr val="000000"/>
              </a:solidFill>
              <a:latin typeface="Arial"/>
              <a:ea typeface="Arial"/>
              <a:cs typeface="Arial"/>
              <a:sym typeface="Arial"/>
            </a:endParaRPr>
          </a:p>
        </p:txBody>
      </p:sp>
      <p:sp>
        <p:nvSpPr>
          <p:cNvPr id="659" name="Google Shape;659;p10"/>
          <p:cNvSpPr/>
          <p:nvPr/>
        </p:nvSpPr>
        <p:spPr>
          <a:xfrm>
            <a:off x="4343400" y="1645920"/>
            <a:ext cx="566928" cy="1828800"/>
          </a:xfrm>
          <a:prstGeom prst="roundRect">
            <a:avLst>
              <a:gd fmla="val 10000" name="adj"/>
            </a:avLst>
          </a:prstGeom>
          <a:solidFill>
            <a:srgbClr val="DCEFC4"/>
          </a:solidFill>
          <a:ln cap="flat" cmpd="sng" w="12700">
            <a:solidFill>
              <a:srgbClr val="6E9E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0"/>
          <p:cNvSpPr txBox="1"/>
          <p:nvPr/>
        </p:nvSpPr>
        <p:spPr>
          <a:xfrm>
            <a:off x="4343400" y="1691640"/>
            <a:ext cx="566928" cy="173736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A5F0B"/>
              </a:buClr>
              <a:buSzPts val="900"/>
              <a:buFont typeface="Arial"/>
              <a:buNone/>
            </a:pPr>
            <a:r>
              <a:rPr b="1" i="0" lang="en-US" sz="900" u="none" cap="none" strike="noStrike">
                <a:solidFill>
                  <a:srgbClr val="3A5F0B"/>
                </a:solidFill>
                <a:latin typeface="Arial"/>
                <a:ea typeface="Arial"/>
                <a:cs typeface="Arial"/>
                <a:sym typeface="Arial"/>
              </a:rPr>
              <a:t>cuBLAS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B2B2B"/>
              </a:buClr>
              <a:buSzPts val="700"/>
              <a:buFont typeface="Arial"/>
              <a:buNone/>
            </a:pPr>
            <a:r>
              <a:rPr b="0" i="0" lang="en-US" sz="700" u="none" cap="none" strike="noStrike">
                <a:solidFill>
                  <a:srgbClr val="2B2B2B"/>
                </a:solidFill>
                <a:latin typeface="Arial"/>
                <a:ea typeface="Arial"/>
                <a:cs typeface="Arial"/>
                <a:sym typeface="Arial"/>
              </a:rPr>
              <a:t>linear algebra</a:t>
            </a:r>
            <a:endParaRPr b="0" i="0" sz="1400" u="none" cap="none" strike="noStrike">
              <a:solidFill>
                <a:srgbClr val="000000"/>
              </a:solidFill>
              <a:latin typeface="Arial"/>
              <a:ea typeface="Arial"/>
              <a:cs typeface="Arial"/>
              <a:sym typeface="Arial"/>
            </a:endParaRPr>
          </a:p>
        </p:txBody>
      </p:sp>
      <p:sp>
        <p:nvSpPr>
          <p:cNvPr id="661" name="Google Shape;661;p10"/>
          <p:cNvSpPr/>
          <p:nvPr/>
        </p:nvSpPr>
        <p:spPr>
          <a:xfrm>
            <a:off x="4983480" y="1645920"/>
            <a:ext cx="566928" cy="1828800"/>
          </a:xfrm>
          <a:prstGeom prst="roundRect">
            <a:avLst>
              <a:gd fmla="val 10000" name="adj"/>
            </a:avLst>
          </a:prstGeom>
          <a:solidFill>
            <a:srgbClr val="DCEFC4"/>
          </a:solidFill>
          <a:ln cap="flat" cmpd="sng" w="12700">
            <a:solidFill>
              <a:srgbClr val="6E9E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0"/>
          <p:cNvSpPr txBox="1"/>
          <p:nvPr/>
        </p:nvSpPr>
        <p:spPr>
          <a:xfrm>
            <a:off x="4983480" y="1691640"/>
            <a:ext cx="566928" cy="173736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A5F0B"/>
              </a:buClr>
              <a:buSzPts val="900"/>
              <a:buFont typeface="Arial"/>
              <a:buNone/>
            </a:pPr>
            <a:r>
              <a:rPr b="1" i="0" lang="en-US" sz="900" u="none" cap="none" strike="noStrike">
                <a:solidFill>
                  <a:srgbClr val="3A5F0B"/>
                </a:solidFill>
                <a:latin typeface="Arial"/>
                <a:ea typeface="Arial"/>
                <a:cs typeface="Arial"/>
                <a:sym typeface="Arial"/>
              </a:rPr>
              <a:t>cuDNN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B2B2B"/>
              </a:buClr>
              <a:buSzPts val="700"/>
              <a:buFont typeface="Arial"/>
              <a:buNone/>
            </a:pPr>
            <a:r>
              <a:rPr b="0" i="0" lang="en-US" sz="700" u="none" cap="none" strike="noStrike">
                <a:solidFill>
                  <a:srgbClr val="2B2B2B"/>
                </a:solidFill>
                <a:latin typeface="Arial"/>
                <a:ea typeface="Arial"/>
                <a:cs typeface="Arial"/>
                <a:sym typeface="Arial"/>
              </a:rPr>
              <a:t>neural nets</a:t>
            </a:r>
            <a:endParaRPr b="0" i="0" sz="1400" u="none" cap="none" strike="noStrike">
              <a:solidFill>
                <a:srgbClr val="000000"/>
              </a:solidFill>
              <a:latin typeface="Arial"/>
              <a:ea typeface="Arial"/>
              <a:cs typeface="Arial"/>
              <a:sym typeface="Arial"/>
            </a:endParaRPr>
          </a:p>
        </p:txBody>
      </p:sp>
      <p:sp>
        <p:nvSpPr>
          <p:cNvPr id="663" name="Google Shape;663;p10"/>
          <p:cNvSpPr/>
          <p:nvPr/>
        </p:nvSpPr>
        <p:spPr>
          <a:xfrm>
            <a:off x="457200" y="3566160"/>
            <a:ext cx="5120640" cy="502920"/>
          </a:xfrm>
          <a:prstGeom prst="roundRect">
            <a:avLst>
              <a:gd fmla="val 12000" name="adj"/>
            </a:avLst>
          </a:prstGeom>
          <a:solidFill>
            <a:srgbClr val="3A5F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0"/>
          <p:cNvSpPr txBox="1"/>
          <p:nvPr/>
        </p:nvSpPr>
        <p:spPr>
          <a:xfrm>
            <a:off x="457200" y="3566160"/>
            <a:ext cx="5120640" cy="5029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CUDA Runtime</a:t>
            </a:r>
            <a:r>
              <a:rPr b="0" i="0" lang="en-US" sz="1000" u="none" cap="none" strike="noStrike">
                <a:solidFill>
                  <a:srgbClr val="DCEFC4"/>
                </a:solidFill>
                <a:latin typeface="Arial"/>
                <a:ea typeface="Arial"/>
                <a:cs typeface="Arial"/>
                <a:sym typeface="Arial"/>
              </a:rPr>
              <a:t>   talks to the GPU</a:t>
            </a:r>
            <a:endParaRPr b="0" i="0" sz="1400" u="none" cap="none" strike="noStrike">
              <a:solidFill>
                <a:srgbClr val="000000"/>
              </a:solidFill>
              <a:latin typeface="Arial"/>
              <a:ea typeface="Arial"/>
              <a:cs typeface="Arial"/>
              <a:sym typeface="Arial"/>
            </a:endParaRPr>
          </a:p>
        </p:txBody>
      </p:sp>
      <p:sp>
        <p:nvSpPr>
          <p:cNvPr id="665" name="Google Shape;665;p10"/>
          <p:cNvSpPr txBox="1"/>
          <p:nvPr/>
        </p:nvSpPr>
        <p:spPr>
          <a:xfrm>
            <a:off x="5897880" y="1051560"/>
            <a:ext cx="2788920" cy="3108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Why use libraries?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2B2B2B"/>
              </a:buClr>
              <a:buSzPts val="1100"/>
              <a:buFont typeface="Arial"/>
              <a:buNone/>
            </a:pPr>
            <a:r>
              <a:rPr b="1" i="0" lang="en-US" sz="1100" u="none" cap="none" strike="noStrike">
                <a:solidFill>
                  <a:srgbClr val="2B2B2B"/>
                </a:solidFill>
                <a:latin typeface="Arial"/>
                <a:ea typeface="Arial"/>
                <a:cs typeface="Arial"/>
                <a:sym typeface="Arial"/>
              </a:rPr>
              <a:t>Simpler code: </a:t>
            </a:r>
            <a:r>
              <a:rPr b="0" i="0" lang="en-US" sz="1100" u="none" cap="none" strike="noStrike">
                <a:solidFill>
                  <a:srgbClr val="2B2B2B"/>
                </a:solidFill>
                <a:latin typeface="Arial"/>
                <a:ea typeface="Arial"/>
                <a:cs typeface="Arial"/>
                <a:sym typeface="Arial"/>
              </a:rPr>
              <a:t>one call instead of a hand-written kernel.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2B2B2B"/>
              </a:buClr>
              <a:buSzPts val="1100"/>
              <a:buFont typeface="Arial"/>
              <a:buNone/>
            </a:pPr>
            <a:r>
              <a:rPr b="1" i="0" lang="en-US" sz="1100" u="none" cap="none" strike="noStrike">
                <a:solidFill>
                  <a:srgbClr val="2B2B2B"/>
                </a:solidFill>
                <a:latin typeface="Arial"/>
                <a:ea typeface="Arial"/>
                <a:cs typeface="Arial"/>
                <a:sym typeface="Arial"/>
              </a:rPr>
              <a:t>Faster code: </a:t>
            </a:r>
            <a:r>
              <a:rPr b="0" i="0" lang="en-US" sz="1100" u="none" cap="none" strike="noStrike">
                <a:solidFill>
                  <a:srgbClr val="2B2B2B"/>
                </a:solidFill>
                <a:latin typeface="Arial"/>
                <a:ea typeface="Arial"/>
                <a:cs typeface="Arial"/>
                <a:sym typeface="Arial"/>
              </a:rPr>
              <a:t>tuned by NVIDIA engineers for every GPU.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4E7A00"/>
              </a:buClr>
              <a:buSzPts val="1100"/>
              <a:buFont typeface="Arial"/>
              <a:buNone/>
            </a:pPr>
            <a:r>
              <a:rPr b="1" i="0" lang="en-US" sz="1100" u="none" cap="none" strike="noStrike">
                <a:solidFill>
                  <a:srgbClr val="4E7A00"/>
                </a:solidFill>
                <a:latin typeface="Arial"/>
                <a:ea typeface="Arial"/>
                <a:cs typeface="Arial"/>
                <a:sym typeface="Arial"/>
              </a:rPr>
              <a:t>Today: </a:t>
            </a:r>
            <a:r>
              <a:rPr b="0" i="0" lang="en-US" sz="1100" u="none" cap="none" strike="noStrike">
                <a:solidFill>
                  <a:srgbClr val="2B2B2B"/>
                </a:solidFill>
                <a:latin typeface="Arial"/>
                <a:ea typeface="Arial"/>
                <a:cs typeface="Arial"/>
                <a:sym typeface="Arial"/>
              </a:rPr>
              <a:t>we live at the Thrust layer.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6E6E6E"/>
              </a:buClr>
              <a:buSzPts val="1000"/>
              <a:buFont typeface="Arial"/>
              <a:buNone/>
            </a:pPr>
            <a:r>
              <a:rPr b="0" i="0" lang="en-US" sz="1000" u="none" cap="none" strike="noStrike">
                <a:solidFill>
                  <a:srgbClr val="6E6E6E"/>
                </a:solidFill>
                <a:latin typeface="Arial"/>
                <a:ea typeface="Arial"/>
                <a:cs typeface="Arial"/>
                <a:sym typeface="Arial"/>
              </a:rPr>
              <a:t>Underneath it all, the CUDA Runtime moves data and launches work on the GPU.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11"/>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Thrust: the standard library, GPU edition</a:t>
            </a:r>
            <a:endParaRPr b="0" i="0" sz="1400" u="none" cap="none" strike="noStrike">
              <a:solidFill>
                <a:srgbClr val="000000"/>
              </a:solidFill>
              <a:latin typeface="Arial"/>
              <a:ea typeface="Arial"/>
              <a:cs typeface="Arial"/>
              <a:sym typeface="Arial"/>
            </a:endParaRPr>
          </a:p>
        </p:txBody>
      </p:sp>
      <p:sp>
        <p:nvSpPr>
          <p:cNvPr id="672" name="Google Shape;672;p11"/>
          <p:cNvSpPr txBox="1"/>
          <p:nvPr/>
        </p:nvSpPr>
        <p:spPr>
          <a:xfrm>
            <a:off x="457200" y="914400"/>
            <a:ext cx="8229600" cy="320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300"/>
              <a:buFont typeface="Arial"/>
              <a:buNone/>
            </a:pPr>
            <a:r>
              <a:rPr b="0" i="0" lang="en-US" sz="1300" u="none" cap="none" strike="noStrike">
                <a:solidFill>
                  <a:srgbClr val="2B2B2B"/>
                </a:solidFill>
                <a:latin typeface="Arial"/>
                <a:ea typeface="Arial"/>
                <a:cs typeface="Arial"/>
                <a:sym typeface="Arial"/>
              </a:rPr>
              <a:t>If you know </a:t>
            </a:r>
            <a:r>
              <a:rPr b="1" i="0" lang="en-US" sz="1300" u="none" cap="none" strike="noStrike">
                <a:solidFill>
                  <a:srgbClr val="500000"/>
                </a:solidFill>
                <a:latin typeface="Courier New"/>
                <a:ea typeface="Courier New"/>
                <a:cs typeface="Courier New"/>
                <a:sym typeface="Courier New"/>
              </a:rPr>
              <a:t>std::</a:t>
            </a:r>
            <a:r>
              <a:rPr b="0" i="0" lang="en-US" sz="1300" u="none" cap="none" strike="noStrike">
                <a:solidFill>
                  <a:srgbClr val="2B2B2B"/>
                </a:solidFill>
                <a:latin typeface="Arial"/>
                <a:ea typeface="Arial"/>
                <a:cs typeface="Arial"/>
                <a:sym typeface="Arial"/>
              </a:rPr>
              <a:t>, you already know most of </a:t>
            </a:r>
            <a:r>
              <a:rPr b="1" i="0" lang="en-US" sz="1300" u="none" cap="none" strike="noStrike">
                <a:solidFill>
                  <a:srgbClr val="4E7A00"/>
                </a:solidFill>
                <a:latin typeface="Courier New"/>
                <a:ea typeface="Courier New"/>
                <a:cs typeface="Courier New"/>
                <a:sym typeface="Courier New"/>
              </a:rPr>
              <a:t>thrust::</a:t>
            </a:r>
            <a:endParaRPr b="0" i="0" sz="1400" u="none" cap="none" strike="noStrike">
              <a:solidFill>
                <a:srgbClr val="000000"/>
              </a:solidFill>
              <a:latin typeface="Arial"/>
              <a:ea typeface="Arial"/>
              <a:cs typeface="Arial"/>
              <a:sym typeface="Arial"/>
            </a:endParaRPr>
          </a:p>
        </p:txBody>
      </p:sp>
      <p:sp>
        <p:nvSpPr>
          <p:cNvPr id="673" name="Google Shape;673;p11"/>
          <p:cNvSpPr txBox="1"/>
          <p:nvPr/>
        </p:nvSpPr>
        <p:spPr>
          <a:xfrm>
            <a:off x="2194560" y="1298448"/>
            <a:ext cx="27432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C++ standard library</a:t>
            </a:r>
            <a:endParaRPr b="0" i="0" sz="1400" u="none" cap="none" strike="noStrike">
              <a:solidFill>
                <a:srgbClr val="000000"/>
              </a:solidFill>
              <a:latin typeface="Arial"/>
              <a:ea typeface="Arial"/>
              <a:cs typeface="Arial"/>
              <a:sym typeface="Arial"/>
            </a:endParaRPr>
          </a:p>
        </p:txBody>
      </p:sp>
      <p:sp>
        <p:nvSpPr>
          <p:cNvPr id="674" name="Google Shape;674;p11"/>
          <p:cNvSpPr txBox="1"/>
          <p:nvPr/>
        </p:nvSpPr>
        <p:spPr>
          <a:xfrm>
            <a:off x="5120640" y="1298448"/>
            <a:ext cx="356616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Thrust (runs on the GPU too)</a:t>
            </a:r>
            <a:endParaRPr b="0" i="0" sz="1400" u="none" cap="none" strike="noStrike">
              <a:solidFill>
                <a:srgbClr val="000000"/>
              </a:solidFill>
              <a:latin typeface="Arial"/>
              <a:ea typeface="Arial"/>
              <a:cs typeface="Arial"/>
              <a:sym typeface="Arial"/>
            </a:endParaRPr>
          </a:p>
        </p:txBody>
      </p:sp>
      <p:sp>
        <p:nvSpPr>
          <p:cNvPr id="675" name="Google Shape;675;p11"/>
          <p:cNvSpPr/>
          <p:nvPr/>
        </p:nvSpPr>
        <p:spPr>
          <a:xfrm>
            <a:off x="457200" y="1572768"/>
            <a:ext cx="8229600" cy="475488"/>
          </a:xfrm>
          <a:prstGeom prst="roundRect">
            <a:avLst>
              <a:gd fmla="val 12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1"/>
          <p:cNvSpPr txBox="1"/>
          <p:nvPr/>
        </p:nvSpPr>
        <p:spPr>
          <a:xfrm>
            <a:off x="594360" y="1572768"/>
            <a:ext cx="155448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Containers</a:t>
            </a:r>
            <a:endParaRPr b="0" i="0" sz="1400" u="none" cap="none" strike="noStrike">
              <a:solidFill>
                <a:srgbClr val="000000"/>
              </a:solidFill>
              <a:latin typeface="Arial"/>
              <a:ea typeface="Arial"/>
              <a:cs typeface="Arial"/>
              <a:sym typeface="Arial"/>
            </a:endParaRPr>
          </a:p>
        </p:txBody>
      </p:sp>
      <p:sp>
        <p:nvSpPr>
          <p:cNvPr id="677" name="Google Shape;677;p11"/>
          <p:cNvSpPr txBox="1"/>
          <p:nvPr/>
        </p:nvSpPr>
        <p:spPr>
          <a:xfrm>
            <a:off x="2194560" y="1572768"/>
            <a:ext cx="274320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Courier New"/>
              <a:buNone/>
            </a:pPr>
            <a:r>
              <a:rPr b="0" i="0" lang="en-US" sz="1000" u="none" cap="none" strike="noStrike">
                <a:solidFill>
                  <a:srgbClr val="2B2B2B"/>
                </a:solidFill>
                <a:latin typeface="Courier New"/>
                <a:ea typeface="Courier New"/>
                <a:cs typeface="Courier New"/>
                <a:sym typeface="Courier New"/>
              </a:rPr>
              <a:t>std::vector</a:t>
            </a:r>
            <a:endParaRPr b="0" i="0" sz="1400" u="none" cap="none" strike="noStrike">
              <a:solidFill>
                <a:srgbClr val="000000"/>
              </a:solidFill>
              <a:latin typeface="Arial"/>
              <a:ea typeface="Arial"/>
              <a:cs typeface="Arial"/>
              <a:sym typeface="Arial"/>
            </a:endParaRPr>
          </a:p>
        </p:txBody>
      </p:sp>
      <p:cxnSp>
        <p:nvCxnSpPr>
          <p:cNvPr id="678" name="Google Shape;678;p11"/>
          <p:cNvCxnSpPr/>
          <p:nvPr/>
        </p:nvCxnSpPr>
        <p:spPr>
          <a:xfrm>
            <a:off x="4800600" y="1810512"/>
            <a:ext cx="228600" cy="0"/>
          </a:xfrm>
          <a:prstGeom prst="straightConnector1">
            <a:avLst/>
          </a:prstGeom>
          <a:noFill/>
          <a:ln cap="flat" cmpd="sng" w="19050">
            <a:solidFill>
              <a:srgbClr val="76B900"/>
            </a:solidFill>
            <a:prstDash val="solid"/>
            <a:round/>
            <a:headEnd len="sm" w="sm" type="none"/>
            <a:tailEnd len="med" w="med" type="triangle"/>
          </a:ln>
        </p:spPr>
      </p:cxnSp>
      <p:sp>
        <p:nvSpPr>
          <p:cNvPr id="679" name="Google Shape;679;p11"/>
          <p:cNvSpPr txBox="1"/>
          <p:nvPr/>
        </p:nvSpPr>
        <p:spPr>
          <a:xfrm>
            <a:off x="5120640" y="1572768"/>
            <a:ext cx="347472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Courier New"/>
              <a:buNone/>
            </a:pPr>
            <a:r>
              <a:rPr b="1" i="0" lang="en-US" sz="1000" u="none" cap="none" strike="noStrike">
                <a:solidFill>
                  <a:srgbClr val="3A5F0B"/>
                </a:solidFill>
                <a:latin typeface="Courier New"/>
                <a:ea typeface="Courier New"/>
                <a:cs typeface="Courier New"/>
                <a:sym typeface="Courier New"/>
              </a:rPr>
              <a:t>thrust::host_vector  ·  device_vector  ·  universal_vector</a:t>
            </a:r>
            <a:endParaRPr b="0" i="0" sz="1400" u="none" cap="none" strike="noStrike">
              <a:solidFill>
                <a:srgbClr val="000000"/>
              </a:solidFill>
              <a:latin typeface="Arial"/>
              <a:ea typeface="Arial"/>
              <a:cs typeface="Arial"/>
              <a:sym typeface="Arial"/>
            </a:endParaRPr>
          </a:p>
        </p:txBody>
      </p:sp>
      <p:sp>
        <p:nvSpPr>
          <p:cNvPr id="680" name="Google Shape;680;p11"/>
          <p:cNvSpPr/>
          <p:nvPr/>
        </p:nvSpPr>
        <p:spPr>
          <a:xfrm>
            <a:off x="457200" y="2121408"/>
            <a:ext cx="8229600" cy="475488"/>
          </a:xfrm>
          <a:prstGeom prst="roundRect">
            <a:avLst>
              <a:gd fmla="val 12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1"/>
          <p:cNvSpPr txBox="1"/>
          <p:nvPr/>
        </p:nvSpPr>
        <p:spPr>
          <a:xfrm>
            <a:off x="594360" y="2121408"/>
            <a:ext cx="155448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Algorithms</a:t>
            </a:r>
            <a:endParaRPr b="0" i="0" sz="1400" u="none" cap="none" strike="noStrike">
              <a:solidFill>
                <a:srgbClr val="000000"/>
              </a:solidFill>
              <a:latin typeface="Arial"/>
              <a:ea typeface="Arial"/>
              <a:cs typeface="Arial"/>
              <a:sym typeface="Arial"/>
            </a:endParaRPr>
          </a:p>
        </p:txBody>
      </p:sp>
      <p:sp>
        <p:nvSpPr>
          <p:cNvPr id="682" name="Google Shape;682;p11"/>
          <p:cNvSpPr txBox="1"/>
          <p:nvPr/>
        </p:nvSpPr>
        <p:spPr>
          <a:xfrm>
            <a:off x="2194560" y="2121408"/>
            <a:ext cx="274320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Courier New"/>
              <a:buNone/>
            </a:pPr>
            <a:r>
              <a:rPr b="0" i="0" lang="en-US" sz="1000" u="none" cap="none" strike="noStrike">
                <a:solidFill>
                  <a:srgbClr val="2B2B2B"/>
                </a:solidFill>
                <a:latin typeface="Courier New"/>
                <a:ea typeface="Courier New"/>
                <a:cs typeface="Courier New"/>
                <a:sym typeface="Courier New"/>
              </a:rPr>
              <a:t>std::copy / sort / transform</a:t>
            </a:r>
            <a:endParaRPr b="0" i="0" sz="1400" u="none" cap="none" strike="noStrike">
              <a:solidFill>
                <a:srgbClr val="000000"/>
              </a:solidFill>
              <a:latin typeface="Arial"/>
              <a:ea typeface="Arial"/>
              <a:cs typeface="Arial"/>
              <a:sym typeface="Arial"/>
            </a:endParaRPr>
          </a:p>
        </p:txBody>
      </p:sp>
      <p:cxnSp>
        <p:nvCxnSpPr>
          <p:cNvPr id="683" name="Google Shape;683;p11"/>
          <p:cNvCxnSpPr/>
          <p:nvPr/>
        </p:nvCxnSpPr>
        <p:spPr>
          <a:xfrm>
            <a:off x="4800600" y="2359152"/>
            <a:ext cx="228600" cy="0"/>
          </a:xfrm>
          <a:prstGeom prst="straightConnector1">
            <a:avLst/>
          </a:prstGeom>
          <a:noFill/>
          <a:ln cap="flat" cmpd="sng" w="19050">
            <a:solidFill>
              <a:srgbClr val="76B900"/>
            </a:solidFill>
            <a:prstDash val="solid"/>
            <a:round/>
            <a:headEnd len="sm" w="sm" type="none"/>
            <a:tailEnd len="med" w="med" type="triangle"/>
          </a:ln>
        </p:spPr>
      </p:cxnSp>
      <p:sp>
        <p:nvSpPr>
          <p:cNvPr id="684" name="Google Shape;684;p11"/>
          <p:cNvSpPr txBox="1"/>
          <p:nvPr/>
        </p:nvSpPr>
        <p:spPr>
          <a:xfrm>
            <a:off x="5120640" y="2121408"/>
            <a:ext cx="347472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Courier New"/>
              <a:buNone/>
            </a:pPr>
            <a:r>
              <a:rPr b="1" i="0" lang="en-US" sz="1000" u="none" cap="none" strike="noStrike">
                <a:solidFill>
                  <a:srgbClr val="3A5F0B"/>
                </a:solidFill>
                <a:latin typeface="Courier New"/>
                <a:ea typeface="Courier New"/>
                <a:cs typeface="Courier New"/>
                <a:sym typeface="Courier New"/>
              </a:rPr>
              <a:t>thrust::copy / sort / transform</a:t>
            </a:r>
            <a:endParaRPr b="0" i="0" sz="1400" u="none" cap="none" strike="noStrike">
              <a:solidFill>
                <a:srgbClr val="000000"/>
              </a:solidFill>
              <a:latin typeface="Arial"/>
              <a:ea typeface="Arial"/>
              <a:cs typeface="Arial"/>
              <a:sym typeface="Arial"/>
            </a:endParaRPr>
          </a:p>
        </p:txBody>
      </p:sp>
      <p:sp>
        <p:nvSpPr>
          <p:cNvPr id="685" name="Google Shape;685;p11"/>
          <p:cNvSpPr/>
          <p:nvPr/>
        </p:nvSpPr>
        <p:spPr>
          <a:xfrm>
            <a:off x="457200" y="2670048"/>
            <a:ext cx="8229600" cy="475488"/>
          </a:xfrm>
          <a:prstGeom prst="roundRect">
            <a:avLst>
              <a:gd fmla="val 12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1"/>
          <p:cNvSpPr txBox="1"/>
          <p:nvPr/>
        </p:nvSpPr>
        <p:spPr>
          <a:xfrm>
            <a:off x="594360" y="2670048"/>
            <a:ext cx="155448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Extended</a:t>
            </a:r>
            <a:endParaRPr b="0" i="0" sz="1400" u="none" cap="none" strike="noStrike">
              <a:solidFill>
                <a:srgbClr val="000000"/>
              </a:solidFill>
              <a:latin typeface="Arial"/>
              <a:ea typeface="Arial"/>
              <a:cs typeface="Arial"/>
              <a:sym typeface="Arial"/>
            </a:endParaRPr>
          </a:p>
        </p:txBody>
      </p:sp>
      <p:sp>
        <p:nvSpPr>
          <p:cNvPr id="687" name="Google Shape;687;p11"/>
          <p:cNvSpPr txBox="1"/>
          <p:nvPr/>
        </p:nvSpPr>
        <p:spPr>
          <a:xfrm>
            <a:off x="2194560" y="2670048"/>
            <a:ext cx="274320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Courier New"/>
              <a:buNone/>
            </a:pPr>
            <a:r>
              <a:rPr b="0" i="1" lang="en-US" sz="1000" u="none" cap="none" strike="noStrike">
                <a:solidFill>
                  <a:srgbClr val="6E6E6E"/>
                </a:solidFill>
                <a:latin typeface="Courier New"/>
                <a:ea typeface="Courier New"/>
                <a:cs typeface="Courier New"/>
                <a:sym typeface="Courier New"/>
              </a:rPr>
              <a:t>(no std:: version)</a:t>
            </a:r>
            <a:endParaRPr b="0" i="0" sz="1400" u="none" cap="none" strike="noStrike">
              <a:solidFill>
                <a:srgbClr val="000000"/>
              </a:solidFill>
              <a:latin typeface="Arial"/>
              <a:ea typeface="Arial"/>
              <a:cs typeface="Arial"/>
              <a:sym typeface="Arial"/>
            </a:endParaRPr>
          </a:p>
        </p:txBody>
      </p:sp>
      <p:cxnSp>
        <p:nvCxnSpPr>
          <p:cNvPr id="688" name="Google Shape;688;p11"/>
          <p:cNvCxnSpPr/>
          <p:nvPr/>
        </p:nvCxnSpPr>
        <p:spPr>
          <a:xfrm>
            <a:off x="4800600" y="2907792"/>
            <a:ext cx="228600" cy="0"/>
          </a:xfrm>
          <a:prstGeom prst="straightConnector1">
            <a:avLst/>
          </a:prstGeom>
          <a:noFill/>
          <a:ln cap="flat" cmpd="sng" w="19050">
            <a:solidFill>
              <a:srgbClr val="76B900"/>
            </a:solidFill>
            <a:prstDash val="solid"/>
            <a:round/>
            <a:headEnd len="sm" w="sm" type="none"/>
            <a:tailEnd len="med" w="med" type="triangle"/>
          </a:ln>
        </p:spPr>
      </p:cxnSp>
      <p:sp>
        <p:nvSpPr>
          <p:cNvPr id="689" name="Google Shape;689;p11"/>
          <p:cNvSpPr txBox="1"/>
          <p:nvPr/>
        </p:nvSpPr>
        <p:spPr>
          <a:xfrm>
            <a:off x="5120640" y="2670048"/>
            <a:ext cx="347472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Courier New"/>
              <a:buNone/>
            </a:pPr>
            <a:r>
              <a:rPr b="1" i="0" lang="en-US" sz="1000" u="none" cap="none" strike="noStrike">
                <a:solidFill>
                  <a:srgbClr val="3A5F0B"/>
                </a:solidFill>
                <a:latin typeface="Courier New"/>
                <a:ea typeface="Courier New"/>
                <a:cs typeface="Courier New"/>
                <a:sym typeface="Courier New"/>
              </a:rPr>
              <a:t>thrust::tabulate  ·  sort_by_key  ·  reduce_by_key</a:t>
            </a:r>
            <a:endParaRPr b="0" i="0" sz="1400" u="none" cap="none" strike="noStrike">
              <a:solidFill>
                <a:srgbClr val="000000"/>
              </a:solidFill>
              <a:latin typeface="Arial"/>
              <a:ea typeface="Arial"/>
              <a:cs typeface="Arial"/>
              <a:sym typeface="Arial"/>
            </a:endParaRPr>
          </a:p>
        </p:txBody>
      </p:sp>
      <p:sp>
        <p:nvSpPr>
          <p:cNvPr id="690" name="Google Shape;690;p11"/>
          <p:cNvSpPr/>
          <p:nvPr/>
        </p:nvSpPr>
        <p:spPr>
          <a:xfrm>
            <a:off x="457200" y="3218688"/>
            <a:ext cx="8229600" cy="475488"/>
          </a:xfrm>
          <a:prstGeom prst="roundRect">
            <a:avLst>
              <a:gd fmla="val 12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1"/>
          <p:cNvSpPr txBox="1"/>
          <p:nvPr/>
        </p:nvSpPr>
        <p:spPr>
          <a:xfrm>
            <a:off x="594360" y="3218688"/>
            <a:ext cx="155448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Function objects</a:t>
            </a:r>
            <a:endParaRPr b="0" i="0" sz="1400" u="none" cap="none" strike="noStrike">
              <a:solidFill>
                <a:srgbClr val="000000"/>
              </a:solidFill>
              <a:latin typeface="Arial"/>
              <a:ea typeface="Arial"/>
              <a:cs typeface="Arial"/>
              <a:sym typeface="Arial"/>
            </a:endParaRPr>
          </a:p>
        </p:txBody>
      </p:sp>
      <p:sp>
        <p:nvSpPr>
          <p:cNvPr id="692" name="Google Shape;692;p11"/>
          <p:cNvSpPr txBox="1"/>
          <p:nvPr/>
        </p:nvSpPr>
        <p:spPr>
          <a:xfrm>
            <a:off x="2194560" y="3218688"/>
            <a:ext cx="274320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000"/>
              <a:buFont typeface="Courier New"/>
              <a:buNone/>
            </a:pPr>
            <a:r>
              <a:rPr b="0" i="0" lang="en-US" sz="1000" u="none" cap="none" strike="noStrike">
                <a:solidFill>
                  <a:srgbClr val="2B2B2B"/>
                </a:solidFill>
                <a:latin typeface="Courier New"/>
                <a:ea typeface="Courier New"/>
                <a:cs typeface="Courier New"/>
                <a:sym typeface="Courier New"/>
              </a:rPr>
              <a:t>std::plus / less / multiplies</a:t>
            </a:r>
            <a:endParaRPr b="0" i="0" sz="1400" u="none" cap="none" strike="noStrike">
              <a:solidFill>
                <a:srgbClr val="000000"/>
              </a:solidFill>
              <a:latin typeface="Arial"/>
              <a:ea typeface="Arial"/>
              <a:cs typeface="Arial"/>
              <a:sym typeface="Arial"/>
            </a:endParaRPr>
          </a:p>
        </p:txBody>
      </p:sp>
      <p:cxnSp>
        <p:nvCxnSpPr>
          <p:cNvPr id="693" name="Google Shape;693;p11"/>
          <p:cNvCxnSpPr/>
          <p:nvPr/>
        </p:nvCxnSpPr>
        <p:spPr>
          <a:xfrm>
            <a:off x="4800600" y="3456432"/>
            <a:ext cx="228600" cy="0"/>
          </a:xfrm>
          <a:prstGeom prst="straightConnector1">
            <a:avLst/>
          </a:prstGeom>
          <a:noFill/>
          <a:ln cap="flat" cmpd="sng" w="19050">
            <a:solidFill>
              <a:srgbClr val="76B900"/>
            </a:solidFill>
            <a:prstDash val="solid"/>
            <a:round/>
            <a:headEnd len="sm" w="sm" type="none"/>
            <a:tailEnd len="med" w="med" type="triangle"/>
          </a:ln>
        </p:spPr>
      </p:cxnSp>
      <p:sp>
        <p:nvSpPr>
          <p:cNvPr id="694" name="Google Shape;694;p11"/>
          <p:cNvSpPr txBox="1"/>
          <p:nvPr/>
        </p:nvSpPr>
        <p:spPr>
          <a:xfrm>
            <a:off x="5120640" y="3218688"/>
            <a:ext cx="347472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Courier New"/>
              <a:buNone/>
            </a:pPr>
            <a:r>
              <a:rPr b="1" i="0" lang="en-US" sz="1000" u="none" cap="none" strike="noStrike">
                <a:solidFill>
                  <a:srgbClr val="3A5F0B"/>
                </a:solidFill>
                <a:latin typeface="Courier New"/>
                <a:ea typeface="Courier New"/>
                <a:cs typeface="Courier New"/>
                <a:sym typeface="Courier New"/>
              </a:rPr>
              <a:t>thrust::plus / less / multiplies</a:t>
            </a:r>
            <a:endParaRPr b="0" i="0" sz="1400" u="none" cap="none" strike="noStrike">
              <a:solidFill>
                <a:srgbClr val="000000"/>
              </a:solidFill>
              <a:latin typeface="Arial"/>
              <a:ea typeface="Arial"/>
              <a:cs typeface="Arial"/>
              <a:sym typeface="Arial"/>
            </a:endParaRPr>
          </a:p>
        </p:txBody>
      </p:sp>
      <p:sp>
        <p:nvSpPr>
          <p:cNvPr id="695" name="Google Shape;695;p11"/>
          <p:cNvSpPr/>
          <p:nvPr/>
        </p:nvSpPr>
        <p:spPr>
          <a:xfrm>
            <a:off x="457200" y="3767328"/>
            <a:ext cx="8229600" cy="475488"/>
          </a:xfrm>
          <a:prstGeom prst="roundRect">
            <a:avLst>
              <a:gd fmla="val 12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1"/>
          <p:cNvSpPr txBox="1"/>
          <p:nvPr/>
        </p:nvSpPr>
        <p:spPr>
          <a:xfrm>
            <a:off x="594360" y="3767328"/>
            <a:ext cx="155448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Iterators</a:t>
            </a:r>
            <a:endParaRPr b="0" i="0" sz="1400" u="none" cap="none" strike="noStrike">
              <a:solidFill>
                <a:srgbClr val="000000"/>
              </a:solidFill>
              <a:latin typeface="Arial"/>
              <a:ea typeface="Arial"/>
              <a:cs typeface="Arial"/>
              <a:sym typeface="Arial"/>
            </a:endParaRPr>
          </a:p>
        </p:txBody>
      </p:sp>
      <p:sp>
        <p:nvSpPr>
          <p:cNvPr id="697" name="Google Shape;697;p11"/>
          <p:cNvSpPr txBox="1"/>
          <p:nvPr/>
        </p:nvSpPr>
        <p:spPr>
          <a:xfrm>
            <a:off x="2194560" y="3767328"/>
            <a:ext cx="274320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Courier New"/>
              <a:buNone/>
            </a:pPr>
            <a:r>
              <a:rPr b="0" i="1" lang="en-US" sz="1000" u="none" cap="none" strike="noStrike">
                <a:solidFill>
                  <a:srgbClr val="6E6E6E"/>
                </a:solidFill>
                <a:latin typeface="Courier New"/>
                <a:ea typeface="Courier New"/>
                <a:cs typeface="Courier New"/>
                <a:sym typeface="Courier New"/>
              </a:rPr>
              <a:t>(no std:: version)</a:t>
            </a:r>
            <a:endParaRPr b="0" i="0" sz="1400" u="none" cap="none" strike="noStrike">
              <a:solidFill>
                <a:srgbClr val="000000"/>
              </a:solidFill>
              <a:latin typeface="Arial"/>
              <a:ea typeface="Arial"/>
              <a:cs typeface="Arial"/>
              <a:sym typeface="Arial"/>
            </a:endParaRPr>
          </a:p>
        </p:txBody>
      </p:sp>
      <p:cxnSp>
        <p:nvCxnSpPr>
          <p:cNvPr id="698" name="Google Shape;698;p11"/>
          <p:cNvCxnSpPr/>
          <p:nvPr/>
        </p:nvCxnSpPr>
        <p:spPr>
          <a:xfrm>
            <a:off x="4800600" y="4005072"/>
            <a:ext cx="228600" cy="0"/>
          </a:xfrm>
          <a:prstGeom prst="straightConnector1">
            <a:avLst/>
          </a:prstGeom>
          <a:noFill/>
          <a:ln cap="flat" cmpd="sng" w="19050">
            <a:solidFill>
              <a:srgbClr val="76B900"/>
            </a:solidFill>
            <a:prstDash val="solid"/>
            <a:round/>
            <a:headEnd len="sm" w="sm" type="none"/>
            <a:tailEnd len="med" w="med" type="triangle"/>
          </a:ln>
        </p:spPr>
      </p:cxnSp>
      <p:sp>
        <p:nvSpPr>
          <p:cNvPr id="699" name="Google Shape;699;p11"/>
          <p:cNvSpPr txBox="1"/>
          <p:nvPr/>
        </p:nvSpPr>
        <p:spPr>
          <a:xfrm>
            <a:off x="5120640" y="3767328"/>
            <a:ext cx="3474720" cy="47548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Courier New"/>
              <a:buNone/>
            </a:pPr>
            <a:r>
              <a:rPr b="1" i="0" lang="en-US" sz="1000" u="none" cap="none" strike="noStrike">
                <a:solidFill>
                  <a:srgbClr val="3A5F0B"/>
                </a:solidFill>
                <a:latin typeface="Courier New"/>
                <a:ea typeface="Courier New"/>
                <a:cs typeface="Courier New"/>
                <a:sym typeface="Courier New"/>
              </a:rPr>
              <a:t>thrust::counting_iterator  ·  transform_iterator</a:t>
            </a:r>
            <a:endParaRPr b="0" i="0" sz="1400" u="none" cap="none" strike="noStrike">
              <a:solidFill>
                <a:srgbClr val="000000"/>
              </a:solidFill>
              <a:latin typeface="Arial"/>
              <a:ea typeface="Arial"/>
              <a:cs typeface="Arial"/>
              <a:sym typeface="Arial"/>
            </a:endParaRPr>
          </a:p>
        </p:txBody>
      </p:sp>
      <p:sp>
        <p:nvSpPr>
          <p:cNvPr id="700" name="Google Shape;700;p11"/>
          <p:cNvSpPr txBox="1"/>
          <p:nvPr/>
        </p:nvSpPr>
        <p:spPr>
          <a:xfrm>
            <a:off x="457200" y="4389120"/>
            <a:ext cx="8229600" cy="320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0" i="1" lang="en-US" sz="1000" u="none" cap="none" strike="noStrike">
                <a:solidFill>
                  <a:srgbClr val="6E6E6E"/>
                </a:solidFill>
                <a:latin typeface="Arial"/>
                <a:ea typeface="Arial"/>
                <a:cs typeface="Arial"/>
                <a:sym typeface="Arial"/>
              </a:rPr>
              <a:t>Full reference: nvidia.github.io/cccl/thrust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12"/>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Execution policy: tell Thrust where to run</a:t>
            </a:r>
            <a:endParaRPr b="0" i="0" sz="1400" u="none" cap="none" strike="noStrike">
              <a:solidFill>
                <a:srgbClr val="000000"/>
              </a:solidFill>
              <a:latin typeface="Arial"/>
              <a:ea typeface="Arial"/>
              <a:cs typeface="Arial"/>
              <a:sym typeface="Arial"/>
            </a:endParaRPr>
          </a:p>
        </p:txBody>
      </p:sp>
      <p:sp>
        <p:nvSpPr>
          <p:cNvPr id="707" name="Google Shape;707;p12"/>
          <p:cNvSpPr txBox="1"/>
          <p:nvPr/>
        </p:nvSpPr>
        <p:spPr>
          <a:xfrm>
            <a:off x="457200" y="1005840"/>
            <a:ext cx="3931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6FB5"/>
              </a:buClr>
              <a:buSzPts val="1300"/>
              <a:buFont typeface="Arial"/>
              <a:buNone/>
            </a:pPr>
            <a:r>
              <a:rPr b="1" i="0" lang="en-US" sz="1300" u="none" cap="none" strike="noStrike">
                <a:solidFill>
                  <a:srgbClr val="3F6FB5"/>
                </a:solidFill>
                <a:latin typeface="Arial"/>
                <a:ea typeface="Arial"/>
                <a:cs typeface="Arial"/>
                <a:sym typeface="Arial"/>
              </a:rPr>
              <a:t>Standard C++</a:t>
            </a:r>
            <a:endParaRPr b="0" i="0" sz="1400" u="none" cap="none" strike="noStrike">
              <a:solidFill>
                <a:srgbClr val="000000"/>
              </a:solidFill>
              <a:latin typeface="Arial"/>
              <a:ea typeface="Arial"/>
              <a:cs typeface="Arial"/>
              <a:sym typeface="Arial"/>
            </a:endParaRPr>
          </a:p>
        </p:txBody>
      </p:sp>
      <p:sp>
        <p:nvSpPr>
          <p:cNvPr id="708" name="Google Shape;708;p12"/>
          <p:cNvSpPr/>
          <p:nvPr/>
        </p:nvSpPr>
        <p:spPr>
          <a:xfrm>
            <a:off x="457200" y="1325880"/>
            <a:ext cx="3931920" cy="96012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2"/>
          <p:cNvSpPr txBox="1"/>
          <p:nvPr/>
        </p:nvSpPr>
        <p:spPr>
          <a:xfrm>
            <a:off x="640080" y="1463040"/>
            <a:ext cx="3566160" cy="685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1100"/>
              <a:buFont typeface="Courier New"/>
              <a:buNone/>
            </a:pPr>
            <a:r>
              <a:rPr b="0" i="0" lang="en-US" sz="1100" u="none" cap="none" strike="noStrike">
                <a:solidFill>
                  <a:srgbClr val="9CDCFE"/>
                </a:solidFill>
                <a:latin typeface="Courier New"/>
                <a:ea typeface="Courier New"/>
                <a:cs typeface="Courier New"/>
                <a:sym typeface="Courier New"/>
              </a:rPr>
              <a:t>std::transform</a:t>
            </a:r>
            <a:r>
              <a:rPr b="0" i="0" lang="en-US" sz="1100" u="none" cap="none" strike="noStrike">
                <a:solidFill>
                  <a:srgbClr val="EDEDED"/>
                </a:solidFill>
                <a:latin typeface="Courier New"/>
                <a:ea typeface="Courier New"/>
                <a:cs typeface="Courier New"/>
                <a:sym typeface="Courier New"/>
              </a:rPr>
              <a:t>(temp.begin(), temp.end(),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100"/>
              <a:buFont typeface="Courier New"/>
              <a:buNone/>
            </a:pPr>
            <a:r>
              <a:rPr b="0" i="0" lang="en-US" sz="1100" u="none" cap="none" strike="noStrike">
                <a:solidFill>
                  <a:srgbClr val="EDEDED"/>
                </a:solidFill>
                <a:latin typeface="Courier New"/>
                <a:ea typeface="Courier New"/>
                <a:cs typeface="Courier New"/>
                <a:sym typeface="Courier New"/>
              </a:rPr>
              <a:t>               temp.begin(), op);</a:t>
            </a:r>
            <a:endParaRPr b="0" i="0" sz="1400" u="none" cap="none" strike="noStrike">
              <a:solidFill>
                <a:srgbClr val="000000"/>
              </a:solidFill>
              <a:latin typeface="Arial"/>
              <a:ea typeface="Arial"/>
              <a:cs typeface="Arial"/>
              <a:sym typeface="Arial"/>
            </a:endParaRPr>
          </a:p>
        </p:txBody>
      </p:sp>
      <p:sp>
        <p:nvSpPr>
          <p:cNvPr id="710" name="Google Shape;710;p12"/>
          <p:cNvSpPr txBox="1"/>
          <p:nvPr/>
        </p:nvSpPr>
        <p:spPr>
          <a:xfrm>
            <a:off x="4754880" y="1005840"/>
            <a:ext cx="3931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4E7A00"/>
              </a:buClr>
              <a:buSzPts val="1300"/>
              <a:buFont typeface="Arial"/>
              <a:buNone/>
            </a:pPr>
            <a:r>
              <a:rPr b="1" i="0" lang="en-US" sz="1300" u="none" cap="none" strike="noStrike">
                <a:solidFill>
                  <a:srgbClr val="4E7A00"/>
                </a:solidFill>
                <a:latin typeface="Arial"/>
                <a:ea typeface="Arial"/>
                <a:cs typeface="Arial"/>
                <a:sym typeface="Arial"/>
              </a:rPr>
              <a:t>CUDA C++ with Thrust</a:t>
            </a:r>
            <a:endParaRPr b="0" i="0" sz="1400" u="none" cap="none" strike="noStrike">
              <a:solidFill>
                <a:srgbClr val="000000"/>
              </a:solidFill>
              <a:latin typeface="Arial"/>
              <a:ea typeface="Arial"/>
              <a:cs typeface="Arial"/>
              <a:sym typeface="Arial"/>
            </a:endParaRPr>
          </a:p>
        </p:txBody>
      </p:sp>
      <p:sp>
        <p:nvSpPr>
          <p:cNvPr id="711" name="Google Shape;711;p12"/>
          <p:cNvSpPr/>
          <p:nvPr/>
        </p:nvSpPr>
        <p:spPr>
          <a:xfrm>
            <a:off x="4754880" y="1325880"/>
            <a:ext cx="3931920" cy="96012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2"/>
          <p:cNvSpPr txBox="1"/>
          <p:nvPr/>
        </p:nvSpPr>
        <p:spPr>
          <a:xfrm>
            <a:off x="4937760" y="1463040"/>
            <a:ext cx="3566160" cy="685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1100"/>
              <a:buFont typeface="Courier New"/>
              <a:buNone/>
            </a:pPr>
            <a:r>
              <a:rPr b="0" i="0" lang="en-US" sz="1100" u="none" cap="none" strike="noStrike">
                <a:solidFill>
                  <a:srgbClr val="9CDCFE"/>
                </a:solidFill>
                <a:latin typeface="Courier New"/>
                <a:ea typeface="Courier New"/>
                <a:cs typeface="Courier New"/>
                <a:sym typeface="Courier New"/>
              </a:rPr>
              <a:t>thrust::transform</a:t>
            </a:r>
            <a:r>
              <a:rPr b="0" i="0" lang="en-US" sz="1100" u="none" cap="none" strike="noStrike">
                <a:solidFill>
                  <a:srgbClr val="EDEDED"/>
                </a:solidFill>
                <a:latin typeface="Courier New"/>
                <a:ea typeface="Courier New"/>
                <a:cs typeface="Courier New"/>
                <a:sym typeface="Courier New"/>
              </a:rPr>
              <a:t>(</a:t>
            </a:r>
            <a:r>
              <a:rPr b="1" i="0" lang="en-US" sz="1100" u="none" cap="none" strike="noStrike">
                <a:solidFill>
                  <a:srgbClr val="76B900"/>
                </a:solidFill>
                <a:latin typeface="Courier New"/>
                <a:ea typeface="Courier New"/>
                <a:cs typeface="Courier New"/>
                <a:sym typeface="Courier New"/>
              </a:rPr>
              <a:t>thrust::device</a:t>
            </a:r>
            <a:r>
              <a:rPr b="0" i="0" lang="en-US" sz="110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100"/>
              <a:buFont typeface="Courier New"/>
              <a:buNone/>
            </a:pPr>
            <a:r>
              <a:rPr b="0" i="0" lang="en-US" sz="1100" u="none" cap="none" strike="noStrike">
                <a:solidFill>
                  <a:srgbClr val="EDEDED"/>
                </a:solidFill>
                <a:latin typeface="Courier New"/>
                <a:ea typeface="Courier New"/>
                <a:cs typeface="Courier New"/>
                <a:sym typeface="Courier New"/>
              </a:rPr>
              <a:t>    temp.begin(), temp.end(),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100"/>
              <a:buFont typeface="Courier New"/>
              <a:buNone/>
            </a:pPr>
            <a:r>
              <a:rPr b="0" i="0" lang="en-US" sz="1100" u="none" cap="none" strike="noStrike">
                <a:solidFill>
                  <a:srgbClr val="EDEDED"/>
                </a:solidFill>
                <a:latin typeface="Courier New"/>
                <a:ea typeface="Courier New"/>
                <a:cs typeface="Courier New"/>
                <a:sym typeface="Courier New"/>
              </a:rPr>
              <a:t>    temp.begin(), op);</a:t>
            </a:r>
            <a:endParaRPr b="0" i="0" sz="1400" u="none" cap="none" strike="noStrike">
              <a:solidFill>
                <a:srgbClr val="000000"/>
              </a:solidFill>
              <a:latin typeface="Arial"/>
              <a:ea typeface="Arial"/>
              <a:cs typeface="Arial"/>
              <a:sym typeface="Arial"/>
            </a:endParaRPr>
          </a:p>
        </p:txBody>
      </p:sp>
      <p:sp>
        <p:nvSpPr>
          <p:cNvPr id="713" name="Google Shape;713;p12"/>
          <p:cNvSpPr txBox="1"/>
          <p:nvPr/>
        </p:nvSpPr>
        <p:spPr>
          <a:xfrm>
            <a:off x="4754880" y="2331720"/>
            <a:ext cx="3931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0" i="1" lang="en-US" sz="1000" u="none" cap="none" strike="noStrike">
                <a:solidFill>
                  <a:srgbClr val="6E6E6E"/>
                </a:solidFill>
                <a:latin typeface="Arial"/>
                <a:ea typeface="Arial"/>
                <a:cs typeface="Arial"/>
                <a:sym typeface="Arial"/>
              </a:rPr>
              <a:t>Only change: one extra first argument</a:t>
            </a:r>
            <a:endParaRPr b="0" i="0" sz="1400" u="none" cap="none" strike="noStrike">
              <a:solidFill>
                <a:srgbClr val="000000"/>
              </a:solidFill>
              <a:latin typeface="Arial"/>
              <a:ea typeface="Arial"/>
              <a:cs typeface="Arial"/>
              <a:sym typeface="Arial"/>
            </a:endParaRPr>
          </a:p>
        </p:txBody>
      </p:sp>
      <p:sp>
        <p:nvSpPr>
          <p:cNvPr id="714" name="Google Shape;714;p12"/>
          <p:cNvSpPr/>
          <p:nvPr/>
        </p:nvSpPr>
        <p:spPr>
          <a:xfrm>
            <a:off x="457200" y="2788920"/>
            <a:ext cx="3931920" cy="1005840"/>
          </a:xfrm>
          <a:prstGeom prst="roundRect">
            <a:avLst>
              <a:gd fmla="val 8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12"/>
          <p:cNvSpPr txBox="1"/>
          <p:nvPr/>
        </p:nvSpPr>
        <p:spPr>
          <a:xfrm>
            <a:off x="640080" y="2852928"/>
            <a:ext cx="3657600" cy="914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500"/>
              <a:buFont typeface="Courier New"/>
              <a:buNone/>
            </a:pPr>
            <a:r>
              <a:rPr b="1" i="0" lang="en-US" sz="1500" u="none" cap="none" strike="noStrike">
                <a:solidFill>
                  <a:srgbClr val="500000"/>
                </a:solidFill>
                <a:latin typeface="Courier New"/>
                <a:ea typeface="Courier New"/>
                <a:cs typeface="Courier New"/>
                <a:sym typeface="Courier New"/>
              </a:rPr>
              <a:t>thrust::host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500000"/>
              </a:buClr>
              <a:buSzPts val="1200"/>
              <a:buFont typeface="Arial"/>
              <a:buNone/>
            </a:pPr>
            <a:r>
              <a:rPr b="0" i="0" lang="en-US" sz="1200" u="none" cap="none" strike="noStrike">
                <a:solidFill>
                  <a:srgbClr val="500000"/>
                </a:solidFill>
                <a:latin typeface="Arial"/>
                <a:ea typeface="Arial"/>
                <a:cs typeface="Arial"/>
                <a:sym typeface="Arial"/>
              </a:rPr>
              <a:t>→ </a:t>
            </a:r>
            <a:r>
              <a:rPr b="1" i="0" lang="en-US" sz="1200" u="none" cap="none" strike="noStrike">
                <a:solidFill>
                  <a:srgbClr val="2B2B2B"/>
                </a:solidFill>
                <a:latin typeface="Arial"/>
                <a:ea typeface="Arial"/>
                <a:cs typeface="Arial"/>
                <a:sym typeface="Arial"/>
              </a:rPr>
              <a:t>CPU (host)</a:t>
            </a:r>
            <a:r>
              <a:rPr b="0" i="0" lang="en-US" sz="1100" u="none" cap="none" strike="noStrike">
                <a:solidFill>
                  <a:srgbClr val="6E6E6E"/>
                </a:solidFill>
                <a:latin typeface="Arial"/>
                <a:ea typeface="Arial"/>
                <a:cs typeface="Arial"/>
                <a:sym typeface="Arial"/>
              </a:rPr>
              <a:t>   Runs the algorithm on the CPU.</a:t>
            </a:r>
            <a:endParaRPr b="0" i="0" sz="1400" u="none" cap="none" strike="noStrike">
              <a:solidFill>
                <a:srgbClr val="000000"/>
              </a:solidFill>
              <a:latin typeface="Arial"/>
              <a:ea typeface="Arial"/>
              <a:cs typeface="Arial"/>
              <a:sym typeface="Arial"/>
            </a:endParaRPr>
          </a:p>
        </p:txBody>
      </p:sp>
      <p:sp>
        <p:nvSpPr>
          <p:cNvPr id="716" name="Google Shape;716;p12"/>
          <p:cNvSpPr/>
          <p:nvPr/>
        </p:nvSpPr>
        <p:spPr>
          <a:xfrm>
            <a:off x="4754880" y="2788920"/>
            <a:ext cx="3931920" cy="1005840"/>
          </a:xfrm>
          <a:prstGeom prst="roundRect">
            <a:avLst>
              <a:gd fmla="val 8000" name="adj"/>
            </a:avLst>
          </a:prstGeom>
          <a:solidFill>
            <a:srgbClr val="EEF6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2"/>
          <p:cNvSpPr txBox="1"/>
          <p:nvPr/>
        </p:nvSpPr>
        <p:spPr>
          <a:xfrm>
            <a:off x="4937760" y="2852928"/>
            <a:ext cx="3657600" cy="914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4E7A00"/>
              </a:buClr>
              <a:buSzPts val="1500"/>
              <a:buFont typeface="Courier New"/>
              <a:buNone/>
            </a:pPr>
            <a:r>
              <a:rPr b="1" i="0" lang="en-US" sz="1500" u="none" cap="none" strike="noStrike">
                <a:solidFill>
                  <a:srgbClr val="4E7A00"/>
                </a:solidFill>
                <a:latin typeface="Courier New"/>
                <a:ea typeface="Courier New"/>
                <a:cs typeface="Courier New"/>
                <a:sym typeface="Courier New"/>
              </a:rPr>
              <a:t>thrust::device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4E7A00"/>
              </a:buClr>
              <a:buSzPts val="1200"/>
              <a:buFont typeface="Arial"/>
              <a:buNone/>
            </a:pPr>
            <a:r>
              <a:rPr b="0" i="0" lang="en-US" sz="1200" u="none" cap="none" strike="noStrike">
                <a:solidFill>
                  <a:srgbClr val="4E7A00"/>
                </a:solidFill>
                <a:latin typeface="Arial"/>
                <a:ea typeface="Arial"/>
                <a:cs typeface="Arial"/>
                <a:sym typeface="Arial"/>
              </a:rPr>
              <a:t>→ </a:t>
            </a:r>
            <a:r>
              <a:rPr b="1" i="0" lang="en-US" sz="1200" u="none" cap="none" strike="noStrike">
                <a:solidFill>
                  <a:srgbClr val="2B2B2B"/>
                </a:solidFill>
                <a:latin typeface="Arial"/>
                <a:ea typeface="Arial"/>
                <a:cs typeface="Arial"/>
                <a:sym typeface="Arial"/>
              </a:rPr>
              <a:t>GPU (device)</a:t>
            </a:r>
            <a:r>
              <a:rPr b="0" i="0" lang="en-US" sz="1100" u="none" cap="none" strike="noStrike">
                <a:solidFill>
                  <a:srgbClr val="6E6E6E"/>
                </a:solidFill>
                <a:latin typeface="Arial"/>
                <a:ea typeface="Arial"/>
                <a:cs typeface="Arial"/>
                <a:sym typeface="Arial"/>
              </a:rPr>
              <a:t>   Runs the algorithm on the GPU.</a:t>
            </a:r>
            <a:endParaRPr b="0" i="0" sz="1400" u="none" cap="none" strike="noStrike">
              <a:solidFill>
                <a:srgbClr val="000000"/>
              </a:solidFill>
              <a:latin typeface="Arial"/>
              <a:ea typeface="Arial"/>
              <a:cs typeface="Arial"/>
              <a:sym typeface="Arial"/>
            </a:endParaRPr>
          </a:p>
        </p:txBody>
      </p:sp>
      <p:sp>
        <p:nvSpPr>
          <p:cNvPr id="718" name="Google Shape;718;p12"/>
          <p:cNvSpPr txBox="1"/>
          <p:nvPr/>
        </p:nvSpPr>
        <p:spPr>
          <a:xfrm>
            <a:off x="457200" y="3977640"/>
            <a:ext cx="8229600" cy="5486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B2B2B"/>
              </a:buClr>
              <a:buSzPts val="1200"/>
              <a:buFont typeface="Arial"/>
              <a:buNone/>
            </a:pPr>
            <a:r>
              <a:rPr b="0" i="0" lang="en-US" sz="1200" u="none" cap="none" strike="noStrike">
                <a:solidFill>
                  <a:srgbClr val="2B2B2B"/>
                </a:solidFill>
                <a:latin typeface="Arial"/>
                <a:ea typeface="Arial"/>
                <a:cs typeface="Arial"/>
                <a:sym typeface="Arial"/>
              </a:rPr>
              <a:t>Same interface on both sides, so the same code can run on the CPU or the GPU by swapping one word.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13"/>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Policy vs specifier: two different jobs</a:t>
            </a:r>
            <a:endParaRPr b="0" i="0" sz="1400" u="none" cap="none" strike="noStrike">
              <a:solidFill>
                <a:srgbClr val="000000"/>
              </a:solidFill>
              <a:latin typeface="Arial"/>
              <a:ea typeface="Arial"/>
              <a:cs typeface="Arial"/>
              <a:sym typeface="Arial"/>
            </a:endParaRPr>
          </a:p>
        </p:txBody>
      </p:sp>
      <p:sp>
        <p:nvSpPr>
          <p:cNvPr id="725" name="Google Shape;725;p13"/>
          <p:cNvSpPr/>
          <p:nvPr/>
        </p:nvSpPr>
        <p:spPr>
          <a:xfrm>
            <a:off x="457200" y="1051560"/>
            <a:ext cx="3931920" cy="1965960"/>
          </a:xfrm>
          <a:prstGeom prst="roundRect">
            <a:avLst>
              <a:gd fmla="val 6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3"/>
          <p:cNvSpPr txBox="1"/>
          <p:nvPr/>
        </p:nvSpPr>
        <p:spPr>
          <a:xfrm>
            <a:off x="621792" y="1188720"/>
            <a:ext cx="3602736" cy="16916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Execution policy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500000"/>
              </a:buClr>
              <a:buSzPts val="1100"/>
              <a:buFont typeface="Courier New"/>
              <a:buNone/>
            </a:pPr>
            <a:r>
              <a:rPr b="1" i="0" lang="en-US" sz="1100" u="none" cap="none" strike="noStrike">
                <a:solidFill>
                  <a:srgbClr val="500000"/>
                </a:solidFill>
                <a:latin typeface="Courier New"/>
                <a:ea typeface="Courier New"/>
                <a:cs typeface="Courier New"/>
                <a:sym typeface="Courier New"/>
              </a:rPr>
              <a:t>thrust::host</a:t>
            </a:r>
            <a:r>
              <a:rPr b="0" i="0" lang="en-US" sz="1100" u="none" cap="none" strike="noStrike">
                <a:solidFill>
                  <a:srgbClr val="2B2B2B"/>
                </a:solidFill>
                <a:latin typeface="Arial"/>
                <a:ea typeface="Arial"/>
                <a:cs typeface="Arial"/>
                <a:sym typeface="Arial"/>
              </a:rPr>
              <a:t>  /  </a:t>
            </a:r>
            <a:r>
              <a:rPr b="1" i="0" lang="en-US" sz="1100" u="none" cap="none" strike="noStrike">
                <a:solidFill>
                  <a:srgbClr val="4E7A00"/>
                </a:solidFill>
                <a:latin typeface="Courier New"/>
                <a:ea typeface="Courier New"/>
                <a:cs typeface="Courier New"/>
                <a:sym typeface="Courier New"/>
              </a:rPr>
              <a:t>thrust::device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Decided at </a:t>
            </a:r>
            <a:r>
              <a:rPr b="1" i="0" lang="en-US" sz="1100" u="none" cap="none" strike="noStrike">
                <a:solidFill>
                  <a:srgbClr val="2B2B2B"/>
                </a:solidFill>
                <a:latin typeface="Arial"/>
                <a:ea typeface="Arial"/>
                <a:cs typeface="Arial"/>
                <a:sym typeface="Arial"/>
              </a:rPr>
              <a:t>run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Picks </a:t>
            </a:r>
            <a:r>
              <a:rPr b="1" i="0" lang="en-US" sz="1100" u="none" cap="none" strike="noStrike">
                <a:solidFill>
                  <a:srgbClr val="2B2B2B"/>
                </a:solidFill>
                <a:latin typeface="Arial"/>
                <a:ea typeface="Arial"/>
                <a:cs typeface="Arial"/>
                <a:sym typeface="Arial"/>
              </a:rPr>
              <a:t>WHERE</a:t>
            </a:r>
            <a:r>
              <a:rPr b="0" i="0" lang="en-US" sz="1100" u="none" cap="none" strike="noStrike">
                <a:solidFill>
                  <a:srgbClr val="2B2B2B"/>
                </a:solidFill>
                <a:latin typeface="Arial"/>
                <a:ea typeface="Arial"/>
                <a:cs typeface="Arial"/>
                <a:sym typeface="Arial"/>
              </a:rPr>
              <a:t> the algorithm will run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Does not compile anything for that place</a:t>
            </a:r>
            <a:endParaRPr b="0" i="0" sz="1400" u="none" cap="none" strike="noStrike">
              <a:solidFill>
                <a:srgbClr val="000000"/>
              </a:solidFill>
              <a:latin typeface="Arial"/>
              <a:ea typeface="Arial"/>
              <a:cs typeface="Arial"/>
              <a:sym typeface="Arial"/>
            </a:endParaRPr>
          </a:p>
        </p:txBody>
      </p:sp>
      <p:sp>
        <p:nvSpPr>
          <p:cNvPr id="727" name="Google Shape;727;p13"/>
          <p:cNvSpPr/>
          <p:nvPr/>
        </p:nvSpPr>
        <p:spPr>
          <a:xfrm>
            <a:off x="4754880" y="1051560"/>
            <a:ext cx="3931920" cy="1965960"/>
          </a:xfrm>
          <a:prstGeom prst="roundRect">
            <a:avLst>
              <a:gd fmla="val 6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3"/>
          <p:cNvSpPr txBox="1"/>
          <p:nvPr/>
        </p:nvSpPr>
        <p:spPr>
          <a:xfrm>
            <a:off x="4919472" y="1188720"/>
            <a:ext cx="3602736" cy="16916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Function specifier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500000"/>
              </a:buClr>
              <a:buSzPts val="1100"/>
              <a:buFont typeface="Courier New"/>
              <a:buNone/>
            </a:pPr>
            <a:r>
              <a:rPr b="1" i="0" lang="en-US" sz="1100" u="none" cap="none" strike="noStrike">
                <a:solidFill>
                  <a:srgbClr val="500000"/>
                </a:solidFill>
                <a:latin typeface="Courier New"/>
                <a:ea typeface="Courier New"/>
                <a:cs typeface="Courier New"/>
                <a:sym typeface="Courier New"/>
              </a:rPr>
              <a:t>__host__</a:t>
            </a:r>
            <a:r>
              <a:rPr b="0" i="0" lang="en-US" sz="1100" u="none" cap="none" strike="noStrike">
                <a:solidFill>
                  <a:srgbClr val="2B2B2B"/>
                </a:solidFill>
                <a:latin typeface="Arial"/>
                <a:ea typeface="Arial"/>
                <a:cs typeface="Arial"/>
                <a:sym typeface="Arial"/>
              </a:rPr>
              <a:t>  /  </a:t>
            </a:r>
            <a:r>
              <a:rPr b="1" i="0" lang="en-US" sz="1100" u="none" cap="none" strike="noStrike">
                <a:solidFill>
                  <a:srgbClr val="4E7A00"/>
                </a:solidFill>
                <a:latin typeface="Courier New"/>
                <a:ea typeface="Courier New"/>
                <a:cs typeface="Courier New"/>
                <a:sym typeface="Courier New"/>
              </a:rPr>
              <a:t>__device__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Decided at </a:t>
            </a:r>
            <a:r>
              <a:rPr b="1" i="0" lang="en-US" sz="1100" u="none" cap="none" strike="noStrike">
                <a:solidFill>
                  <a:srgbClr val="2B2B2B"/>
                </a:solidFill>
                <a:latin typeface="Arial"/>
                <a:ea typeface="Arial"/>
                <a:cs typeface="Arial"/>
                <a:sym typeface="Arial"/>
              </a:rPr>
              <a:t>compile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Picks </a:t>
            </a:r>
            <a:r>
              <a:rPr b="1" i="0" lang="en-US" sz="1100" u="none" cap="none" strike="noStrike">
                <a:solidFill>
                  <a:srgbClr val="2B2B2B"/>
                </a:solidFill>
                <a:latin typeface="Arial"/>
                <a:ea typeface="Arial"/>
                <a:cs typeface="Arial"/>
                <a:sym typeface="Arial"/>
              </a:rPr>
              <a:t>WHAT</a:t>
            </a:r>
            <a:r>
              <a:rPr b="0" i="0" lang="en-US" sz="1100" u="none" cap="none" strike="noStrike">
                <a:solidFill>
                  <a:srgbClr val="2B2B2B"/>
                </a:solidFill>
                <a:latin typeface="Arial"/>
                <a:ea typeface="Arial"/>
                <a:cs typeface="Arial"/>
                <a:sym typeface="Arial"/>
              </a:rPr>
              <a:t> the function is compiled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6E6E6E"/>
              </a:buClr>
              <a:buSzPts val="1100"/>
              <a:buFont typeface="Arial"/>
              <a:buNone/>
            </a:pPr>
            <a:r>
              <a:rPr b="0" i="0" lang="en-US" sz="1100" u="none" cap="none" strike="noStrike">
                <a:solidFill>
                  <a:srgbClr val="6E6E6E"/>
                </a:solidFill>
                <a:latin typeface="Arial"/>
                <a:ea typeface="Arial"/>
                <a:cs typeface="Arial"/>
                <a:sym typeface="Arial"/>
              </a:rPr>
              <a:t>Both = a CPU version and a GPU version</a:t>
            </a:r>
            <a:endParaRPr b="0" i="0" sz="1400" u="none" cap="none" strike="noStrike">
              <a:solidFill>
                <a:srgbClr val="000000"/>
              </a:solidFill>
              <a:latin typeface="Arial"/>
              <a:ea typeface="Arial"/>
              <a:cs typeface="Arial"/>
              <a:sym typeface="Arial"/>
            </a:endParaRPr>
          </a:p>
        </p:txBody>
      </p:sp>
      <p:sp>
        <p:nvSpPr>
          <p:cNvPr id="729" name="Google Shape;729;p13"/>
          <p:cNvSpPr/>
          <p:nvPr/>
        </p:nvSpPr>
        <p:spPr>
          <a:xfrm>
            <a:off x="457200" y="3200400"/>
            <a:ext cx="8229600" cy="1234440"/>
          </a:xfrm>
          <a:prstGeom prst="roundRect">
            <a:avLst>
              <a:gd fmla="val 60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3"/>
          <p:cNvSpPr txBox="1"/>
          <p:nvPr/>
        </p:nvSpPr>
        <p:spPr>
          <a:xfrm>
            <a:off x="685800" y="3291840"/>
            <a:ext cx="7772400" cy="10972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6B900"/>
              </a:buClr>
              <a:buSzPts val="1200"/>
              <a:buFont typeface="Arial"/>
              <a:buNone/>
            </a:pPr>
            <a:r>
              <a:rPr b="1" i="0" lang="en-US" sz="1200" u="none" cap="none" strike="noStrike">
                <a:solidFill>
                  <a:srgbClr val="76B900"/>
                </a:solidFill>
                <a:latin typeface="Arial"/>
                <a:ea typeface="Arial"/>
                <a:cs typeface="Arial"/>
                <a:sym typeface="Arial"/>
              </a:rPr>
              <a:t>Kitchen analogy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The Function Specifier is which kitchens the recipe is written for. The policy is which kitchen you send the order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BDBDBD"/>
              </a:buClr>
              <a:buSzPts val="1100"/>
              <a:buFont typeface="Arial"/>
              <a:buNone/>
            </a:pPr>
            <a:r>
              <a:rPr b="0" i="0" lang="en-US" sz="1100" u="none" cap="none" strike="noStrike">
                <a:solidFill>
                  <a:srgbClr val="BDBDBD"/>
                </a:solidFill>
                <a:latin typeface="Arial"/>
                <a:ea typeface="Arial"/>
                <a:cs typeface="Arial"/>
                <a:sym typeface="Arial"/>
              </a:rPr>
              <a:t>Send an order to a kitchen that has no recipe for it, and it fails before you even start (a compile error).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5" name="Shape 735"/>
        <p:cNvGrpSpPr/>
        <p:nvPr/>
      </p:nvGrpSpPr>
      <p:grpSpPr>
        <a:xfrm>
          <a:off x="0" y="0"/>
          <a:ext cx="0" cy="0"/>
          <a:chOff x="0" y="0"/>
          <a:chExt cx="0" cy="0"/>
        </a:xfrm>
      </p:grpSpPr>
      <p:sp>
        <p:nvSpPr>
          <p:cNvPr id="736" name="Google Shape;736;p14"/>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Which combinations work?</a:t>
            </a:r>
            <a:endParaRPr b="0" i="0" sz="1400" u="none" cap="none" strike="noStrike">
              <a:solidFill>
                <a:srgbClr val="000000"/>
              </a:solidFill>
              <a:latin typeface="Arial"/>
              <a:ea typeface="Arial"/>
              <a:cs typeface="Arial"/>
              <a:sym typeface="Arial"/>
            </a:endParaRPr>
          </a:p>
        </p:txBody>
      </p:sp>
      <p:sp>
        <p:nvSpPr>
          <p:cNvPr id="737" name="Google Shape;737;p14"/>
          <p:cNvSpPr txBox="1"/>
          <p:nvPr/>
        </p:nvSpPr>
        <p:spPr>
          <a:xfrm>
            <a:off x="2194560" y="1097280"/>
            <a:ext cx="6446520" cy="27432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lambda / function specifier</a:t>
            </a:r>
            <a:endParaRPr b="0" i="0" sz="1400" u="none" cap="none" strike="noStrike">
              <a:solidFill>
                <a:srgbClr val="000000"/>
              </a:solidFill>
              <a:latin typeface="Arial"/>
              <a:ea typeface="Arial"/>
              <a:cs typeface="Arial"/>
              <a:sym typeface="Arial"/>
            </a:endParaRPr>
          </a:p>
        </p:txBody>
      </p:sp>
      <p:sp>
        <p:nvSpPr>
          <p:cNvPr id="738" name="Google Shape;738;p14"/>
          <p:cNvSpPr txBox="1"/>
          <p:nvPr/>
        </p:nvSpPr>
        <p:spPr>
          <a:xfrm>
            <a:off x="2194560" y="1371600"/>
            <a:ext cx="2148840" cy="4114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F6FB5"/>
              </a:buClr>
              <a:buSzPts val="1200"/>
              <a:buFont typeface="Courier New"/>
              <a:buNone/>
            </a:pPr>
            <a:r>
              <a:rPr b="1" i="0" lang="en-US" sz="1200" u="none" cap="none" strike="noStrike">
                <a:solidFill>
                  <a:srgbClr val="3F6FB5"/>
                </a:solidFill>
                <a:latin typeface="Courier New"/>
                <a:ea typeface="Courier New"/>
                <a:cs typeface="Courier New"/>
                <a:sym typeface="Courier New"/>
              </a:rPr>
              <a:t>__host__</a:t>
            </a:r>
            <a:endParaRPr b="0" i="0" sz="1400" u="none" cap="none" strike="noStrike">
              <a:solidFill>
                <a:srgbClr val="000000"/>
              </a:solidFill>
              <a:latin typeface="Arial"/>
              <a:ea typeface="Arial"/>
              <a:cs typeface="Arial"/>
              <a:sym typeface="Arial"/>
            </a:endParaRPr>
          </a:p>
        </p:txBody>
      </p:sp>
      <p:sp>
        <p:nvSpPr>
          <p:cNvPr id="739" name="Google Shape;739;p14"/>
          <p:cNvSpPr txBox="1"/>
          <p:nvPr/>
        </p:nvSpPr>
        <p:spPr>
          <a:xfrm>
            <a:off x="4343400" y="1371600"/>
            <a:ext cx="2148840" cy="4114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F6FB5"/>
              </a:buClr>
              <a:buSzPts val="1200"/>
              <a:buFont typeface="Courier New"/>
              <a:buNone/>
            </a:pPr>
            <a:r>
              <a:rPr b="1" i="0" lang="en-US" sz="1200" u="none" cap="none" strike="noStrike">
                <a:solidFill>
                  <a:srgbClr val="3F6FB5"/>
                </a:solidFill>
                <a:latin typeface="Courier New"/>
                <a:ea typeface="Courier New"/>
                <a:cs typeface="Courier New"/>
                <a:sym typeface="Courier New"/>
              </a:rPr>
              <a:t>__device__</a:t>
            </a:r>
            <a:endParaRPr b="0" i="0" sz="1400" u="none" cap="none" strike="noStrike">
              <a:solidFill>
                <a:srgbClr val="000000"/>
              </a:solidFill>
              <a:latin typeface="Arial"/>
              <a:ea typeface="Arial"/>
              <a:cs typeface="Arial"/>
              <a:sym typeface="Arial"/>
            </a:endParaRPr>
          </a:p>
        </p:txBody>
      </p:sp>
      <p:sp>
        <p:nvSpPr>
          <p:cNvPr id="740" name="Google Shape;740;p14"/>
          <p:cNvSpPr txBox="1"/>
          <p:nvPr/>
        </p:nvSpPr>
        <p:spPr>
          <a:xfrm>
            <a:off x="6492240" y="1371600"/>
            <a:ext cx="2148840" cy="4114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F6FB5"/>
              </a:buClr>
              <a:buSzPts val="1200"/>
              <a:buFont typeface="Courier New"/>
              <a:buNone/>
            </a:pPr>
            <a:r>
              <a:rPr b="1" i="0" lang="en-US" sz="1200" u="none" cap="none" strike="noStrike">
                <a:solidFill>
                  <a:srgbClr val="3F6FB5"/>
                </a:solidFill>
                <a:latin typeface="Courier New"/>
                <a:ea typeface="Courier New"/>
                <a:cs typeface="Courier New"/>
                <a:sym typeface="Courier New"/>
              </a:rPr>
              <a:t>__host__ __device__</a:t>
            </a:r>
            <a:endParaRPr b="0" i="0" sz="1400" u="none" cap="none" strike="noStrike">
              <a:solidFill>
                <a:srgbClr val="000000"/>
              </a:solidFill>
              <a:latin typeface="Arial"/>
              <a:ea typeface="Arial"/>
              <a:cs typeface="Arial"/>
              <a:sym typeface="Arial"/>
            </a:endParaRPr>
          </a:p>
        </p:txBody>
      </p:sp>
      <p:sp>
        <p:nvSpPr>
          <p:cNvPr id="741" name="Google Shape;741;p14"/>
          <p:cNvSpPr txBox="1"/>
          <p:nvPr/>
        </p:nvSpPr>
        <p:spPr>
          <a:xfrm>
            <a:off x="457200" y="1828800"/>
            <a:ext cx="1691640" cy="8686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200"/>
              <a:buFont typeface="Courier New"/>
              <a:buNone/>
            </a:pPr>
            <a:r>
              <a:rPr b="1" i="0" lang="en-US" sz="1200" u="none" cap="none" strike="noStrike">
                <a:solidFill>
                  <a:srgbClr val="2B2B2B"/>
                </a:solidFill>
                <a:latin typeface="Courier New"/>
                <a:ea typeface="Courier New"/>
                <a:cs typeface="Courier New"/>
                <a:sym typeface="Courier New"/>
              </a:rPr>
              <a:t>thrust::host</a:t>
            </a:r>
            <a:endParaRPr b="0" i="0" sz="1400" u="none" cap="none" strike="noStrike">
              <a:solidFill>
                <a:srgbClr val="000000"/>
              </a:solidFill>
              <a:latin typeface="Arial"/>
              <a:ea typeface="Arial"/>
              <a:cs typeface="Arial"/>
              <a:sym typeface="Arial"/>
            </a:endParaRPr>
          </a:p>
        </p:txBody>
      </p:sp>
      <p:sp>
        <p:nvSpPr>
          <p:cNvPr id="742" name="Google Shape;742;p14"/>
          <p:cNvSpPr/>
          <p:nvPr/>
        </p:nvSpPr>
        <p:spPr>
          <a:xfrm>
            <a:off x="2240280" y="1828800"/>
            <a:ext cx="2057400" cy="868680"/>
          </a:xfrm>
          <a:prstGeom prst="roundRect">
            <a:avLst>
              <a:gd fmla="val 8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14"/>
          <p:cNvSpPr txBox="1"/>
          <p:nvPr/>
        </p:nvSpPr>
        <p:spPr>
          <a:xfrm>
            <a:off x="2240280" y="182880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500000"/>
              </a:buClr>
              <a:buSzPts val="1300"/>
              <a:buFont typeface="Arial"/>
              <a:buNone/>
            </a:pPr>
            <a:r>
              <a:rPr b="1" i="0" lang="en-US" sz="1300" u="none" cap="none" strike="noStrike">
                <a:solidFill>
                  <a:srgbClr val="500000"/>
                </a:solidFill>
                <a:latin typeface="Arial"/>
                <a:ea typeface="Arial"/>
                <a:cs typeface="Arial"/>
                <a:sym typeface="Arial"/>
              </a:rPr>
              <a:t>runs on CPU</a:t>
            </a:r>
            <a:endParaRPr b="0" i="0" sz="1400" u="none" cap="none" strike="noStrike">
              <a:solidFill>
                <a:srgbClr val="000000"/>
              </a:solidFill>
              <a:latin typeface="Arial"/>
              <a:ea typeface="Arial"/>
              <a:cs typeface="Arial"/>
              <a:sym typeface="Arial"/>
            </a:endParaRPr>
          </a:p>
        </p:txBody>
      </p:sp>
      <p:sp>
        <p:nvSpPr>
          <p:cNvPr id="744" name="Google Shape;744;p14"/>
          <p:cNvSpPr/>
          <p:nvPr/>
        </p:nvSpPr>
        <p:spPr>
          <a:xfrm>
            <a:off x="4389120" y="1828800"/>
            <a:ext cx="2057400" cy="868680"/>
          </a:xfrm>
          <a:prstGeom prst="roundRect">
            <a:avLst>
              <a:gd fmla="val 8000" name="adj"/>
            </a:avLst>
          </a:prstGeom>
          <a:solidFill>
            <a:srgbClr val="F4F4F4"/>
          </a:solidFill>
          <a:ln cap="flat" cmpd="sng" w="12700">
            <a:solidFill>
              <a:srgbClr val="E0E0E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14"/>
          <p:cNvSpPr txBox="1"/>
          <p:nvPr/>
        </p:nvSpPr>
        <p:spPr>
          <a:xfrm>
            <a:off x="4389120" y="182880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B03030"/>
              </a:buClr>
              <a:buSzPts val="1300"/>
              <a:buFont typeface="Arial"/>
              <a:buNone/>
            </a:pPr>
            <a:r>
              <a:rPr b="1" i="0" lang="en-US" sz="1300" u="none" cap="none" strike="noStrike">
                <a:solidFill>
                  <a:srgbClr val="B03030"/>
                </a:solidFill>
                <a:latin typeface="Arial"/>
                <a:ea typeface="Arial"/>
                <a:cs typeface="Arial"/>
                <a:sym typeface="Arial"/>
              </a:rPr>
              <a:t>compile error</a:t>
            </a:r>
            <a:endParaRPr b="0" i="0" sz="1400" u="none" cap="none" strike="noStrike">
              <a:solidFill>
                <a:srgbClr val="000000"/>
              </a:solidFill>
              <a:latin typeface="Arial"/>
              <a:ea typeface="Arial"/>
              <a:cs typeface="Arial"/>
              <a:sym typeface="Arial"/>
            </a:endParaRPr>
          </a:p>
        </p:txBody>
      </p:sp>
      <p:sp>
        <p:nvSpPr>
          <p:cNvPr id="746" name="Google Shape;746;p14"/>
          <p:cNvSpPr/>
          <p:nvPr/>
        </p:nvSpPr>
        <p:spPr>
          <a:xfrm>
            <a:off x="6537960" y="1828800"/>
            <a:ext cx="2057400" cy="868680"/>
          </a:xfrm>
          <a:prstGeom prst="roundRect">
            <a:avLst>
              <a:gd fmla="val 8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14"/>
          <p:cNvSpPr txBox="1"/>
          <p:nvPr/>
        </p:nvSpPr>
        <p:spPr>
          <a:xfrm>
            <a:off x="6537960" y="182880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500000"/>
              </a:buClr>
              <a:buSzPts val="1300"/>
              <a:buFont typeface="Arial"/>
              <a:buNone/>
            </a:pPr>
            <a:r>
              <a:rPr b="1" i="0" lang="en-US" sz="1300" u="none" cap="none" strike="noStrike">
                <a:solidFill>
                  <a:srgbClr val="500000"/>
                </a:solidFill>
                <a:latin typeface="Arial"/>
                <a:ea typeface="Arial"/>
                <a:cs typeface="Arial"/>
                <a:sym typeface="Arial"/>
              </a:rPr>
              <a:t>runs on CPU</a:t>
            </a:r>
            <a:endParaRPr b="0" i="0" sz="1400" u="none" cap="none" strike="noStrike">
              <a:solidFill>
                <a:srgbClr val="000000"/>
              </a:solidFill>
              <a:latin typeface="Arial"/>
              <a:ea typeface="Arial"/>
              <a:cs typeface="Arial"/>
              <a:sym typeface="Arial"/>
            </a:endParaRPr>
          </a:p>
        </p:txBody>
      </p:sp>
      <p:sp>
        <p:nvSpPr>
          <p:cNvPr id="748" name="Google Shape;748;p14"/>
          <p:cNvSpPr txBox="1"/>
          <p:nvPr/>
        </p:nvSpPr>
        <p:spPr>
          <a:xfrm>
            <a:off x="457200" y="2788920"/>
            <a:ext cx="1691640" cy="8686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200"/>
              <a:buFont typeface="Courier New"/>
              <a:buNone/>
            </a:pPr>
            <a:r>
              <a:rPr b="1" i="0" lang="en-US" sz="1200" u="none" cap="none" strike="noStrike">
                <a:solidFill>
                  <a:srgbClr val="2B2B2B"/>
                </a:solidFill>
                <a:latin typeface="Courier New"/>
                <a:ea typeface="Courier New"/>
                <a:cs typeface="Courier New"/>
                <a:sym typeface="Courier New"/>
              </a:rPr>
              <a:t>thrust::device</a:t>
            </a:r>
            <a:endParaRPr b="0" i="0" sz="1400" u="none" cap="none" strike="noStrike">
              <a:solidFill>
                <a:srgbClr val="000000"/>
              </a:solidFill>
              <a:latin typeface="Arial"/>
              <a:ea typeface="Arial"/>
              <a:cs typeface="Arial"/>
              <a:sym typeface="Arial"/>
            </a:endParaRPr>
          </a:p>
        </p:txBody>
      </p:sp>
      <p:sp>
        <p:nvSpPr>
          <p:cNvPr id="749" name="Google Shape;749;p14"/>
          <p:cNvSpPr/>
          <p:nvPr/>
        </p:nvSpPr>
        <p:spPr>
          <a:xfrm>
            <a:off x="2240280" y="2788920"/>
            <a:ext cx="2057400" cy="868680"/>
          </a:xfrm>
          <a:prstGeom prst="roundRect">
            <a:avLst>
              <a:gd fmla="val 8000" name="adj"/>
            </a:avLst>
          </a:prstGeom>
          <a:solidFill>
            <a:srgbClr val="F4F4F4"/>
          </a:solidFill>
          <a:ln cap="flat" cmpd="sng" w="12700">
            <a:solidFill>
              <a:srgbClr val="E0E0E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4"/>
          <p:cNvSpPr txBox="1"/>
          <p:nvPr/>
        </p:nvSpPr>
        <p:spPr>
          <a:xfrm>
            <a:off x="2240280" y="278892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B03030"/>
              </a:buClr>
              <a:buSzPts val="1300"/>
              <a:buFont typeface="Arial"/>
              <a:buNone/>
            </a:pPr>
            <a:r>
              <a:rPr b="1" i="0" lang="en-US" sz="1300" u="none" cap="none" strike="noStrike">
                <a:solidFill>
                  <a:srgbClr val="B03030"/>
                </a:solidFill>
                <a:latin typeface="Arial"/>
                <a:ea typeface="Arial"/>
                <a:cs typeface="Arial"/>
                <a:sym typeface="Arial"/>
              </a:rPr>
              <a:t>compile error</a:t>
            </a:r>
            <a:endParaRPr b="0" i="0" sz="1400" u="none" cap="none" strike="noStrike">
              <a:solidFill>
                <a:srgbClr val="000000"/>
              </a:solidFill>
              <a:latin typeface="Arial"/>
              <a:ea typeface="Arial"/>
              <a:cs typeface="Arial"/>
              <a:sym typeface="Arial"/>
            </a:endParaRPr>
          </a:p>
        </p:txBody>
      </p:sp>
      <p:sp>
        <p:nvSpPr>
          <p:cNvPr id="751" name="Google Shape;751;p14"/>
          <p:cNvSpPr/>
          <p:nvPr/>
        </p:nvSpPr>
        <p:spPr>
          <a:xfrm>
            <a:off x="4389120" y="2788920"/>
            <a:ext cx="2057400" cy="868680"/>
          </a:xfrm>
          <a:prstGeom prst="roundRect">
            <a:avLst>
              <a:gd fmla="val 8000" name="adj"/>
            </a:avLst>
          </a:prstGeom>
          <a:solidFill>
            <a:srgbClr val="E4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4"/>
          <p:cNvSpPr txBox="1"/>
          <p:nvPr/>
        </p:nvSpPr>
        <p:spPr>
          <a:xfrm>
            <a:off x="4389120" y="278892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A5F0B"/>
              </a:buClr>
              <a:buSzPts val="1300"/>
              <a:buFont typeface="Arial"/>
              <a:buNone/>
            </a:pPr>
            <a:r>
              <a:rPr b="1" i="0" lang="en-US" sz="1300" u="none" cap="none" strike="noStrike">
                <a:solidFill>
                  <a:srgbClr val="3A5F0B"/>
                </a:solidFill>
                <a:latin typeface="Arial"/>
                <a:ea typeface="Arial"/>
                <a:cs typeface="Arial"/>
                <a:sym typeface="Arial"/>
              </a:rPr>
              <a:t>runs on GPU</a:t>
            </a:r>
            <a:endParaRPr b="0" i="0" sz="1400" u="none" cap="none" strike="noStrike">
              <a:solidFill>
                <a:srgbClr val="000000"/>
              </a:solidFill>
              <a:latin typeface="Arial"/>
              <a:ea typeface="Arial"/>
              <a:cs typeface="Arial"/>
              <a:sym typeface="Arial"/>
            </a:endParaRPr>
          </a:p>
        </p:txBody>
      </p:sp>
      <p:sp>
        <p:nvSpPr>
          <p:cNvPr id="753" name="Google Shape;753;p14"/>
          <p:cNvSpPr/>
          <p:nvPr/>
        </p:nvSpPr>
        <p:spPr>
          <a:xfrm>
            <a:off x="6537960" y="2788920"/>
            <a:ext cx="2057400" cy="868680"/>
          </a:xfrm>
          <a:prstGeom prst="roundRect">
            <a:avLst>
              <a:gd fmla="val 8000" name="adj"/>
            </a:avLst>
          </a:prstGeom>
          <a:solidFill>
            <a:srgbClr val="E4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4"/>
          <p:cNvSpPr txBox="1"/>
          <p:nvPr/>
        </p:nvSpPr>
        <p:spPr>
          <a:xfrm>
            <a:off x="6537960" y="2788920"/>
            <a:ext cx="2057400" cy="8686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A5F0B"/>
              </a:buClr>
              <a:buSzPts val="1300"/>
              <a:buFont typeface="Arial"/>
              <a:buNone/>
            </a:pPr>
            <a:r>
              <a:rPr b="1" i="0" lang="en-US" sz="1300" u="none" cap="none" strike="noStrike">
                <a:solidFill>
                  <a:srgbClr val="3A5F0B"/>
                </a:solidFill>
                <a:latin typeface="Arial"/>
                <a:ea typeface="Arial"/>
                <a:cs typeface="Arial"/>
                <a:sym typeface="Arial"/>
              </a:rPr>
              <a:t>runs on GPU</a:t>
            </a:r>
            <a:endParaRPr b="0" i="0" sz="1400" u="none" cap="none" strike="noStrike">
              <a:solidFill>
                <a:srgbClr val="000000"/>
              </a:solidFill>
              <a:latin typeface="Arial"/>
              <a:ea typeface="Arial"/>
              <a:cs typeface="Arial"/>
              <a:sym typeface="Arial"/>
            </a:endParaRPr>
          </a:p>
        </p:txBody>
      </p:sp>
      <p:sp>
        <p:nvSpPr>
          <p:cNvPr id="755" name="Google Shape;755;p14"/>
          <p:cNvSpPr txBox="1"/>
          <p:nvPr/>
        </p:nvSpPr>
        <p:spPr>
          <a:xfrm>
            <a:off x="457200" y="1965960"/>
            <a:ext cx="1645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00"/>
              <a:buFont typeface="Arial"/>
              <a:buNone/>
            </a:pPr>
            <a:r>
              <a:rPr b="1" i="0" lang="en-US" sz="1000" u="none" cap="none" strike="noStrike">
                <a:solidFill>
                  <a:srgbClr val="6E6E6E"/>
                </a:solidFill>
                <a:latin typeface="Arial"/>
                <a:ea typeface="Arial"/>
                <a:cs typeface="Arial"/>
                <a:sym typeface="Arial"/>
              </a:rPr>
              <a:t>policy</a:t>
            </a:r>
            <a:endParaRPr b="0" i="0" sz="1400" u="none" cap="none" strike="noStrike">
              <a:solidFill>
                <a:srgbClr val="000000"/>
              </a:solidFill>
              <a:latin typeface="Arial"/>
              <a:ea typeface="Arial"/>
              <a:cs typeface="Arial"/>
              <a:sym typeface="Arial"/>
            </a:endParaRPr>
          </a:p>
        </p:txBody>
      </p:sp>
      <p:sp>
        <p:nvSpPr>
          <p:cNvPr id="756" name="Google Shape;756;p14"/>
          <p:cNvSpPr txBox="1"/>
          <p:nvPr/>
        </p:nvSpPr>
        <p:spPr>
          <a:xfrm>
            <a:off x="457200" y="3657600"/>
            <a:ext cx="8229600" cy="7315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Rule of thumb: </a:t>
            </a:r>
            <a:r>
              <a:rPr b="0" i="0" lang="en-US" sz="1200" u="none" cap="none" strike="noStrike">
                <a:solidFill>
                  <a:srgbClr val="2B2B2B"/>
                </a:solidFill>
                <a:latin typeface="Arial"/>
                <a:ea typeface="Arial"/>
                <a:cs typeface="Arial"/>
                <a:sym typeface="Arial"/>
              </a:rPr>
              <a:t>mark lambdas </a:t>
            </a:r>
            <a:r>
              <a:rPr b="1" i="0" lang="en-US" sz="1200" u="none" cap="none" strike="noStrike">
                <a:solidFill>
                  <a:srgbClr val="2B2B2B"/>
                </a:solidFill>
                <a:latin typeface="Courier New"/>
                <a:ea typeface="Courier New"/>
                <a:cs typeface="Courier New"/>
                <a:sym typeface="Courier New"/>
              </a:rPr>
              <a:t>__host__ __device__</a:t>
            </a:r>
            <a:r>
              <a:rPr b="0" i="0" lang="en-US" sz="1200" u="none" cap="none" strike="noStrike">
                <a:solidFill>
                  <a:srgbClr val="2B2B2B"/>
                </a:solidFill>
                <a:latin typeface="Arial"/>
                <a:ea typeface="Arial"/>
                <a:cs typeface="Arial"/>
                <a:sym typeface="Arial"/>
              </a:rPr>
              <a:t> and they work with either policy.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1" name="Shape 761"/>
        <p:cNvGrpSpPr/>
        <p:nvPr/>
      </p:nvGrpSpPr>
      <p:grpSpPr>
        <a:xfrm>
          <a:off x="0" y="0"/>
          <a:ext cx="0" cy="0"/>
          <a:chOff x="0" y="0"/>
          <a:chExt cx="0" cy="0"/>
        </a:xfrm>
      </p:grpSpPr>
      <p:sp>
        <p:nvSpPr>
          <p:cNvPr id="762" name="Google Shape;762;p15"/>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Exercise 1: where does each line run?</a:t>
            </a:r>
            <a:endParaRPr b="0" i="0" sz="1400" u="none" cap="none" strike="noStrike">
              <a:solidFill>
                <a:srgbClr val="000000"/>
              </a:solidFill>
              <a:latin typeface="Arial"/>
              <a:ea typeface="Arial"/>
              <a:cs typeface="Arial"/>
              <a:sym typeface="Arial"/>
            </a:endParaRPr>
          </a:p>
        </p:txBody>
      </p:sp>
      <p:sp>
        <p:nvSpPr>
          <p:cNvPr id="763" name="Google Shape;763;p15"/>
          <p:cNvSpPr txBox="1"/>
          <p:nvPr/>
        </p:nvSpPr>
        <p:spPr>
          <a:xfrm>
            <a:off x="457200" y="896112"/>
            <a:ext cx="54864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5 minutes  ·  replace each </a:t>
            </a:r>
            <a:r>
              <a:rPr b="1" i="0" lang="en-US" sz="1200" u="none" cap="none" strike="noStrike">
                <a:solidFill>
                  <a:srgbClr val="B03030"/>
                </a:solidFill>
                <a:latin typeface="Courier New"/>
                <a:ea typeface="Courier New"/>
                <a:cs typeface="Courier New"/>
                <a:sym typeface="Courier New"/>
              </a:rPr>
              <a:t>"???"</a:t>
            </a:r>
            <a:r>
              <a:rPr b="0" i="0" lang="en-US" sz="1200" u="none" cap="none" strike="noStrike">
                <a:solidFill>
                  <a:srgbClr val="6E6E6E"/>
                </a:solidFill>
                <a:latin typeface="Arial"/>
                <a:ea typeface="Arial"/>
                <a:cs typeface="Arial"/>
                <a:sym typeface="Arial"/>
              </a:rPr>
              <a:t> with CPU or GPU</a:t>
            </a:r>
            <a:endParaRPr b="0" i="0" sz="1400" u="none" cap="none" strike="noStrike">
              <a:solidFill>
                <a:srgbClr val="000000"/>
              </a:solidFill>
              <a:latin typeface="Arial"/>
              <a:ea typeface="Arial"/>
              <a:cs typeface="Arial"/>
              <a:sym typeface="Arial"/>
            </a:endParaRPr>
          </a:p>
        </p:txBody>
      </p:sp>
      <p:sp>
        <p:nvSpPr>
          <p:cNvPr id="764" name="Google Shape;764;p15"/>
          <p:cNvSpPr/>
          <p:nvPr/>
        </p:nvSpPr>
        <p:spPr>
          <a:xfrm>
            <a:off x="457200" y="1280160"/>
            <a:ext cx="6035040" cy="265176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5"/>
          <p:cNvSpPr txBox="1"/>
          <p:nvPr/>
        </p:nvSpPr>
        <p:spPr>
          <a:xfrm>
            <a:off x="640080" y="1417320"/>
            <a:ext cx="5669280" cy="23774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1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3  </a:t>
            </a:r>
            <a:r>
              <a:rPr b="0" i="0" lang="en-US" sz="1050" u="none" cap="none" strike="noStrike">
                <a:solidFill>
                  <a:srgbClr val="9CDCFE"/>
                </a:solidFill>
                <a:latin typeface="Courier New"/>
                <a:ea typeface="Courier New"/>
                <a:cs typeface="Courier New"/>
                <a:sym typeface="Courier New"/>
              </a:rPr>
              <a:t>thrust::universal_vector</a:t>
            </a:r>
            <a:r>
              <a:rPr b="0" i="0" lang="en-US" sz="1050" u="none" cap="none" strike="noStrike">
                <a:solidFill>
                  <a:srgbClr val="EDEDED"/>
                </a:solidFill>
                <a:latin typeface="Courier New"/>
                <a:ea typeface="Courier New"/>
                <a:cs typeface="Courier New"/>
                <a:sym typeface="Courier New"/>
              </a:rPr>
              <a:t>&lt;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&gt; vec{1};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4  </a:t>
            </a: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9CDCFE"/>
                </a:solidFill>
                <a:latin typeface="Courier New"/>
                <a:ea typeface="Courier New"/>
                <a:cs typeface="Courier New"/>
                <a:sym typeface="Courier New"/>
              </a:rPr>
              <a:t>thrust::device</a:t>
            </a:r>
            <a:r>
              <a:rPr b="0" i="0" lang="en-US" sz="1050" u="none" cap="none" strike="noStrike">
                <a:solidFill>
                  <a:srgbClr val="EDEDED"/>
                </a:solidFill>
                <a:latin typeface="Courier New"/>
                <a:ea typeface="Courier New"/>
                <a:cs typeface="Courier New"/>
                <a:sym typeface="Courier New"/>
              </a:rPr>
              <a:t>, vec.begin(), vec.end(),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5  </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F2A7A7"/>
                </a:solidFill>
                <a:latin typeface="Courier New"/>
                <a:ea typeface="Courier New"/>
                <a:cs typeface="Courier New"/>
                <a:sym typeface="Courier New"/>
              </a:rPr>
              <a:t>__host__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__device__</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a:t>
            </a:r>
            <a:r>
              <a:rPr b="0" i="0" lang="en-US" sz="10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7  </a:t>
            </a: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9CDCFE"/>
                </a:solidFill>
                <a:latin typeface="Courier New"/>
                <a:ea typeface="Courier New"/>
                <a:cs typeface="Courier New"/>
                <a:sym typeface="Courier New"/>
              </a:rPr>
              <a:t>thrust::host</a:t>
            </a:r>
            <a:r>
              <a:rPr b="0" i="0" lang="en-US" sz="1050" u="none" cap="none" strike="noStrike">
                <a:solidFill>
                  <a:srgbClr val="EDEDED"/>
                </a:solidFill>
                <a:latin typeface="Courier New"/>
                <a:ea typeface="Courier New"/>
                <a:cs typeface="Courier New"/>
                <a:sym typeface="Courier New"/>
              </a:rPr>
              <a:t>, vec.begin(), vec.end(),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8  </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F2A7A7"/>
                </a:solidFill>
                <a:latin typeface="Courier New"/>
                <a:ea typeface="Courier New"/>
                <a:cs typeface="Courier New"/>
                <a:sym typeface="Courier New"/>
              </a:rPr>
              <a:t>__host__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__device__</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a:t>
            </a:r>
            <a:r>
              <a:rPr b="0" i="0" lang="en-US" sz="10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9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10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766" name="Google Shape;766;p15"/>
          <p:cNvSpPr/>
          <p:nvPr/>
        </p:nvSpPr>
        <p:spPr>
          <a:xfrm>
            <a:off x="6720840" y="1280160"/>
            <a:ext cx="1965960" cy="2651760"/>
          </a:xfrm>
          <a:prstGeom prst="roundRect">
            <a:avLst>
              <a:gd fmla="val 6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5"/>
          <p:cNvSpPr txBox="1"/>
          <p:nvPr/>
        </p:nvSpPr>
        <p:spPr>
          <a:xfrm>
            <a:off x="6885432" y="1417320"/>
            <a:ext cx="1636776" cy="23774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How to check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000"/>
              <a:buFont typeface="Arial"/>
              <a:buNone/>
            </a:pPr>
            <a:r>
              <a:rPr b="0" i="0" lang="en-US" sz="1000" u="none" cap="none" strike="noStrike">
                <a:solidFill>
                  <a:srgbClr val="2B2B2B"/>
                </a:solidFill>
                <a:latin typeface="Arial"/>
                <a:ea typeface="Arial"/>
                <a:cs typeface="Arial"/>
                <a:sym typeface="Arial"/>
              </a:rPr>
              <a:t>Each where_am_I call prints [ OK ] or [MISS].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000"/>
              <a:buFont typeface="Arial"/>
              <a:buNone/>
            </a:pPr>
            <a:r>
              <a:rPr b="1" i="0" lang="en-US" sz="1000" u="none" cap="none" strike="noStrike">
                <a:solidFill>
                  <a:srgbClr val="2B2B2B"/>
                </a:solidFill>
                <a:latin typeface="Arial"/>
                <a:ea typeface="Arial"/>
                <a:cs typeface="Arial"/>
                <a:sym typeface="Arial"/>
              </a:rPr>
              <a:t>Run: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500000"/>
              </a:buClr>
              <a:buSzPts val="900"/>
              <a:buFont typeface="Courier New"/>
              <a:buNone/>
            </a:pPr>
            <a:r>
              <a:rPr b="0" i="0" lang="en-US" sz="900" u="none" cap="none" strike="noStrike">
                <a:solidFill>
                  <a:srgbClr val="500000"/>
                </a:solidFill>
                <a:latin typeface="Courier New"/>
                <a:ea typeface="Courier New"/>
                <a:cs typeface="Courier New"/>
                <a:sym typeface="Courier New"/>
              </a:rPr>
              <a:t>make ex1_annotate_problem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500000"/>
              </a:buClr>
              <a:buSzPts val="900"/>
              <a:buFont typeface="Courier New"/>
              <a:buNone/>
            </a:pPr>
            <a:r>
              <a:rPr b="0" i="0" lang="en-US" sz="900" u="none" cap="none" strike="noStrike">
                <a:solidFill>
                  <a:srgbClr val="500000"/>
                </a:solidFill>
                <a:latin typeface="Courier New"/>
                <a:ea typeface="Courier New"/>
                <a:cs typeface="Courier New"/>
                <a:sym typeface="Courier New"/>
              </a:rPr>
              <a:t>./ex1_annotate_problem</a:t>
            </a:r>
            <a:endParaRPr b="0" i="0" sz="1400" u="none" cap="none" strike="noStrike">
              <a:solidFill>
                <a:srgbClr val="000000"/>
              </a:solidFill>
              <a:latin typeface="Arial"/>
              <a:ea typeface="Arial"/>
              <a:cs typeface="Arial"/>
              <a:sym typeface="Arial"/>
            </a:endParaRPr>
          </a:p>
        </p:txBody>
      </p:sp>
      <p:sp>
        <p:nvSpPr>
          <p:cNvPr id="768" name="Google Shape;768;p15"/>
          <p:cNvSpPr txBox="1"/>
          <p:nvPr/>
        </p:nvSpPr>
        <p:spPr>
          <a:xfrm>
            <a:off x="457200" y="4069080"/>
            <a:ext cx="8229600" cy="457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100"/>
              <a:buFont typeface="Arial"/>
              <a:buNone/>
            </a:pPr>
            <a:r>
              <a:rPr b="1" i="0" lang="en-US" sz="1100" u="none" cap="none" strike="noStrike">
                <a:solidFill>
                  <a:srgbClr val="2B2B2B"/>
                </a:solidFill>
                <a:latin typeface="Arial"/>
                <a:ea typeface="Arial"/>
                <a:cs typeface="Arial"/>
                <a:sym typeface="Arial"/>
              </a:rPr>
              <a:t>File: </a:t>
            </a:r>
            <a:r>
              <a:rPr b="0" i="0" lang="en-US" sz="1100" u="none" cap="none" strike="noStrike">
                <a:solidFill>
                  <a:srgbClr val="6E6E6E"/>
                </a:solidFill>
                <a:latin typeface="Courier New"/>
                <a:ea typeface="Courier New"/>
                <a:cs typeface="Courier New"/>
                <a:sym typeface="Courier New"/>
              </a:rPr>
              <a:t>01-execution-spaces/ex1_annotate_problem.cu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3" name="Shape 773"/>
        <p:cNvGrpSpPr/>
        <p:nvPr/>
      </p:nvGrpSpPr>
      <p:grpSpPr>
        <a:xfrm>
          <a:off x="0" y="0"/>
          <a:ext cx="0" cy="0"/>
          <a:chOff x="0" y="0"/>
          <a:chExt cx="0" cy="0"/>
        </a:xfrm>
      </p:grpSpPr>
      <p:sp>
        <p:nvSpPr>
          <p:cNvPr id="774" name="Google Shape;774;p16"/>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Exercise 1: solution</a:t>
            </a:r>
            <a:endParaRPr b="0" i="0" sz="1400" u="none" cap="none" strike="noStrike">
              <a:solidFill>
                <a:srgbClr val="000000"/>
              </a:solidFill>
              <a:latin typeface="Arial"/>
              <a:ea typeface="Arial"/>
              <a:cs typeface="Arial"/>
              <a:sym typeface="Arial"/>
            </a:endParaRPr>
          </a:p>
        </p:txBody>
      </p:sp>
      <p:sp>
        <p:nvSpPr>
          <p:cNvPr id="775" name="Google Shape;775;p16"/>
          <p:cNvSpPr/>
          <p:nvPr/>
        </p:nvSpPr>
        <p:spPr>
          <a:xfrm>
            <a:off x="457200" y="1051560"/>
            <a:ext cx="6035040" cy="265176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16"/>
          <p:cNvSpPr txBox="1"/>
          <p:nvPr/>
        </p:nvSpPr>
        <p:spPr>
          <a:xfrm>
            <a:off x="640080" y="1188720"/>
            <a:ext cx="5669280" cy="23774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1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"CPU"</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3  </a:t>
            </a:r>
            <a:r>
              <a:rPr b="0" i="0" lang="en-US" sz="1050" u="none" cap="none" strike="noStrike">
                <a:solidFill>
                  <a:srgbClr val="9CDCFE"/>
                </a:solidFill>
                <a:latin typeface="Courier New"/>
                <a:ea typeface="Courier New"/>
                <a:cs typeface="Courier New"/>
                <a:sym typeface="Courier New"/>
              </a:rPr>
              <a:t>thrust::universal_vector</a:t>
            </a:r>
            <a:r>
              <a:rPr b="0" i="0" lang="en-US" sz="1050" u="none" cap="none" strike="noStrike">
                <a:solidFill>
                  <a:srgbClr val="EDEDED"/>
                </a:solidFill>
                <a:latin typeface="Courier New"/>
                <a:ea typeface="Courier New"/>
                <a:cs typeface="Courier New"/>
                <a:sym typeface="Courier New"/>
              </a:rPr>
              <a:t>&lt;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&gt; vec{3};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4  </a:t>
            </a: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9CDCFE"/>
                </a:solidFill>
                <a:latin typeface="Courier New"/>
                <a:ea typeface="Courier New"/>
                <a:cs typeface="Courier New"/>
                <a:sym typeface="Courier New"/>
              </a:rPr>
              <a:t>thrust::device</a:t>
            </a:r>
            <a:r>
              <a:rPr b="0" i="0" lang="en-US" sz="1050" u="none" cap="none" strike="noStrike">
                <a:solidFill>
                  <a:srgbClr val="EDEDED"/>
                </a:solidFill>
                <a:latin typeface="Courier New"/>
                <a:ea typeface="Courier New"/>
                <a:cs typeface="Courier New"/>
                <a:sym typeface="Courier New"/>
              </a:rPr>
              <a:t>, vec.begin(), vec.end(),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5  </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F2A7A7"/>
                </a:solidFill>
                <a:latin typeface="Courier New"/>
                <a:ea typeface="Courier New"/>
                <a:cs typeface="Courier New"/>
                <a:sym typeface="Courier New"/>
              </a:rPr>
              <a:t>__host__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__device__</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"GPU"</a:t>
            </a:r>
            <a:r>
              <a:rPr b="0" i="0" lang="en-US" sz="10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7  </a:t>
            </a: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9CDCFE"/>
                </a:solidFill>
                <a:latin typeface="Courier New"/>
                <a:ea typeface="Courier New"/>
                <a:cs typeface="Courier New"/>
                <a:sym typeface="Courier New"/>
              </a:rPr>
              <a:t>thrust::host</a:t>
            </a:r>
            <a:r>
              <a:rPr b="0" i="0" lang="en-US" sz="1050" u="none" cap="none" strike="noStrike">
                <a:solidFill>
                  <a:srgbClr val="EDEDED"/>
                </a:solidFill>
                <a:latin typeface="Courier New"/>
                <a:ea typeface="Courier New"/>
                <a:cs typeface="Courier New"/>
                <a:sym typeface="Courier New"/>
              </a:rPr>
              <a:t>, vec.begin(), vec.end(),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8  </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F2A7A7"/>
                </a:solidFill>
                <a:latin typeface="Courier New"/>
                <a:ea typeface="Courier New"/>
                <a:cs typeface="Courier New"/>
                <a:sym typeface="Courier New"/>
              </a:rPr>
              <a:t>__host__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__device__</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"CPU"</a:t>
            </a:r>
            <a:r>
              <a:rPr b="0" i="0" lang="en-US" sz="10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 9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E6E6E"/>
              </a:buClr>
              <a:buSzPts val="1050"/>
              <a:buFont typeface="Courier New"/>
              <a:buNone/>
            </a:pPr>
            <a:r>
              <a:rPr b="0" i="0" lang="en-US" sz="1050" u="none" cap="none" strike="noStrike">
                <a:solidFill>
                  <a:srgbClr val="6E6E6E"/>
                </a:solidFill>
                <a:latin typeface="Courier New"/>
                <a:ea typeface="Courier New"/>
                <a:cs typeface="Courier New"/>
                <a:sym typeface="Courier New"/>
              </a:rPr>
              <a:t>10  </a:t>
            </a:r>
            <a:r>
              <a:rPr b="0" i="0" lang="en-US" sz="1050" u="none" cap="none" strike="noStrike">
                <a:solidFill>
                  <a:srgbClr val="9CDCFE"/>
                </a:solidFill>
                <a:latin typeface="Courier New"/>
                <a:ea typeface="Courier New"/>
                <a:cs typeface="Courier New"/>
                <a:sym typeface="Courier New"/>
              </a:rPr>
              <a:t>cv::where_am_I</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"CPU"</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777" name="Google Shape;777;p16"/>
          <p:cNvSpPr/>
          <p:nvPr/>
        </p:nvSpPr>
        <p:spPr>
          <a:xfrm>
            <a:off x="6675120" y="1051560"/>
            <a:ext cx="2011680" cy="603504"/>
          </a:xfrm>
          <a:prstGeom prst="roundRect">
            <a:avLst>
              <a:gd fmla="val 10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6"/>
          <p:cNvSpPr txBox="1"/>
          <p:nvPr/>
        </p:nvSpPr>
        <p:spPr>
          <a:xfrm>
            <a:off x="6784848" y="1088136"/>
            <a:ext cx="182880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000"/>
              <a:buFont typeface="Arial"/>
              <a:buNone/>
            </a:pPr>
            <a:r>
              <a:rPr b="1" i="0" lang="en-US" sz="1000" u="none" cap="none" strike="noStrike">
                <a:solidFill>
                  <a:srgbClr val="500000"/>
                </a:solidFill>
                <a:latin typeface="Arial"/>
                <a:ea typeface="Arial"/>
                <a:cs typeface="Arial"/>
                <a:sym typeface="Arial"/>
              </a:rPr>
              <a:t>Line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main() always starts on the CPU.</a:t>
            </a:r>
            <a:endParaRPr b="0" i="0" sz="1400" u="none" cap="none" strike="noStrike">
              <a:solidFill>
                <a:srgbClr val="000000"/>
              </a:solidFill>
              <a:latin typeface="Arial"/>
              <a:ea typeface="Arial"/>
              <a:cs typeface="Arial"/>
              <a:sym typeface="Arial"/>
            </a:endParaRPr>
          </a:p>
        </p:txBody>
      </p:sp>
      <p:sp>
        <p:nvSpPr>
          <p:cNvPr id="779" name="Google Shape;779;p16"/>
          <p:cNvSpPr/>
          <p:nvPr/>
        </p:nvSpPr>
        <p:spPr>
          <a:xfrm>
            <a:off x="6675120" y="1728216"/>
            <a:ext cx="2011680" cy="603504"/>
          </a:xfrm>
          <a:prstGeom prst="roundRect">
            <a:avLst>
              <a:gd fmla="val 10000" name="adj"/>
            </a:avLst>
          </a:prstGeom>
          <a:solidFill>
            <a:srgbClr val="E4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6"/>
          <p:cNvSpPr txBox="1"/>
          <p:nvPr/>
        </p:nvSpPr>
        <p:spPr>
          <a:xfrm>
            <a:off x="6784848" y="1764792"/>
            <a:ext cx="182880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A5F0B"/>
              </a:buClr>
              <a:buSzPts val="1000"/>
              <a:buFont typeface="Arial"/>
              <a:buNone/>
            </a:pPr>
            <a:r>
              <a:rPr b="1" i="0" lang="en-US" sz="1000" u="none" cap="none" strike="noStrike">
                <a:solidFill>
                  <a:srgbClr val="3A5F0B"/>
                </a:solidFill>
                <a:latin typeface="Arial"/>
                <a:ea typeface="Arial"/>
                <a:cs typeface="Arial"/>
                <a:sym typeface="Arial"/>
              </a:rPr>
              <a:t>Line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thrust::device + a lambda that has a GPU version → GPU.</a:t>
            </a:r>
            <a:endParaRPr b="0" i="0" sz="1400" u="none" cap="none" strike="noStrike">
              <a:solidFill>
                <a:srgbClr val="000000"/>
              </a:solidFill>
              <a:latin typeface="Arial"/>
              <a:ea typeface="Arial"/>
              <a:cs typeface="Arial"/>
              <a:sym typeface="Arial"/>
            </a:endParaRPr>
          </a:p>
        </p:txBody>
      </p:sp>
      <p:sp>
        <p:nvSpPr>
          <p:cNvPr id="781" name="Google Shape;781;p16"/>
          <p:cNvSpPr/>
          <p:nvPr/>
        </p:nvSpPr>
        <p:spPr>
          <a:xfrm>
            <a:off x="6675120" y="2404872"/>
            <a:ext cx="2011680" cy="603504"/>
          </a:xfrm>
          <a:prstGeom prst="roundRect">
            <a:avLst>
              <a:gd fmla="val 10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txBox="1"/>
          <p:nvPr/>
        </p:nvSpPr>
        <p:spPr>
          <a:xfrm>
            <a:off x="6784848" y="2441448"/>
            <a:ext cx="182880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000"/>
              <a:buFont typeface="Arial"/>
              <a:buNone/>
            </a:pPr>
            <a:r>
              <a:rPr b="1" i="0" lang="en-US" sz="1000" u="none" cap="none" strike="noStrike">
                <a:solidFill>
                  <a:srgbClr val="500000"/>
                </a:solidFill>
                <a:latin typeface="Arial"/>
                <a:ea typeface="Arial"/>
                <a:cs typeface="Arial"/>
                <a:sym typeface="Arial"/>
              </a:rPr>
              <a:t>Line 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Same lambda, thrust::host → CPU.</a:t>
            </a:r>
            <a:endParaRPr b="0" i="0" sz="1400" u="none" cap="none" strike="noStrike">
              <a:solidFill>
                <a:srgbClr val="000000"/>
              </a:solidFill>
              <a:latin typeface="Arial"/>
              <a:ea typeface="Arial"/>
              <a:cs typeface="Arial"/>
              <a:sym typeface="Arial"/>
            </a:endParaRPr>
          </a:p>
        </p:txBody>
      </p:sp>
      <p:sp>
        <p:nvSpPr>
          <p:cNvPr id="783" name="Google Shape;783;p16"/>
          <p:cNvSpPr/>
          <p:nvPr/>
        </p:nvSpPr>
        <p:spPr>
          <a:xfrm>
            <a:off x="6675120" y="3081528"/>
            <a:ext cx="2011680" cy="603504"/>
          </a:xfrm>
          <a:prstGeom prst="roundRect">
            <a:avLst>
              <a:gd fmla="val 10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6"/>
          <p:cNvSpPr txBox="1"/>
          <p:nvPr/>
        </p:nvSpPr>
        <p:spPr>
          <a:xfrm>
            <a:off x="6784848" y="3118104"/>
            <a:ext cx="182880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1000"/>
              <a:buFont typeface="Arial"/>
              <a:buNone/>
            </a:pPr>
            <a:r>
              <a:rPr b="1" i="0" lang="en-US" sz="1000" u="none" cap="none" strike="noStrike">
                <a:solidFill>
                  <a:srgbClr val="500000"/>
                </a:solidFill>
                <a:latin typeface="Arial"/>
                <a:ea typeface="Arial"/>
                <a:cs typeface="Arial"/>
                <a:sym typeface="Arial"/>
              </a:rPr>
              <a:t>Line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B2B2B"/>
              </a:buClr>
              <a:buSzPts val="900"/>
              <a:buFont typeface="Arial"/>
              <a:buNone/>
            </a:pPr>
            <a:r>
              <a:rPr b="0" i="0" lang="en-US" sz="900" u="none" cap="none" strike="noStrike">
                <a:solidFill>
                  <a:srgbClr val="2B2B2B"/>
                </a:solidFill>
                <a:latin typeface="Arial"/>
                <a:ea typeface="Arial"/>
                <a:cs typeface="Arial"/>
                <a:sym typeface="Arial"/>
              </a:rPr>
              <a:t>Back on the CPU. Device execution does not "leak" out of the algorithm.</a:t>
            </a:r>
            <a:endParaRPr b="0" i="0" sz="1400" u="none" cap="none" strike="noStrike">
              <a:solidFill>
                <a:srgbClr val="000000"/>
              </a:solidFill>
              <a:latin typeface="Arial"/>
              <a:ea typeface="Arial"/>
              <a:cs typeface="Arial"/>
              <a:sym typeface="Arial"/>
            </a:endParaRPr>
          </a:p>
        </p:txBody>
      </p:sp>
      <p:sp>
        <p:nvSpPr>
          <p:cNvPr id="785" name="Google Shape;785;p16"/>
          <p:cNvSpPr/>
          <p:nvPr/>
        </p:nvSpPr>
        <p:spPr>
          <a:xfrm>
            <a:off x="457200" y="3886200"/>
            <a:ext cx="8229600" cy="548640"/>
          </a:xfrm>
          <a:prstGeom prst="roundRect">
            <a:avLst>
              <a:gd fmla="val 120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6"/>
          <p:cNvSpPr txBox="1"/>
          <p:nvPr/>
        </p:nvSpPr>
        <p:spPr>
          <a:xfrm>
            <a:off x="640080" y="3886200"/>
            <a:ext cx="786384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76B900"/>
              </a:buClr>
              <a:buSzPts val="1200"/>
              <a:buFont typeface="Arial"/>
              <a:buNone/>
            </a:pPr>
            <a:r>
              <a:rPr b="1" i="0" lang="en-US" sz="1200" u="none" cap="none" strike="noStrike">
                <a:solidFill>
                  <a:srgbClr val="76B900"/>
                </a:solidFill>
                <a:latin typeface="Arial"/>
                <a:ea typeface="Arial"/>
                <a:cs typeface="Arial"/>
                <a:sym typeface="Arial"/>
              </a:rPr>
              <a:t>Key idea: </a:t>
            </a:r>
            <a:r>
              <a:rPr b="0" i="0" lang="en-US" sz="1200" u="none" cap="none" strike="noStrike">
                <a:solidFill>
                  <a:srgbClr val="FFFFFF"/>
                </a:solidFill>
                <a:latin typeface="Arial"/>
                <a:ea typeface="Arial"/>
                <a:cs typeface="Arial"/>
                <a:sym typeface="Arial"/>
              </a:rPr>
              <a:t>the policy only affects the algorithm it is passed to. Everything else stays on the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17"/>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Exercise 2: move it to the GPU</a:t>
            </a:r>
            <a:endParaRPr b="0" i="0" sz="1400" u="none" cap="none" strike="noStrike">
              <a:solidFill>
                <a:srgbClr val="000000"/>
              </a:solidFill>
              <a:latin typeface="Arial"/>
              <a:ea typeface="Arial"/>
              <a:cs typeface="Arial"/>
              <a:sym typeface="Arial"/>
            </a:endParaRPr>
          </a:p>
        </p:txBody>
      </p:sp>
      <p:sp>
        <p:nvSpPr>
          <p:cNvPr id="793" name="Google Shape;793;p17"/>
          <p:cNvSpPr txBox="1"/>
          <p:nvPr/>
        </p:nvSpPr>
        <p:spPr>
          <a:xfrm>
            <a:off x="457200" y="896112"/>
            <a:ext cx="82296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5 minutes  ·  this loop prints on the CPU. Make it run on the GPU.</a:t>
            </a:r>
            <a:endParaRPr b="0" i="0" sz="1400" u="none" cap="none" strike="noStrike">
              <a:solidFill>
                <a:srgbClr val="000000"/>
              </a:solidFill>
              <a:latin typeface="Arial"/>
              <a:ea typeface="Arial"/>
              <a:cs typeface="Arial"/>
              <a:sym typeface="Arial"/>
            </a:endParaRPr>
          </a:p>
        </p:txBody>
      </p:sp>
      <p:sp>
        <p:nvSpPr>
          <p:cNvPr id="794" name="Google Shape;794;p17"/>
          <p:cNvSpPr/>
          <p:nvPr/>
        </p:nvSpPr>
        <p:spPr>
          <a:xfrm>
            <a:off x="457200" y="1325880"/>
            <a:ext cx="8229600" cy="109728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7"/>
          <p:cNvSpPr txBox="1"/>
          <p:nvPr/>
        </p:nvSpPr>
        <p:spPr>
          <a:xfrm>
            <a:off x="640080" y="1463040"/>
            <a:ext cx="7863840" cy="822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1100"/>
              <a:buFont typeface="Courier New"/>
              <a:buNone/>
            </a:pPr>
            <a:r>
              <a:rPr b="0" i="0" lang="en-US" sz="1100" u="none" cap="none" strike="noStrike">
                <a:solidFill>
                  <a:srgbClr val="9CDCFE"/>
                </a:solidFill>
                <a:latin typeface="Courier New"/>
                <a:ea typeface="Courier New"/>
                <a:cs typeface="Courier New"/>
                <a:sym typeface="Courier New"/>
              </a:rPr>
              <a:t>thrust::for_each</a:t>
            </a:r>
            <a:r>
              <a:rPr b="0" i="0" lang="en-US" sz="1100" u="none" cap="none" strike="noStrike">
                <a:solidFill>
                  <a:srgbClr val="EDEDED"/>
                </a:solidFill>
                <a:latin typeface="Courier New"/>
                <a:ea typeface="Courier New"/>
                <a:cs typeface="Courier New"/>
                <a:sym typeface="Courier New"/>
              </a:rPr>
              <a:t>(</a:t>
            </a:r>
            <a:r>
              <a:rPr b="0" i="0" lang="en-US" sz="1100" u="none" cap="none" strike="noStrike">
                <a:solidFill>
                  <a:srgbClr val="9CDCFE"/>
                </a:solidFill>
                <a:latin typeface="Courier New"/>
                <a:ea typeface="Courier New"/>
                <a:cs typeface="Courier New"/>
                <a:sym typeface="Courier New"/>
              </a:rPr>
              <a:t>thrust::host</a:t>
            </a:r>
            <a:r>
              <a:rPr b="0" i="0" lang="en-US" sz="1100" u="none" cap="none" strike="noStrike">
                <a:solidFill>
                  <a:srgbClr val="EDEDED"/>
                </a:solidFill>
                <a:latin typeface="Courier New"/>
                <a:ea typeface="Courier New"/>
                <a:cs typeface="Courier New"/>
                <a:sym typeface="Courier New"/>
              </a:rPr>
              <a:t>, vec.begin(), vec.end(), [] </a:t>
            </a:r>
            <a:r>
              <a:rPr b="0" i="0" lang="en-US" sz="1100" u="none" cap="none" strike="noStrike">
                <a:solidFill>
                  <a:srgbClr val="F2A7A7"/>
                </a:solidFill>
                <a:latin typeface="Courier New"/>
                <a:ea typeface="Courier New"/>
                <a:cs typeface="Courier New"/>
                <a:sym typeface="Courier New"/>
              </a:rPr>
              <a:t>__host__</a:t>
            </a:r>
            <a:r>
              <a:rPr b="0" i="0" lang="en-US" sz="1100" u="none" cap="none" strike="noStrike">
                <a:solidFill>
                  <a:srgbClr val="EDEDED"/>
                </a:solidFill>
                <a:latin typeface="Courier New"/>
                <a:ea typeface="Courier New"/>
                <a:cs typeface="Courier New"/>
                <a:sym typeface="Courier New"/>
              </a:rPr>
              <a:t> (</a:t>
            </a:r>
            <a:r>
              <a:rPr b="0" i="0" lang="en-US" sz="1100" u="none" cap="none" strike="noStrike">
                <a:solidFill>
                  <a:srgbClr val="F2A7A7"/>
                </a:solidFill>
                <a:latin typeface="Courier New"/>
                <a:ea typeface="Courier New"/>
                <a:cs typeface="Courier New"/>
                <a:sym typeface="Courier New"/>
              </a:rPr>
              <a:t>int</a:t>
            </a:r>
            <a:r>
              <a:rPr b="0" i="0" lang="en-US" sz="1100" u="none" cap="none" strike="noStrike">
                <a:solidFill>
                  <a:srgbClr val="EDEDED"/>
                </a:solidFill>
                <a:latin typeface="Courier New"/>
                <a:ea typeface="Courier New"/>
                <a:cs typeface="Courier New"/>
                <a:sym typeface="Courier New"/>
              </a:rPr>
              <a:t> val)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100"/>
              <a:buFont typeface="Courier New"/>
              <a:buNone/>
            </a:pPr>
            <a:r>
              <a:rPr b="0" i="0" lang="en-US" sz="1100" u="none" cap="none" strike="noStrike">
                <a:solidFill>
                  <a:srgbClr val="EDEDED"/>
                </a:solidFill>
                <a:latin typeface="Courier New"/>
                <a:ea typeface="Courier New"/>
                <a:cs typeface="Courier New"/>
                <a:sym typeface="Courier New"/>
              </a:rPr>
              <a:t>  printf(</a:t>
            </a:r>
            <a:r>
              <a:rPr b="0" i="0" lang="en-US" sz="1100" u="none" cap="none" strike="noStrike">
                <a:solidFill>
                  <a:srgbClr val="E8C07D"/>
                </a:solidFill>
                <a:latin typeface="Courier New"/>
                <a:ea typeface="Courier New"/>
                <a:cs typeface="Courier New"/>
                <a:sym typeface="Courier New"/>
              </a:rPr>
              <a:t>"printing %d on %s\n"</a:t>
            </a:r>
            <a:r>
              <a:rPr b="0" i="0" lang="en-US" sz="1100" u="none" cap="none" strike="noStrike">
                <a:solidFill>
                  <a:srgbClr val="EDEDED"/>
                </a:solidFill>
                <a:latin typeface="Courier New"/>
                <a:ea typeface="Courier New"/>
                <a:cs typeface="Courier New"/>
                <a:sym typeface="Courier New"/>
              </a:rPr>
              <a:t>, val, </a:t>
            </a:r>
            <a:r>
              <a:rPr b="0" i="0" lang="en-US" sz="1100" u="none" cap="none" strike="noStrike">
                <a:solidFill>
                  <a:srgbClr val="9CDCFE"/>
                </a:solidFill>
                <a:latin typeface="Courier New"/>
                <a:ea typeface="Courier New"/>
                <a:cs typeface="Courier New"/>
                <a:sym typeface="Courier New"/>
              </a:rPr>
              <a:t>cv::execution_space</a:t>
            </a:r>
            <a:r>
              <a:rPr b="0" i="0" lang="en-US" sz="110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100"/>
              <a:buFont typeface="Courier New"/>
              <a:buNone/>
            </a:pPr>
            <a:r>
              <a:rPr b="0" i="0" lang="en-US" sz="110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796" name="Google Shape;796;p17"/>
          <p:cNvSpPr/>
          <p:nvPr/>
        </p:nvSpPr>
        <p:spPr>
          <a:xfrm>
            <a:off x="457200" y="2651760"/>
            <a:ext cx="3931920" cy="1325880"/>
          </a:xfrm>
          <a:prstGeom prst="roundRect">
            <a:avLst>
              <a:gd fmla="val 6000" name="adj"/>
            </a:avLst>
          </a:prstGeom>
          <a:solidFill>
            <a:srgbClr val="F3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7"/>
          <p:cNvSpPr txBox="1"/>
          <p:nvPr/>
        </p:nvSpPr>
        <p:spPr>
          <a:xfrm>
            <a:off x="621792" y="2788920"/>
            <a:ext cx="3602736" cy="10515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Hint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You need to change TWO words. One controls where it runs, the other controls what gets compiled.</a:t>
            </a:r>
            <a:endParaRPr b="0" i="0" sz="1400" u="none" cap="none" strike="noStrike">
              <a:solidFill>
                <a:srgbClr val="000000"/>
              </a:solidFill>
              <a:latin typeface="Arial"/>
              <a:ea typeface="Arial"/>
              <a:cs typeface="Arial"/>
              <a:sym typeface="Arial"/>
            </a:endParaRPr>
          </a:p>
        </p:txBody>
      </p:sp>
      <p:sp>
        <p:nvSpPr>
          <p:cNvPr id="798" name="Google Shape;798;p17"/>
          <p:cNvSpPr/>
          <p:nvPr/>
        </p:nvSpPr>
        <p:spPr>
          <a:xfrm>
            <a:off x="4754880" y="2651760"/>
            <a:ext cx="3931920" cy="1325880"/>
          </a:xfrm>
          <a:prstGeom prst="roundRect">
            <a:avLst>
              <a:gd fmla="val 6000"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7"/>
          <p:cNvSpPr txBox="1"/>
          <p:nvPr/>
        </p:nvSpPr>
        <p:spPr>
          <a:xfrm>
            <a:off x="4919472" y="2788920"/>
            <a:ext cx="3602736" cy="10515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400"/>
              <a:buFont typeface="Arial"/>
              <a:buNone/>
            </a:pPr>
            <a:r>
              <a:rPr b="1" i="0" lang="en-US" sz="1400" u="none" cap="none" strike="noStrike">
                <a:solidFill>
                  <a:srgbClr val="500000"/>
                </a:solidFill>
                <a:latin typeface="Arial"/>
                <a:ea typeface="Arial"/>
                <a:cs typeface="Arial"/>
                <a:sym typeface="Arial"/>
              </a:rPr>
              <a:t>Expected 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3A5F0B"/>
              </a:buClr>
              <a:buSzPts val="1100"/>
              <a:buFont typeface="Courier New"/>
              <a:buNone/>
            </a:pPr>
            <a:r>
              <a:rPr b="0" i="0" lang="en-US" sz="1100" u="none" cap="none" strike="noStrike">
                <a:solidFill>
                  <a:srgbClr val="3A5F0B"/>
                </a:solidFill>
                <a:latin typeface="Courier New"/>
                <a:ea typeface="Courier New"/>
                <a:cs typeface="Courier New"/>
                <a:sym typeface="Courier New"/>
              </a:rPr>
              <a:t>printing 1 on GPU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3A5F0B"/>
              </a:buClr>
              <a:buSzPts val="1100"/>
              <a:buFont typeface="Courier New"/>
              <a:buNone/>
            </a:pPr>
            <a:r>
              <a:rPr b="0" i="0" lang="en-US" sz="1100" u="none" cap="none" strike="noStrike">
                <a:solidFill>
                  <a:srgbClr val="3A5F0B"/>
                </a:solidFill>
                <a:latin typeface="Courier New"/>
                <a:ea typeface="Courier New"/>
                <a:cs typeface="Courier New"/>
                <a:sym typeface="Courier New"/>
              </a:rPr>
              <a:t>printing 2 on GPU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3A5F0B"/>
              </a:buClr>
              <a:buSzPts val="1100"/>
              <a:buFont typeface="Courier New"/>
              <a:buNone/>
            </a:pPr>
            <a:r>
              <a:rPr b="0" i="0" lang="en-US" sz="1100" u="none" cap="none" strike="noStrike">
                <a:solidFill>
                  <a:srgbClr val="3A5F0B"/>
                </a:solidFill>
                <a:latin typeface="Courier New"/>
                <a:ea typeface="Courier New"/>
                <a:cs typeface="Courier New"/>
                <a:sym typeface="Courier New"/>
              </a:rPr>
              <a:t>printing 3 on GPU</a:t>
            </a:r>
            <a:endParaRPr b="0" i="0" sz="1400" u="none" cap="none" strike="noStrike">
              <a:solidFill>
                <a:srgbClr val="000000"/>
              </a:solidFill>
              <a:latin typeface="Arial"/>
              <a:ea typeface="Arial"/>
              <a:cs typeface="Arial"/>
              <a:sym typeface="Arial"/>
            </a:endParaRPr>
          </a:p>
        </p:txBody>
      </p:sp>
      <p:sp>
        <p:nvSpPr>
          <p:cNvPr id="800" name="Google Shape;800;p17"/>
          <p:cNvSpPr txBox="1"/>
          <p:nvPr/>
        </p:nvSpPr>
        <p:spPr>
          <a:xfrm>
            <a:off x="457200" y="4114800"/>
            <a:ext cx="8229600" cy="4114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100"/>
              <a:buFont typeface="Arial"/>
              <a:buNone/>
            </a:pPr>
            <a:r>
              <a:rPr b="1" i="0" lang="en-US" sz="1100" u="none" cap="none" strike="noStrike">
                <a:solidFill>
                  <a:srgbClr val="2B2B2B"/>
                </a:solidFill>
                <a:latin typeface="Arial"/>
                <a:ea typeface="Arial"/>
                <a:cs typeface="Arial"/>
                <a:sym typeface="Arial"/>
              </a:rPr>
              <a:t>File: </a:t>
            </a:r>
            <a:r>
              <a:rPr b="0" i="0" lang="en-US" sz="1100" u="none" cap="none" strike="noStrike">
                <a:solidFill>
                  <a:srgbClr val="6E6E6E"/>
                </a:solidFill>
                <a:latin typeface="Courier New"/>
                <a:ea typeface="Courier New"/>
                <a:cs typeface="Courier New"/>
                <a:sym typeface="Courier New"/>
              </a:rPr>
              <a:t>01-execution-spaces/ex2_change_space_problem.cu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5" name="Shape 805"/>
        <p:cNvGrpSpPr/>
        <p:nvPr/>
      </p:nvGrpSpPr>
      <p:grpSpPr>
        <a:xfrm>
          <a:off x="0" y="0"/>
          <a:ext cx="0" cy="0"/>
          <a:chOff x="0" y="0"/>
          <a:chExt cx="0" cy="0"/>
        </a:xfrm>
      </p:grpSpPr>
      <p:sp>
        <p:nvSpPr>
          <p:cNvPr id="806" name="Google Shape;806;p18"/>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Exercise 2: solution</a:t>
            </a:r>
            <a:endParaRPr b="0" i="0" sz="1400" u="none" cap="none" strike="noStrike">
              <a:solidFill>
                <a:srgbClr val="000000"/>
              </a:solidFill>
              <a:latin typeface="Arial"/>
              <a:ea typeface="Arial"/>
              <a:cs typeface="Arial"/>
              <a:sym typeface="Arial"/>
            </a:endParaRPr>
          </a:p>
        </p:txBody>
      </p:sp>
      <p:sp>
        <p:nvSpPr>
          <p:cNvPr id="807" name="Google Shape;807;p18"/>
          <p:cNvSpPr txBox="1"/>
          <p:nvPr/>
        </p:nvSpPr>
        <p:spPr>
          <a:xfrm>
            <a:off x="457200" y="914400"/>
            <a:ext cx="36576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Before: CPU</a:t>
            </a:r>
            <a:endParaRPr b="0" i="0" sz="1400" u="none" cap="none" strike="noStrike">
              <a:solidFill>
                <a:srgbClr val="000000"/>
              </a:solidFill>
              <a:latin typeface="Arial"/>
              <a:ea typeface="Arial"/>
              <a:cs typeface="Arial"/>
              <a:sym typeface="Arial"/>
            </a:endParaRPr>
          </a:p>
        </p:txBody>
      </p:sp>
      <p:sp>
        <p:nvSpPr>
          <p:cNvPr id="808" name="Google Shape;808;p18"/>
          <p:cNvSpPr/>
          <p:nvPr/>
        </p:nvSpPr>
        <p:spPr>
          <a:xfrm>
            <a:off x="457200" y="1188720"/>
            <a:ext cx="8229600" cy="91440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8"/>
          <p:cNvSpPr txBox="1"/>
          <p:nvPr/>
        </p:nvSpPr>
        <p:spPr>
          <a:xfrm>
            <a:off x="640080" y="1325880"/>
            <a:ext cx="7863840"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1050"/>
              <a:buFont typeface="Courier New"/>
              <a:buNone/>
            </a:pP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0" i="0" lang="en-US" sz="1050" u="none" cap="none" strike="noStrike">
                <a:solidFill>
                  <a:srgbClr val="9CDCFE"/>
                </a:solidFill>
                <a:latin typeface="Courier New"/>
                <a:ea typeface="Courier New"/>
                <a:cs typeface="Courier New"/>
                <a:sym typeface="Courier New"/>
              </a:rPr>
              <a:t>thrust::host</a:t>
            </a:r>
            <a:r>
              <a:rPr b="0" i="0" lang="en-US" sz="1050" u="none" cap="none" strike="noStrike">
                <a:solidFill>
                  <a:srgbClr val="EDEDED"/>
                </a:solidFill>
                <a:latin typeface="Courier New"/>
                <a:ea typeface="Courier New"/>
                <a:cs typeface="Courier New"/>
                <a:sym typeface="Courier New"/>
              </a:rPr>
              <a:t>, vec.begin(), vec.end(), [] </a:t>
            </a:r>
            <a:r>
              <a:rPr b="0" i="0" lang="en-US" sz="1050" u="none" cap="none" strike="noStrike">
                <a:solidFill>
                  <a:srgbClr val="F2A7A7"/>
                </a:solidFill>
                <a:latin typeface="Courier New"/>
                <a:ea typeface="Courier New"/>
                <a:cs typeface="Courier New"/>
                <a:sym typeface="Courier New"/>
              </a:rPr>
              <a:t>__host__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val)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050"/>
              <a:buFont typeface="Courier New"/>
              <a:buNone/>
            </a:pPr>
            <a:r>
              <a:rPr b="0" i="0" lang="en-US" sz="1050" u="none" cap="none" strike="noStrike">
                <a:solidFill>
                  <a:srgbClr val="EDEDED"/>
                </a:solidFill>
                <a:latin typeface="Courier New"/>
                <a:ea typeface="Courier New"/>
                <a:cs typeface="Courier New"/>
                <a:sym typeface="Courier New"/>
              </a:rPr>
              <a:t>  printf(</a:t>
            </a:r>
            <a:r>
              <a:rPr b="0" i="0" lang="en-US" sz="1050" u="none" cap="none" strike="noStrike">
                <a:solidFill>
                  <a:srgbClr val="E8C07D"/>
                </a:solidFill>
                <a:latin typeface="Courier New"/>
                <a:ea typeface="Courier New"/>
                <a:cs typeface="Courier New"/>
                <a:sym typeface="Courier New"/>
              </a:rPr>
              <a:t>"printing %d on %s\n"</a:t>
            </a:r>
            <a:r>
              <a:rPr b="0" i="0" lang="en-US" sz="1050" u="none" cap="none" strike="noStrike">
                <a:solidFill>
                  <a:srgbClr val="EDEDED"/>
                </a:solidFill>
                <a:latin typeface="Courier New"/>
                <a:ea typeface="Courier New"/>
                <a:cs typeface="Courier New"/>
                <a:sym typeface="Courier New"/>
              </a:rPr>
              <a:t>, val, </a:t>
            </a:r>
            <a:r>
              <a:rPr b="0" i="0" lang="en-US" sz="1050" u="none" cap="none" strike="noStrike">
                <a:solidFill>
                  <a:srgbClr val="9CDCFE"/>
                </a:solidFill>
                <a:latin typeface="Courier New"/>
                <a:ea typeface="Courier New"/>
                <a:cs typeface="Courier New"/>
                <a:sym typeface="Courier New"/>
              </a:rPr>
              <a:t>cv::execution_space</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050"/>
              <a:buFont typeface="Courier New"/>
              <a:buNone/>
            </a:pP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10" name="Google Shape;810;p18"/>
          <p:cNvSpPr txBox="1"/>
          <p:nvPr/>
        </p:nvSpPr>
        <p:spPr>
          <a:xfrm>
            <a:off x="457200" y="2194560"/>
            <a:ext cx="36576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4E7A00"/>
              </a:buClr>
              <a:buSzPts val="1200"/>
              <a:buFont typeface="Arial"/>
              <a:buNone/>
            </a:pPr>
            <a:r>
              <a:rPr b="1" i="0" lang="en-US" sz="1200" u="none" cap="none" strike="noStrike">
                <a:solidFill>
                  <a:srgbClr val="4E7A00"/>
                </a:solidFill>
                <a:latin typeface="Arial"/>
                <a:ea typeface="Arial"/>
                <a:cs typeface="Arial"/>
                <a:sym typeface="Arial"/>
              </a:rPr>
              <a:t>After: GPU</a:t>
            </a:r>
            <a:endParaRPr b="0" i="0" sz="1400" u="none" cap="none" strike="noStrike">
              <a:solidFill>
                <a:srgbClr val="000000"/>
              </a:solidFill>
              <a:latin typeface="Arial"/>
              <a:ea typeface="Arial"/>
              <a:cs typeface="Arial"/>
              <a:sym typeface="Arial"/>
            </a:endParaRPr>
          </a:p>
        </p:txBody>
      </p:sp>
      <p:sp>
        <p:nvSpPr>
          <p:cNvPr id="811" name="Google Shape;811;p18"/>
          <p:cNvSpPr/>
          <p:nvPr/>
        </p:nvSpPr>
        <p:spPr>
          <a:xfrm>
            <a:off x="457200" y="2468880"/>
            <a:ext cx="8229600" cy="91440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8"/>
          <p:cNvSpPr txBox="1"/>
          <p:nvPr/>
        </p:nvSpPr>
        <p:spPr>
          <a:xfrm>
            <a:off x="640080" y="2606040"/>
            <a:ext cx="7863840"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1050"/>
              <a:buFont typeface="Courier New"/>
              <a:buNone/>
            </a:pPr>
            <a:r>
              <a:rPr b="0" i="0" lang="en-US" sz="1050" u="none" cap="none" strike="noStrike">
                <a:solidFill>
                  <a:srgbClr val="9CDCFE"/>
                </a:solidFill>
                <a:latin typeface="Courier New"/>
                <a:ea typeface="Courier New"/>
                <a:cs typeface="Courier New"/>
                <a:sym typeface="Courier New"/>
              </a:rPr>
              <a:t>thrust::for_each</a:t>
            </a:r>
            <a:r>
              <a:rPr b="0" i="0" lang="en-US" sz="1050" u="none" cap="none" strike="noStrike">
                <a:solidFill>
                  <a:srgbClr val="EDEDED"/>
                </a:solidFill>
                <a:latin typeface="Courier New"/>
                <a:ea typeface="Courier New"/>
                <a:cs typeface="Courier New"/>
                <a:sym typeface="Courier New"/>
              </a:rPr>
              <a:t>(</a:t>
            </a:r>
            <a:r>
              <a:rPr b="1" i="0" lang="en-US" sz="1050" u="none" cap="none" strike="noStrike">
                <a:solidFill>
                  <a:srgbClr val="76B900"/>
                </a:solidFill>
                <a:latin typeface="Courier New"/>
                <a:ea typeface="Courier New"/>
                <a:cs typeface="Courier New"/>
                <a:sym typeface="Courier New"/>
              </a:rPr>
              <a:t>thrust::device</a:t>
            </a:r>
            <a:r>
              <a:rPr b="0" i="0" lang="en-US" sz="1050" u="none" cap="none" strike="noStrike">
                <a:solidFill>
                  <a:srgbClr val="EDEDED"/>
                </a:solidFill>
                <a:latin typeface="Courier New"/>
                <a:ea typeface="Courier New"/>
                <a:cs typeface="Courier New"/>
                <a:sym typeface="Courier New"/>
              </a:rPr>
              <a:t>, vec.begin(), vec.end(), [] </a:t>
            </a:r>
            <a:r>
              <a:rPr b="1" i="0" lang="en-US" sz="1050" u="none" cap="none" strike="noStrike">
                <a:solidFill>
                  <a:srgbClr val="76B900"/>
                </a:solidFill>
                <a:latin typeface="Courier New"/>
                <a:ea typeface="Courier New"/>
                <a:cs typeface="Courier New"/>
                <a:sym typeface="Courier New"/>
              </a:rPr>
              <a:t>__device__</a:t>
            </a:r>
            <a:r>
              <a:rPr b="0" i="0" lang="en-US" sz="1050" u="none" cap="none" strike="noStrike">
                <a:solidFill>
                  <a:srgbClr val="EDEDED"/>
                </a:solidFill>
                <a:latin typeface="Courier New"/>
                <a:ea typeface="Courier New"/>
                <a:cs typeface="Courier New"/>
                <a:sym typeface="Courier New"/>
              </a:rPr>
              <a:t> (</a:t>
            </a:r>
            <a:r>
              <a:rPr b="0" i="0" lang="en-US" sz="1050" u="none" cap="none" strike="noStrike">
                <a:solidFill>
                  <a:srgbClr val="F2A7A7"/>
                </a:solidFill>
                <a:latin typeface="Courier New"/>
                <a:ea typeface="Courier New"/>
                <a:cs typeface="Courier New"/>
                <a:sym typeface="Courier New"/>
              </a:rPr>
              <a:t>int</a:t>
            </a:r>
            <a:r>
              <a:rPr b="0" i="0" lang="en-US" sz="1050" u="none" cap="none" strike="noStrike">
                <a:solidFill>
                  <a:srgbClr val="EDEDED"/>
                </a:solidFill>
                <a:latin typeface="Courier New"/>
                <a:ea typeface="Courier New"/>
                <a:cs typeface="Courier New"/>
                <a:sym typeface="Courier New"/>
              </a:rPr>
              <a:t> val)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050"/>
              <a:buFont typeface="Courier New"/>
              <a:buNone/>
            </a:pPr>
            <a:r>
              <a:rPr b="0" i="0" lang="en-US" sz="1050" u="none" cap="none" strike="noStrike">
                <a:solidFill>
                  <a:srgbClr val="EDEDED"/>
                </a:solidFill>
                <a:latin typeface="Courier New"/>
                <a:ea typeface="Courier New"/>
                <a:cs typeface="Courier New"/>
                <a:sym typeface="Courier New"/>
              </a:rPr>
              <a:t>  printf(</a:t>
            </a:r>
            <a:r>
              <a:rPr b="0" i="0" lang="en-US" sz="1050" u="none" cap="none" strike="noStrike">
                <a:solidFill>
                  <a:srgbClr val="E8C07D"/>
                </a:solidFill>
                <a:latin typeface="Courier New"/>
                <a:ea typeface="Courier New"/>
                <a:cs typeface="Courier New"/>
                <a:sym typeface="Courier New"/>
              </a:rPr>
              <a:t>"printing %d on %s\n"</a:t>
            </a:r>
            <a:r>
              <a:rPr b="0" i="0" lang="en-US" sz="1050" u="none" cap="none" strike="noStrike">
                <a:solidFill>
                  <a:srgbClr val="EDEDED"/>
                </a:solidFill>
                <a:latin typeface="Courier New"/>
                <a:ea typeface="Courier New"/>
                <a:cs typeface="Courier New"/>
                <a:sym typeface="Courier New"/>
              </a:rPr>
              <a:t>, val, </a:t>
            </a:r>
            <a:r>
              <a:rPr b="0" i="0" lang="en-US" sz="1050" u="none" cap="none" strike="noStrike">
                <a:solidFill>
                  <a:srgbClr val="9CDCFE"/>
                </a:solidFill>
                <a:latin typeface="Courier New"/>
                <a:ea typeface="Courier New"/>
                <a:cs typeface="Courier New"/>
                <a:sym typeface="Courier New"/>
              </a:rPr>
              <a:t>cv::execution_space</a:t>
            </a: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1050"/>
              <a:buFont typeface="Courier New"/>
              <a:buNone/>
            </a:pPr>
            <a:r>
              <a:rPr b="0" i="0" lang="en-US" sz="10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13" name="Google Shape;813;p18"/>
          <p:cNvSpPr/>
          <p:nvPr/>
        </p:nvSpPr>
        <p:spPr>
          <a:xfrm>
            <a:off x="457200" y="3566160"/>
            <a:ext cx="3931920" cy="914400"/>
          </a:xfrm>
          <a:prstGeom prst="roundRect">
            <a:avLst>
              <a:gd fmla="val 6000" name="adj"/>
            </a:avLst>
          </a:prstGeom>
          <a:solidFill>
            <a:srgbClr val="E4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8"/>
          <p:cNvSpPr txBox="1"/>
          <p:nvPr/>
        </p:nvSpPr>
        <p:spPr>
          <a:xfrm>
            <a:off x="621792" y="3703320"/>
            <a:ext cx="3602736"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A5F0B"/>
              </a:buClr>
              <a:buSzPts val="1400"/>
              <a:buFont typeface="Arial"/>
              <a:buNone/>
            </a:pPr>
            <a:r>
              <a:rPr b="1" i="0" lang="en-US" sz="1400" u="none" cap="none" strike="noStrike">
                <a:solidFill>
                  <a:srgbClr val="3A5F0B"/>
                </a:solidFill>
                <a:latin typeface="Arial"/>
                <a:ea typeface="Arial"/>
                <a:cs typeface="Arial"/>
                <a:sym typeface="Arial"/>
              </a:rPr>
              <a:t>thrust::device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Policy: run this algorithm on the GPU.</a:t>
            </a:r>
            <a:endParaRPr b="0" i="0" sz="1400" u="none" cap="none" strike="noStrike">
              <a:solidFill>
                <a:srgbClr val="000000"/>
              </a:solidFill>
              <a:latin typeface="Arial"/>
              <a:ea typeface="Arial"/>
              <a:cs typeface="Arial"/>
              <a:sym typeface="Arial"/>
            </a:endParaRPr>
          </a:p>
        </p:txBody>
      </p:sp>
      <p:sp>
        <p:nvSpPr>
          <p:cNvPr id="815" name="Google Shape;815;p18"/>
          <p:cNvSpPr/>
          <p:nvPr/>
        </p:nvSpPr>
        <p:spPr>
          <a:xfrm>
            <a:off x="4754880" y="3566160"/>
            <a:ext cx="3931920" cy="914400"/>
          </a:xfrm>
          <a:prstGeom prst="roundRect">
            <a:avLst>
              <a:gd fmla="val 6000" name="adj"/>
            </a:avLst>
          </a:prstGeom>
          <a:solidFill>
            <a:srgbClr val="E4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8"/>
          <p:cNvSpPr txBox="1"/>
          <p:nvPr/>
        </p:nvSpPr>
        <p:spPr>
          <a:xfrm>
            <a:off x="4919472" y="3703320"/>
            <a:ext cx="3602736" cy="640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A5F0B"/>
              </a:buClr>
              <a:buSzPts val="1400"/>
              <a:buFont typeface="Arial"/>
              <a:buNone/>
            </a:pPr>
            <a:r>
              <a:rPr b="1" i="0" lang="en-US" sz="1400" u="none" cap="none" strike="noStrike">
                <a:solidFill>
                  <a:srgbClr val="3A5F0B"/>
                </a:solidFill>
                <a:latin typeface="Arial"/>
                <a:ea typeface="Arial"/>
                <a:cs typeface="Arial"/>
                <a:sym typeface="Arial"/>
              </a:rPr>
              <a:t>__device__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Specifier: compile this lambda for the GPU. (__host__ __device__ also 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1" name="Shape 821"/>
        <p:cNvGrpSpPr/>
        <p:nvPr/>
      </p:nvGrpSpPr>
      <p:grpSpPr>
        <a:xfrm>
          <a:off x="0" y="0"/>
          <a:ext cx="0" cy="0"/>
          <a:chOff x="0" y="0"/>
          <a:chExt cx="0" cy="0"/>
        </a:xfrm>
      </p:grpSpPr>
      <p:sp>
        <p:nvSpPr>
          <p:cNvPr id="822" name="Google Shape;822;p19"/>
          <p:cNvSpPr txBox="1"/>
          <p:nvPr/>
        </p:nvSpPr>
        <p:spPr>
          <a:xfrm>
            <a:off x="457200" y="320040"/>
            <a:ext cx="822960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00000"/>
              </a:buClr>
              <a:buSzPts val="2800"/>
              <a:buFont typeface="Arial"/>
              <a:buNone/>
            </a:pPr>
            <a:r>
              <a:rPr b="1" i="0" lang="en-US" sz="2800" u="none" cap="none" strike="noStrike">
                <a:solidFill>
                  <a:srgbClr val="500000"/>
                </a:solidFill>
                <a:latin typeface="Arial"/>
                <a:ea typeface="Arial"/>
                <a:cs typeface="Arial"/>
                <a:sym typeface="Arial"/>
              </a:rPr>
              <a:t>Exercise 3: port std:: code to the GPU</a:t>
            </a:r>
            <a:endParaRPr b="0" i="0" sz="1400" u="none" cap="none" strike="noStrike">
              <a:solidFill>
                <a:srgbClr val="000000"/>
              </a:solidFill>
              <a:latin typeface="Arial"/>
              <a:ea typeface="Arial"/>
              <a:cs typeface="Arial"/>
              <a:sym typeface="Arial"/>
            </a:endParaRPr>
          </a:p>
        </p:txBody>
      </p:sp>
      <p:sp>
        <p:nvSpPr>
          <p:cNvPr id="823" name="Google Shape;823;p19"/>
          <p:cNvSpPr txBox="1"/>
          <p:nvPr/>
        </p:nvSpPr>
        <p:spPr>
          <a:xfrm>
            <a:off x="457200" y="896112"/>
            <a:ext cx="822960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6E6E6E"/>
              </a:buClr>
              <a:buSzPts val="1200"/>
              <a:buFont typeface="Arial"/>
              <a:buNone/>
            </a:pPr>
            <a:r>
              <a:rPr b="0" i="0" lang="en-US" sz="1200" u="none" cap="none" strike="noStrike">
                <a:solidFill>
                  <a:srgbClr val="6E6E6E"/>
                </a:solidFill>
                <a:latin typeface="Arial"/>
                <a:ea typeface="Arial"/>
                <a:cs typeface="Arial"/>
                <a:sym typeface="Arial"/>
              </a:rPr>
              <a:t>A cooling simulation: each cell moves halfway toward room temperature every step.</a:t>
            </a:r>
            <a:endParaRPr b="0" i="0" sz="1400" u="none" cap="none" strike="noStrike">
              <a:solidFill>
                <a:srgbClr val="000000"/>
              </a:solidFill>
              <a:latin typeface="Arial"/>
              <a:ea typeface="Arial"/>
              <a:cs typeface="Arial"/>
              <a:sym typeface="Arial"/>
            </a:endParaRPr>
          </a:p>
        </p:txBody>
      </p:sp>
      <p:sp>
        <p:nvSpPr>
          <p:cNvPr id="824" name="Google Shape;824;p19"/>
          <p:cNvSpPr txBox="1"/>
          <p:nvPr/>
        </p:nvSpPr>
        <p:spPr>
          <a:xfrm>
            <a:off x="457200" y="1234440"/>
            <a:ext cx="3931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00000"/>
              </a:buClr>
              <a:buSzPts val="1200"/>
              <a:buFont typeface="Arial"/>
              <a:buNone/>
            </a:pPr>
            <a:r>
              <a:rPr b="1" i="0" lang="en-US" sz="1200" u="none" cap="none" strike="noStrike">
                <a:solidFill>
                  <a:srgbClr val="500000"/>
                </a:solidFill>
                <a:latin typeface="Arial"/>
                <a:ea typeface="Arial"/>
                <a:cs typeface="Arial"/>
                <a:sym typeface="Arial"/>
              </a:rPr>
              <a:t>Problem (CPU, std::)</a:t>
            </a:r>
            <a:endParaRPr b="0" i="0" sz="1400" u="none" cap="none" strike="noStrike">
              <a:solidFill>
                <a:srgbClr val="000000"/>
              </a:solidFill>
              <a:latin typeface="Arial"/>
              <a:ea typeface="Arial"/>
              <a:cs typeface="Arial"/>
              <a:sym typeface="Arial"/>
            </a:endParaRPr>
          </a:p>
        </p:txBody>
      </p:sp>
      <p:sp>
        <p:nvSpPr>
          <p:cNvPr id="825" name="Google Shape;825;p19"/>
          <p:cNvSpPr/>
          <p:nvPr/>
        </p:nvSpPr>
        <p:spPr>
          <a:xfrm>
            <a:off x="457200" y="1508760"/>
            <a:ext cx="3977640" cy="205740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9"/>
          <p:cNvSpPr txBox="1"/>
          <p:nvPr/>
        </p:nvSpPr>
        <p:spPr>
          <a:xfrm>
            <a:off x="640080" y="1645920"/>
            <a:ext cx="3611880" cy="1783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CDCFE"/>
              </a:buClr>
              <a:buSzPts val="950"/>
              <a:buFont typeface="Courier New"/>
              <a:buNone/>
            </a:pPr>
            <a:r>
              <a:rPr b="0" i="0" lang="en-US" sz="950" u="none" cap="none" strike="noStrike">
                <a:solidFill>
                  <a:srgbClr val="9CDCFE"/>
                </a:solidFill>
                <a:latin typeface="Courier New"/>
                <a:ea typeface="Courier New"/>
                <a:cs typeface="Courier New"/>
                <a:sym typeface="Courier New"/>
              </a:rPr>
              <a:t>std::vector</a:t>
            </a:r>
            <a:r>
              <a:rPr b="0" i="0" lang="en-US" sz="950" u="none" cap="none" strike="noStrike">
                <a:solidFill>
                  <a:srgbClr val="EDEDED"/>
                </a:solidFill>
                <a:latin typeface="Courier New"/>
                <a:ea typeface="Courier New"/>
                <a:cs typeface="Courier New"/>
                <a:sym typeface="Courier New"/>
              </a:rPr>
              <a:t>&lt;</a:t>
            </a:r>
            <a:r>
              <a:rPr b="0" i="0" lang="en-US" sz="950" u="none" cap="none" strike="noStrike">
                <a:solidFill>
                  <a:srgbClr val="F2A7A7"/>
                </a:solidFill>
                <a:latin typeface="Courier New"/>
                <a:ea typeface="Courier New"/>
                <a:cs typeface="Courier New"/>
                <a:sym typeface="Courier New"/>
              </a:rPr>
              <a:t>float</a:t>
            </a:r>
            <a:r>
              <a:rPr b="0" i="0" lang="en-US" sz="950" u="none" cap="none" strike="noStrike">
                <a:solidFill>
                  <a:srgbClr val="EDEDED"/>
                </a:solidFill>
                <a:latin typeface="Courier New"/>
                <a:ea typeface="Courier New"/>
                <a:cs typeface="Courier New"/>
                <a:sym typeface="Courier New"/>
              </a:rPr>
              <a:t>&gt; temp{42, 24,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2A7A7"/>
              </a:buClr>
              <a:buSzPts val="950"/>
              <a:buFont typeface="Courier New"/>
              <a:buNone/>
            </a:pPr>
            <a:r>
              <a:rPr b="0" i="0" lang="en-US" sz="950" u="none" cap="none" strike="noStrike">
                <a:solidFill>
                  <a:srgbClr val="F2A7A7"/>
                </a:solidFill>
                <a:latin typeface="Courier New"/>
                <a:ea typeface="Courier New"/>
                <a:cs typeface="Courier New"/>
                <a:sym typeface="Courier New"/>
              </a:rPr>
              <a:t>auto</a:t>
            </a:r>
            <a:r>
              <a:rPr b="0" i="0" lang="en-US" sz="950" u="none" cap="none" strike="noStrike">
                <a:solidFill>
                  <a:srgbClr val="EDEDED"/>
                </a:solidFill>
                <a:latin typeface="Courier New"/>
                <a:ea typeface="Courier New"/>
                <a:cs typeface="Courier New"/>
                <a:sym typeface="Courier New"/>
              </a:rPr>
              <a:t> op = [=](</a:t>
            </a:r>
            <a:r>
              <a:rPr b="0" i="0" lang="en-US" sz="950" u="none" cap="none" strike="noStrike">
                <a:solidFill>
                  <a:srgbClr val="F2A7A7"/>
                </a:solidFill>
                <a:latin typeface="Courier New"/>
                <a:ea typeface="Courier New"/>
                <a:cs typeface="Courier New"/>
                <a:sym typeface="Courier New"/>
              </a:rPr>
              <a:t>float</a:t>
            </a:r>
            <a:r>
              <a:rPr b="0" i="0" lang="en-US" sz="950" u="none" cap="none" strike="noStrike">
                <a:solidFill>
                  <a:srgbClr val="EDEDED"/>
                </a:solidFill>
                <a:latin typeface="Courier New"/>
                <a:ea typeface="Courier New"/>
                <a:cs typeface="Courier New"/>
                <a:sym typeface="Courier New"/>
              </a:rPr>
              <a:t> 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r>
              <a:rPr b="0" i="0" lang="en-US" sz="950" u="none" cap="none" strike="noStrike">
                <a:solidFill>
                  <a:srgbClr val="F2A7A7"/>
                </a:solidFill>
                <a:latin typeface="Courier New"/>
                <a:ea typeface="Courier New"/>
                <a:cs typeface="Courier New"/>
                <a:sym typeface="Courier New"/>
              </a:rPr>
              <a:t>return</a:t>
            </a:r>
            <a:r>
              <a:rPr b="0" i="0" lang="en-US" sz="950" u="none" cap="none" strike="noStrike">
                <a:solidFill>
                  <a:srgbClr val="EDEDED"/>
                </a:solidFill>
                <a:latin typeface="Courier New"/>
                <a:ea typeface="Courier New"/>
                <a:cs typeface="Courier New"/>
                <a:sym typeface="Courier New"/>
              </a:rPr>
              <a:t> t + k * (room - 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CDCFE"/>
              </a:buClr>
              <a:buSzPts val="950"/>
              <a:buFont typeface="Courier New"/>
              <a:buNone/>
            </a:pPr>
            <a:r>
              <a:rPr b="0" i="0" lang="en-US" sz="950" u="none" cap="none" strike="noStrike">
                <a:solidFill>
                  <a:srgbClr val="9CDCFE"/>
                </a:solidFill>
                <a:latin typeface="Courier New"/>
                <a:ea typeface="Courier New"/>
                <a:cs typeface="Courier New"/>
                <a:sym typeface="Courier New"/>
              </a:rPr>
              <a:t>std::transform</a:t>
            </a:r>
            <a:r>
              <a:rPr b="0" i="0" lang="en-US" sz="950" u="none" cap="none" strike="noStrike">
                <a:solidFill>
                  <a:srgbClr val="EDEDED"/>
                </a:solidFill>
                <a:latin typeface="Courier New"/>
                <a:ea typeface="Courier New"/>
                <a:cs typeface="Courier New"/>
                <a:sym typeface="Courier New"/>
              </a:rPr>
              <a:t>(temp.begin(), temp.end(),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temp.begin(), op);</a:t>
            </a:r>
            <a:endParaRPr b="0" i="0" sz="1400" u="none" cap="none" strike="noStrike">
              <a:solidFill>
                <a:srgbClr val="000000"/>
              </a:solidFill>
              <a:latin typeface="Arial"/>
              <a:ea typeface="Arial"/>
              <a:cs typeface="Arial"/>
              <a:sym typeface="Arial"/>
            </a:endParaRPr>
          </a:p>
        </p:txBody>
      </p:sp>
      <p:sp>
        <p:nvSpPr>
          <p:cNvPr id="827" name="Google Shape;827;p19"/>
          <p:cNvSpPr txBox="1"/>
          <p:nvPr/>
        </p:nvSpPr>
        <p:spPr>
          <a:xfrm>
            <a:off x="4709160" y="1234440"/>
            <a:ext cx="3931920" cy="2743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4E7A00"/>
              </a:buClr>
              <a:buSzPts val="1200"/>
              <a:buFont typeface="Arial"/>
              <a:buNone/>
            </a:pPr>
            <a:r>
              <a:rPr b="1" i="0" lang="en-US" sz="1200" u="none" cap="none" strike="noStrike">
                <a:solidFill>
                  <a:srgbClr val="4E7A00"/>
                </a:solidFill>
                <a:latin typeface="Arial"/>
                <a:ea typeface="Arial"/>
                <a:cs typeface="Arial"/>
                <a:sym typeface="Arial"/>
              </a:rPr>
              <a:t>Solution (GPU, thrust::)</a:t>
            </a:r>
            <a:endParaRPr b="0" i="0" sz="1400" u="none" cap="none" strike="noStrike">
              <a:solidFill>
                <a:srgbClr val="000000"/>
              </a:solidFill>
              <a:latin typeface="Arial"/>
              <a:ea typeface="Arial"/>
              <a:cs typeface="Arial"/>
              <a:sym typeface="Arial"/>
            </a:endParaRPr>
          </a:p>
        </p:txBody>
      </p:sp>
      <p:sp>
        <p:nvSpPr>
          <p:cNvPr id="828" name="Google Shape;828;p19"/>
          <p:cNvSpPr/>
          <p:nvPr/>
        </p:nvSpPr>
        <p:spPr>
          <a:xfrm>
            <a:off x="4709160" y="1508760"/>
            <a:ext cx="3977640" cy="2057400"/>
          </a:xfrm>
          <a:prstGeom prst="roundRect">
            <a:avLst>
              <a:gd fmla="val 3500" name="adj"/>
            </a:avLst>
          </a:prstGeom>
          <a:solidFill>
            <a:srgbClr val="1B1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9"/>
          <p:cNvSpPr txBox="1"/>
          <p:nvPr/>
        </p:nvSpPr>
        <p:spPr>
          <a:xfrm>
            <a:off x="4892040" y="1645920"/>
            <a:ext cx="3611880" cy="17830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6B900"/>
              </a:buClr>
              <a:buSzPts val="950"/>
              <a:buFont typeface="Courier New"/>
              <a:buNone/>
            </a:pPr>
            <a:r>
              <a:rPr b="1" i="0" lang="en-US" sz="950" u="none" cap="none" strike="noStrike">
                <a:solidFill>
                  <a:srgbClr val="76B900"/>
                </a:solidFill>
                <a:latin typeface="Courier New"/>
                <a:ea typeface="Courier New"/>
                <a:cs typeface="Courier New"/>
                <a:sym typeface="Courier New"/>
              </a:rPr>
              <a:t>thrust::universal_vector</a:t>
            </a:r>
            <a:r>
              <a:rPr b="0" i="0" lang="en-US" sz="950" u="none" cap="none" strike="noStrike">
                <a:solidFill>
                  <a:srgbClr val="EDEDED"/>
                </a:solidFill>
                <a:latin typeface="Courier New"/>
                <a:ea typeface="Courier New"/>
                <a:cs typeface="Courier New"/>
                <a:sym typeface="Courier New"/>
              </a:rPr>
              <a:t>&lt;</a:t>
            </a:r>
            <a:r>
              <a:rPr b="0" i="0" lang="en-US" sz="950" u="none" cap="none" strike="noStrike">
                <a:solidFill>
                  <a:srgbClr val="F2A7A7"/>
                </a:solidFill>
                <a:latin typeface="Courier New"/>
                <a:ea typeface="Courier New"/>
                <a:cs typeface="Courier New"/>
                <a:sym typeface="Courier New"/>
              </a:rPr>
              <a:t>float</a:t>
            </a:r>
            <a:r>
              <a:rPr b="0" i="0" lang="en-US" sz="950" u="none" cap="none" strike="noStrike">
                <a:solidFill>
                  <a:srgbClr val="EDEDED"/>
                </a:solidFill>
                <a:latin typeface="Courier New"/>
                <a:ea typeface="Courier New"/>
                <a:cs typeface="Courier New"/>
                <a:sym typeface="Courier New"/>
              </a:rPr>
              <a:t>&gt; temp{42, 24,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2A7A7"/>
              </a:buClr>
              <a:buSzPts val="950"/>
              <a:buFont typeface="Courier New"/>
              <a:buNone/>
            </a:pPr>
            <a:r>
              <a:rPr b="0" i="0" lang="en-US" sz="950" u="none" cap="none" strike="noStrike">
                <a:solidFill>
                  <a:srgbClr val="F2A7A7"/>
                </a:solidFill>
                <a:latin typeface="Courier New"/>
                <a:ea typeface="Courier New"/>
                <a:cs typeface="Courier New"/>
                <a:sym typeface="Courier New"/>
              </a:rPr>
              <a:t>auto</a:t>
            </a:r>
            <a:r>
              <a:rPr b="0" i="0" lang="en-US" sz="950" u="none" cap="none" strike="noStrike">
                <a:solidFill>
                  <a:srgbClr val="EDEDED"/>
                </a:solidFill>
                <a:latin typeface="Courier New"/>
                <a:ea typeface="Courier New"/>
                <a:cs typeface="Courier New"/>
                <a:sym typeface="Courier New"/>
              </a:rPr>
              <a:t> op = [=] </a:t>
            </a:r>
            <a:r>
              <a:rPr b="1" i="0" lang="en-US" sz="950" u="none" cap="none" strike="noStrike">
                <a:solidFill>
                  <a:srgbClr val="76B900"/>
                </a:solidFill>
                <a:latin typeface="Courier New"/>
                <a:ea typeface="Courier New"/>
                <a:cs typeface="Courier New"/>
                <a:sym typeface="Courier New"/>
              </a:rPr>
              <a:t>__host__</a:t>
            </a:r>
            <a:r>
              <a:rPr b="0" i="0" lang="en-US" sz="950" u="none" cap="none" strike="noStrike">
                <a:solidFill>
                  <a:srgbClr val="EDEDED"/>
                </a:solidFill>
                <a:latin typeface="Courier New"/>
                <a:ea typeface="Courier New"/>
                <a:cs typeface="Courier New"/>
                <a:sym typeface="Courier New"/>
              </a:rPr>
              <a:t> </a:t>
            </a:r>
            <a:r>
              <a:rPr b="1" i="0" lang="en-US" sz="950" u="none" cap="none" strike="noStrike">
                <a:solidFill>
                  <a:srgbClr val="76B900"/>
                </a:solidFill>
                <a:latin typeface="Courier New"/>
                <a:ea typeface="Courier New"/>
                <a:cs typeface="Courier New"/>
                <a:sym typeface="Courier New"/>
              </a:rPr>
              <a:t>__device__</a:t>
            </a:r>
            <a:r>
              <a:rPr b="0" i="0" lang="en-US" sz="950" u="none" cap="none" strike="noStrike">
                <a:solidFill>
                  <a:srgbClr val="EDEDED"/>
                </a:solidFill>
                <a:latin typeface="Courier New"/>
                <a:ea typeface="Courier New"/>
                <a:cs typeface="Courier New"/>
                <a:sym typeface="Courier New"/>
              </a:rPr>
              <a:t>(</a:t>
            </a:r>
            <a:r>
              <a:rPr b="0" i="0" lang="en-US" sz="950" u="none" cap="none" strike="noStrike">
                <a:solidFill>
                  <a:srgbClr val="F2A7A7"/>
                </a:solidFill>
                <a:latin typeface="Courier New"/>
                <a:ea typeface="Courier New"/>
                <a:cs typeface="Courier New"/>
                <a:sym typeface="Courier New"/>
              </a:rPr>
              <a:t>float</a:t>
            </a:r>
            <a:r>
              <a:rPr b="0" i="0" lang="en-US" sz="950" u="none" cap="none" strike="noStrike">
                <a:solidFill>
                  <a:srgbClr val="EDEDED"/>
                </a:solidFill>
                <a:latin typeface="Courier New"/>
                <a:ea typeface="Courier New"/>
                <a:cs typeface="Courier New"/>
                <a:sym typeface="Courier New"/>
              </a:rPr>
              <a:t> 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r>
              <a:rPr b="0" i="0" lang="en-US" sz="950" u="none" cap="none" strike="noStrike">
                <a:solidFill>
                  <a:srgbClr val="F2A7A7"/>
                </a:solidFill>
                <a:latin typeface="Courier New"/>
                <a:ea typeface="Courier New"/>
                <a:cs typeface="Courier New"/>
                <a:sym typeface="Courier New"/>
              </a:rPr>
              <a:t>return</a:t>
            </a:r>
            <a:r>
              <a:rPr b="0" i="0" lang="en-US" sz="950" u="none" cap="none" strike="noStrike">
                <a:solidFill>
                  <a:srgbClr val="EDEDED"/>
                </a:solidFill>
                <a:latin typeface="Courier New"/>
                <a:ea typeface="Courier New"/>
                <a:cs typeface="Courier New"/>
                <a:sym typeface="Courier New"/>
              </a:rPr>
              <a:t> t + k * (room - 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76B900"/>
              </a:buClr>
              <a:buSzPts val="950"/>
              <a:buFont typeface="Courier New"/>
              <a:buNone/>
            </a:pPr>
            <a:r>
              <a:rPr b="1" i="0" lang="en-US" sz="950" u="none" cap="none" strike="noStrike">
                <a:solidFill>
                  <a:srgbClr val="76B900"/>
                </a:solidFill>
                <a:latin typeface="Courier New"/>
                <a:ea typeface="Courier New"/>
                <a:cs typeface="Courier New"/>
                <a:sym typeface="Courier New"/>
              </a:rPr>
              <a:t>thrust::transform</a:t>
            </a:r>
            <a:r>
              <a:rPr b="0" i="0" lang="en-US" sz="950" u="none" cap="none" strike="noStrike">
                <a:solidFill>
                  <a:srgbClr val="EDEDED"/>
                </a:solidFill>
                <a:latin typeface="Courier New"/>
                <a:ea typeface="Courier New"/>
                <a:cs typeface="Courier New"/>
                <a:sym typeface="Courier New"/>
              </a:rPr>
              <a:t>(</a:t>
            </a:r>
            <a:r>
              <a:rPr b="1" i="0" lang="en-US" sz="950" u="none" cap="none" strike="noStrike">
                <a:solidFill>
                  <a:srgbClr val="76B900"/>
                </a:solidFill>
                <a:latin typeface="Courier New"/>
                <a:ea typeface="Courier New"/>
                <a:cs typeface="Courier New"/>
                <a:sym typeface="Courier New"/>
              </a:rPr>
              <a:t>thrust::device</a:t>
            </a:r>
            <a:r>
              <a:rPr b="0" i="0" lang="en-US" sz="950" u="none" cap="none" strike="noStrike">
                <a:solidFill>
                  <a:srgbClr val="EDEDED"/>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EDEDED"/>
              </a:buClr>
              <a:buSzPts val="950"/>
              <a:buFont typeface="Courier New"/>
              <a:buNone/>
            </a:pPr>
            <a:r>
              <a:rPr b="0" i="0" lang="en-US" sz="950" u="none" cap="none" strike="noStrike">
                <a:solidFill>
                  <a:srgbClr val="EDEDED"/>
                </a:solidFill>
                <a:latin typeface="Courier New"/>
                <a:ea typeface="Courier New"/>
                <a:cs typeface="Courier New"/>
                <a:sym typeface="Courier New"/>
              </a:rPr>
              <a:t>  temp.begin(), temp.end(), temp.begin(), op);</a:t>
            </a:r>
            <a:endParaRPr b="0" i="0" sz="1400" u="none" cap="none" strike="noStrike">
              <a:solidFill>
                <a:srgbClr val="000000"/>
              </a:solidFill>
              <a:latin typeface="Arial"/>
              <a:ea typeface="Arial"/>
              <a:cs typeface="Arial"/>
              <a:sym typeface="Arial"/>
            </a:endParaRPr>
          </a:p>
        </p:txBody>
      </p:sp>
      <p:sp>
        <p:nvSpPr>
          <p:cNvPr id="830" name="Google Shape;830;p19"/>
          <p:cNvSpPr/>
          <p:nvPr/>
        </p:nvSpPr>
        <p:spPr>
          <a:xfrm>
            <a:off x="457200" y="3758184"/>
            <a:ext cx="182880" cy="182880"/>
          </a:xfrm>
          <a:prstGeom prst="ellipse">
            <a:avLst/>
          </a:prstGeom>
          <a:solidFill>
            <a:srgbClr val="76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9"/>
          <p:cNvSpPr txBox="1"/>
          <p:nvPr/>
        </p:nvSpPr>
        <p:spPr>
          <a:xfrm>
            <a:off x="731520" y="3703320"/>
            <a:ext cx="7955280" cy="2743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std::vector → universal_vector (CPU and GPU can both read it)</a:t>
            </a:r>
            <a:endParaRPr b="0" i="0" sz="1400" u="none" cap="none" strike="noStrike">
              <a:solidFill>
                <a:srgbClr val="000000"/>
              </a:solidFill>
              <a:latin typeface="Arial"/>
              <a:ea typeface="Arial"/>
              <a:cs typeface="Arial"/>
              <a:sym typeface="Arial"/>
            </a:endParaRPr>
          </a:p>
        </p:txBody>
      </p:sp>
      <p:sp>
        <p:nvSpPr>
          <p:cNvPr id="832" name="Google Shape;832;p19"/>
          <p:cNvSpPr/>
          <p:nvPr/>
        </p:nvSpPr>
        <p:spPr>
          <a:xfrm>
            <a:off x="457200" y="4032504"/>
            <a:ext cx="182880" cy="182880"/>
          </a:xfrm>
          <a:prstGeom prst="ellipse">
            <a:avLst/>
          </a:prstGeom>
          <a:solidFill>
            <a:srgbClr val="76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9"/>
          <p:cNvSpPr txBox="1"/>
          <p:nvPr/>
        </p:nvSpPr>
        <p:spPr>
          <a:xfrm>
            <a:off x="731520" y="3977640"/>
            <a:ext cx="7955280" cy="2743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Mark the lambda __host__ __device__</a:t>
            </a:r>
            <a:endParaRPr b="0" i="0" sz="1400" u="none" cap="none" strike="noStrike">
              <a:solidFill>
                <a:srgbClr val="000000"/>
              </a:solidFill>
              <a:latin typeface="Arial"/>
              <a:ea typeface="Arial"/>
              <a:cs typeface="Arial"/>
              <a:sym typeface="Arial"/>
            </a:endParaRPr>
          </a:p>
        </p:txBody>
      </p:sp>
      <p:sp>
        <p:nvSpPr>
          <p:cNvPr id="834" name="Google Shape;834;p19"/>
          <p:cNvSpPr/>
          <p:nvPr/>
        </p:nvSpPr>
        <p:spPr>
          <a:xfrm>
            <a:off x="457200" y="4306824"/>
            <a:ext cx="182880" cy="182880"/>
          </a:xfrm>
          <a:prstGeom prst="ellipse">
            <a:avLst/>
          </a:prstGeom>
          <a:solidFill>
            <a:srgbClr val="76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9"/>
          <p:cNvSpPr txBox="1"/>
          <p:nvPr/>
        </p:nvSpPr>
        <p:spPr>
          <a:xfrm>
            <a:off x="731520" y="4251960"/>
            <a:ext cx="7955280" cy="2743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B2B2B"/>
              </a:buClr>
              <a:buSzPts val="1100"/>
              <a:buFont typeface="Arial"/>
              <a:buNone/>
            </a:pPr>
            <a:r>
              <a:rPr b="0" i="0" lang="en-US" sz="1100" u="none" cap="none" strike="noStrike">
                <a:solidFill>
                  <a:srgbClr val="2B2B2B"/>
                </a:solidFill>
                <a:latin typeface="Arial"/>
                <a:ea typeface="Arial"/>
                <a:cs typeface="Arial"/>
                <a:sym typeface="Arial"/>
              </a:rPr>
              <a:t>std::transform → thrust::transform + thrust::device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0" name="Shape 840"/>
        <p:cNvGrpSpPr/>
        <p:nvPr/>
      </p:nvGrpSpPr>
      <p:grpSpPr>
        <a:xfrm>
          <a:off x="0" y="0"/>
          <a:ext cx="0" cy="0"/>
          <a:chOff x="0" y="0"/>
          <a:chExt cx="0" cy="0"/>
        </a:xfrm>
      </p:grpSpPr>
      <p:sp>
        <p:nvSpPr>
          <p:cNvPr id="841" name="Google Shape;841;p20"/>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0000"/>
              </a:buClr>
              <a:buSzPts val="3200"/>
              <a:buFont typeface="Arial"/>
              <a:buNone/>
            </a:pPr>
            <a:r>
              <a:rPr b="1" i="0" lang="en-US" sz="3200" u="none" cap="none" strike="noStrike">
                <a:solidFill>
                  <a:srgbClr val="500000"/>
                </a:solidFill>
                <a:latin typeface="Arial"/>
                <a:ea typeface="Arial"/>
                <a:cs typeface="Arial"/>
                <a:sym typeface="Arial"/>
              </a:rPr>
              <a:t>Potential Project 1: color to grayscale</a:t>
            </a:r>
            <a:endParaRPr b="0" i="0" sz="3200" u="none" cap="none" strike="noStrike">
              <a:solidFill>
                <a:schemeClr val="dk1"/>
              </a:solidFill>
              <a:latin typeface="Calibri"/>
              <a:ea typeface="Calibri"/>
              <a:cs typeface="Calibri"/>
              <a:sym typeface="Calibri"/>
            </a:endParaRPr>
          </a:p>
        </p:txBody>
      </p:sp>
      <p:sp>
        <p:nvSpPr>
          <p:cNvPr id="842" name="Google Shape;842;p20"/>
          <p:cNvSpPr/>
          <p:nvPr/>
        </p:nvSpPr>
        <p:spPr>
          <a:xfrm>
            <a:off x="457200" y="1325880"/>
            <a:ext cx="347472" cy="347472"/>
          </a:xfrm>
          <a:prstGeom prst="roundRect">
            <a:avLst>
              <a:gd fmla="val 13158" name="adj"/>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20"/>
          <p:cNvSpPr/>
          <p:nvPr/>
        </p:nvSpPr>
        <p:spPr>
          <a:xfrm>
            <a:off x="2743200" y="1325880"/>
            <a:ext cx="347472" cy="347472"/>
          </a:xfrm>
          <a:prstGeom prst="roundRect">
            <a:avLst>
              <a:gd fmla="val 13158"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20"/>
          <p:cNvSpPr/>
          <p:nvPr/>
        </p:nvSpPr>
        <p:spPr>
          <a:xfrm>
            <a:off x="859536" y="1325880"/>
            <a:ext cx="347472" cy="347472"/>
          </a:xfrm>
          <a:prstGeom prst="roundRect">
            <a:avLst>
              <a:gd fmla="val 13158" name="adj"/>
            </a:avLst>
          </a:prstGeom>
          <a:solidFill>
            <a:srgbClr val="FB5607"/>
          </a:solidFill>
          <a:ln cap="flat" cmpd="sng" w="12700">
            <a:solidFill>
              <a:srgbClr val="FB560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20"/>
          <p:cNvSpPr/>
          <p:nvPr/>
        </p:nvSpPr>
        <p:spPr>
          <a:xfrm>
            <a:off x="3145536" y="1325880"/>
            <a:ext cx="347472" cy="347472"/>
          </a:xfrm>
          <a:prstGeom prst="roundRect">
            <a:avLst>
              <a:gd fmla="val 13158" name="adj"/>
            </a:avLst>
          </a:prstGeom>
          <a:solidFill>
            <a:srgbClr val="7E7E7E"/>
          </a:solidFill>
          <a:ln cap="flat" cmpd="sng" w="12700">
            <a:solidFill>
              <a:srgbClr val="7E7E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0"/>
          <p:cNvSpPr/>
          <p:nvPr/>
        </p:nvSpPr>
        <p:spPr>
          <a:xfrm>
            <a:off x="1261872" y="1325880"/>
            <a:ext cx="347472" cy="347472"/>
          </a:xfrm>
          <a:prstGeom prst="roundRect">
            <a:avLst>
              <a:gd fmla="val 13158" name="adj"/>
            </a:avLst>
          </a:prstGeom>
          <a:solidFill>
            <a:srgbClr val="E9C46A"/>
          </a:solidFill>
          <a:ln cap="flat" cmpd="sng" w="12700">
            <a:solidFill>
              <a:srgbClr val="E9C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20"/>
          <p:cNvSpPr/>
          <p:nvPr/>
        </p:nvSpPr>
        <p:spPr>
          <a:xfrm>
            <a:off x="3547872" y="1325880"/>
            <a:ext cx="347472" cy="347472"/>
          </a:xfrm>
          <a:prstGeom prst="roundRect">
            <a:avLst>
              <a:gd fmla="val 13158" name="adj"/>
            </a:avLst>
          </a:prstGeom>
          <a:solidFill>
            <a:srgbClr val="C5C5C5"/>
          </a:solidFill>
          <a:ln cap="flat" cmpd="sng" w="12700">
            <a:solidFill>
              <a:srgbClr val="C5C5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20"/>
          <p:cNvSpPr/>
          <p:nvPr/>
        </p:nvSpPr>
        <p:spPr>
          <a:xfrm>
            <a:off x="1664208" y="1325880"/>
            <a:ext cx="347472" cy="347472"/>
          </a:xfrm>
          <a:prstGeom prst="roundRect">
            <a:avLst>
              <a:gd fmla="val 13158"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20"/>
          <p:cNvSpPr/>
          <p:nvPr/>
        </p:nvSpPr>
        <p:spPr>
          <a:xfrm>
            <a:off x="3950208" y="1325880"/>
            <a:ext cx="347472" cy="347472"/>
          </a:xfrm>
          <a:prstGeom prst="roundRect">
            <a:avLst>
              <a:gd fmla="val 13158" name="adj"/>
            </a:avLst>
          </a:prstGeom>
          <a:solidFill>
            <a:srgbClr val="181818"/>
          </a:solidFill>
          <a:ln cap="flat" cmpd="sng" w="12700">
            <a:solidFill>
              <a:srgbClr val="18181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20"/>
          <p:cNvSpPr/>
          <p:nvPr/>
        </p:nvSpPr>
        <p:spPr>
          <a:xfrm>
            <a:off x="2066544" y="1325880"/>
            <a:ext cx="347472" cy="347472"/>
          </a:xfrm>
          <a:prstGeom prst="roundRect">
            <a:avLst>
              <a:gd fmla="val 13158" name="adj"/>
            </a:avLst>
          </a:prstGeom>
          <a:solidFill>
            <a:srgbClr val="FF006E"/>
          </a:solidFill>
          <a:ln cap="flat" cmpd="sng" w="12700">
            <a:solidFill>
              <a:srgbClr val="FF00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20"/>
          <p:cNvSpPr/>
          <p:nvPr/>
        </p:nvSpPr>
        <p:spPr>
          <a:xfrm>
            <a:off x="4352544" y="1325880"/>
            <a:ext cx="347472" cy="347472"/>
          </a:xfrm>
          <a:prstGeom prst="roundRect">
            <a:avLst>
              <a:gd fmla="val 13158" name="adj"/>
            </a:avLst>
          </a:prstGeom>
          <a:solidFill>
            <a:srgbClr val="595959"/>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0"/>
          <p:cNvSpPr/>
          <p:nvPr/>
        </p:nvSpPr>
        <p:spPr>
          <a:xfrm>
            <a:off x="457200" y="1728216"/>
            <a:ext cx="347472" cy="347472"/>
          </a:xfrm>
          <a:prstGeom prst="roundRect">
            <a:avLst>
              <a:gd fmla="val 13158" name="adj"/>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20"/>
          <p:cNvSpPr/>
          <p:nvPr/>
        </p:nvSpPr>
        <p:spPr>
          <a:xfrm>
            <a:off x="2743200" y="1728216"/>
            <a:ext cx="347472" cy="347472"/>
          </a:xfrm>
          <a:prstGeom prst="roundRect">
            <a:avLst>
              <a:gd fmla="val 13158" name="adj"/>
            </a:avLst>
          </a:prstGeom>
          <a:solidFill>
            <a:srgbClr val="B3B3B3"/>
          </a:solidFill>
          <a:ln cap="flat" cmpd="sng" w="12700">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20"/>
          <p:cNvSpPr/>
          <p:nvPr/>
        </p:nvSpPr>
        <p:spPr>
          <a:xfrm>
            <a:off x="859536" y="1728216"/>
            <a:ext cx="347472" cy="347472"/>
          </a:xfrm>
          <a:prstGeom prst="roundRect">
            <a:avLst>
              <a:gd fmla="val 13158" name="adj"/>
            </a:avLst>
          </a:prstGeom>
          <a:solidFill>
            <a:srgbClr val="06D6A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20"/>
          <p:cNvSpPr/>
          <p:nvPr/>
        </p:nvSpPr>
        <p:spPr>
          <a:xfrm>
            <a:off x="3145536" y="1728216"/>
            <a:ext cx="347472" cy="347472"/>
          </a:xfrm>
          <a:prstGeom prst="roundRect">
            <a:avLst>
              <a:gd fmla="val 13158" name="adj"/>
            </a:avLst>
          </a:prstGeom>
          <a:solidFill>
            <a:srgbClr val="929292"/>
          </a:solidFill>
          <a:ln cap="flat" cmpd="sng" w="12700">
            <a:solidFill>
              <a:srgbClr val="9292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20"/>
          <p:cNvSpPr/>
          <p:nvPr/>
        </p:nvSpPr>
        <p:spPr>
          <a:xfrm>
            <a:off x="1261872" y="1728216"/>
            <a:ext cx="347472" cy="347472"/>
          </a:xfrm>
          <a:prstGeom prst="roundRect">
            <a:avLst>
              <a:gd fmla="val 13158" name="adj"/>
            </a:avLst>
          </a:prstGeom>
          <a:solidFill>
            <a:srgbClr val="457B9D"/>
          </a:solidFill>
          <a:ln cap="flat" cmpd="sng" w="12700">
            <a:solidFill>
              <a:srgbClr val="457B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20"/>
          <p:cNvSpPr/>
          <p:nvPr/>
        </p:nvSpPr>
        <p:spPr>
          <a:xfrm>
            <a:off x="3547872" y="1728216"/>
            <a:ext cx="347472" cy="347472"/>
          </a:xfrm>
          <a:prstGeom prst="roundRect">
            <a:avLst>
              <a:gd fmla="val 13158" name="adj"/>
            </a:avLst>
          </a:prstGeom>
          <a:solidFill>
            <a:srgbClr val="6F6F6F"/>
          </a:solidFill>
          <a:ln cap="flat" cmpd="sng" w="12700">
            <a:solidFill>
              <a:srgbClr val="6F6F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20"/>
          <p:cNvSpPr/>
          <p:nvPr/>
        </p:nvSpPr>
        <p:spPr>
          <a:xfrm>
            <a:off x="1664208" y="1728216"/>
            <a:ext cx="347472" cy="347472"/>
          </a:xfrm>
          <a:prstGeom prst="roundRect">
            <a:avLst>
              <a:gd fmla="val 13158" name="adj"/>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20"/>
          <p:cNvSpPr/>
          <p:nvPr/>
        </p:nvSpPr>
        <p:spPr>
          <a:xfrm>
            <a:off x="3950208" y="1728216"/>
            <a:ext cx="347472" cy="347472"/>
          </a:xfrm>
          <a:prstGeom prst="roundRect">
            <a:avLst>
              <a:gd fmla="val 13158" name="adj"/>
            </a:avLst>
          </a:prstGeom>
          <a:solidFill>
            <a:srgbClr val="909090"/>
          </a:solidFill>
          <a:ln cap="flat" cmpd="sng" w="12700">
            <a:solidFill>
              <a:srgbClr val="909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20"/>
          <p:cNvSpPr/>
          <p:nvPr/>
        </p:nvSpPr>
        <p:spPr>
          <a:xfrm>
            <a:off x="2066544" y="1728216"/>
            <a:ext cx="347472" cy="347472"/>
          </a:xfrm>
          <a:prstGeom prst="roundRect">
            <a:avLst>
              <a:gd fmla="val 13158" name="adj"/>
            </a:avLst>
          </a:prstGeom>
          <a:solidFill>
            <a:srgbClr val="8338EC"/>
          </a:solidFill>
          <a:ln cap="flat" cmpd="sng" w="12700">
            <a:solidFill>
              <a:srgbClr val="8338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20"/>
          <p:cNvSpPr/>
          <p:nvPr/>
        </p:nvSpPr>
        <p:spPr>
          <a:xfrm>
            <a:off x="4352544" y="1728216"/>
            <a:ext cx="347472" cy="347472"/>
          </a:xfrm>
          <a:prstGeom prst="roundRect">
            <a:avLst>
              <a:gd fmla="val 13158" name="adj"/>
            </a:avLst>
          </a:prstGeom>
          <a:solidFill>
            <a:srgbClr val="636363"/>
          </a:solidFill>
          <a:ln cap="flat" cmpd="sng" w="12700">
            <a:solidFill>
              <a:srgbClr val="6363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20"/>
          <p:cNvSpPr/>
          <p:nvPr/>
        </p:nvSpPr>
        <p:spPr>
          <a:xfrm>
            <a:off x="457200" y="2130552"/>
            <a:ext cx="347472" cy="347472"/>
          </a:xfrm>
          <a:prstGeom prst="roundRect">
            <a:avLst>
              <a:gd fmla="val 13158" name="adj"/>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20"/>
          <p:cNvSpPr/>
          <p:nvPr/>
        </p:nvSpPr>
        <p:spPr>
          <a:xfrm>
            <a:off x="2743200" y="2130552"/>
            <a:ext cx="347472" cy="347472"/>
          </a:xfrm>
          <a:prstGeom prst="roundRect">
            <a:avLst>
              <a:gd fmla="val 13158" name="adj"/>
            </a:avLst>
          </a:prstGeom>
          <a:solidFill>
            <a:srgbClr val="6E6E6E"/>
          </a:solidFill>
          <a:ln cap="flat" cmpd="sng" w="12700">
            <a:solidFill>
              <a:srgbClr val="6E6E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20"/>
          <p:cNvSpPr/>
          <p:nvPr/>
        </p:nvSpPr>
        <p:spPr>
          <a:xfrm>
            <a:off x="859536" y="2130552"/>
            <a:ext cx="347472" cy="347472"/>
          </a:xfrm>
          <a:prstGeom prst="roundRect">
            <a:avLst>
              <a:gd fmla="val 13158" name="adj"/>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20"/>
          <p:cNvSpPr/>
          <p:nvPr/>
        </p:nvSpPr>
        <p:spPr>
          <a:xfrm>
            <a:off x="3145536" y="2130552"/>
            <a:ext cx="347472" cy="347472"/>
          </a:xfrm>
          <a:prstGeom prst="roundRect">
            <a:avLst>
              <a:gd fmla="val 13158" name="adj"/>
            </a:avLst>
          </a:prstGeom>
          <a:solidFill>
            <a:srgbClr val="7D7D7D"/>
          </a:solidFill>
          <a:ln cap="flat" cmpd="sng" w="12700">
            <a:solidFill>
              <a:srgbClr val="7D7D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20"/>
          <p:cNvSpPr/>
          <p:nvPr/>
        </p:nvSpPr>
        <p:spPr>
          <a:xfrm>
            <a:off x="1261872" y="2130552"/>
            <a:ext cx="347472" cy="347472"/>
          </a:xfrm>
          <a:prstGeom prst="roundRect">
            <a:avLst>
              <a:gd fmla="val 13158" name="adj"/>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20"/>
          <p:cNvSpPr/>
          <p:nvPr/>
        </p:nvSpPr>
        <p:spPr>
          <a:xfrm>
            <a:off x="3547872" y="2130552"/>
            <a:ext cx="347472" cy="347472"/>
          </a:xfrm>
          <a:prstGeom prst="roundRect">
            <a:avLst>
              <a:gd fmla="val 13158"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20"/>
          <p:cNvSpPr/>
          <p:nvPr/>
        </p:nvSpPr>
        <p:spPr>
          <a:xfrm>
            <a:off x="1664208" y="2130552"/>
            <a:ext cx="347472" cy="347472"/>
          </a:xfrm>
          <a:prstGeom prst="roundRect">
            <a:avLst>
              <a:gd fmla="val 13158" name="adj"/>
            </a:avLst>
          </a:prstGeom>
          <a:solidFill>
            <a:srgbClr val="FB5607"/>
          </a:solidFill>
          <a:ln cap="flat" cmpd="sng" w="12700">
            <a:solidFill>
              <a:srgbClr val="FB560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20"/>
          <p:cNvSpPr/>
          <p:nvPr/>
        </p:nvSpPr>
        <p:spPr>
          <a:xfrm>
            <a:off x="3950208" y="2130552"/>
            <a:ext cx="347472" cy="347472"/>
          </a:xfrm>
          <a:prstGeom prst="roundRect">
            <a:avLst>
              <a:gd fmla="val 13158" name="adj"/>
            </a:avLst>
          </a:prstGeom>
          <a:solidFill>
            <a:srgbClr val="7E7E7E"/>
          </a:solidFill>
          <a:ln cap="flat" cmpd="sng" w="12700">
            <a:solidFill>
              <a:srgbClr val="7E7E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20"/>
          <p:cNvSpPr/>
          <p:nvPr/>
        </p:nvSpPr>
        <p:spPr>
          <a:xfrm>
            <a:off x="2066544" y="2130552"/>
            <a:ext cx="347472" cy="347472"/>
          </a:xfrm>
          <a:prstGeom prst="roundRect">
            <a:avLst>
              <a:gd fmla="val 13158" name="adj"/>
            </a:avLst>
          </a:prstGeom>
          <a:solidFill>
            <a:srgbClr val="E9C46A"/>
          </a:solidFill>
          <a:ln cap="flat" cmpd="sng" w="12700">
            <a:solidFill>
              <a:srgbClr val="E9C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20"/>
          <p:cNvSpPr/>
          <p:nvPr/>
        </p:nvSpPr>
        <p:spPr>
          <a:xfrm>
            <a:off x="4352544" y="2130552"/>
            <a:ext cx="347472" cy="347472"/>
          </a:xfrm>
          <a:prstGeom prst="roundRect">
            <a:avLst>
              <a:gd fmla="val 13158" name="adj"/>
            </a:avLst>
          </a:prstGeom>
          <a:solidFill>
            <a:srgbClr val="C5C5C5"/>
          </a:solidFill>
          <a:ln cap="flat" cmpd="sng" w="12700">
            <a:solidFill>
              <a:srgbClr val="C5C5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20"/>
          <p:cNvSpPr/>
          <p:nvPr/>
        </p:nvSpPr>
        <p:spPr>
          <a:xfrm>
            <a:off x="457200" y="2532888"/>
            <a:ext cx="347472" cy="347472"/>
          </a:xfrm>
          <a:prstGeom prst="roundRect">
            <a:avLst>
              <a:gd fmla="val 13158"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20"/>
          <p:cNvSpPr/>
          <p:nvPr/>
        </p:nvSpPr>
        <p:spPr>
          <a:xfrm>
            <a:off x="2743200" y="2532888"/>
            <a:ext cx="347472" cy="347472"/>
          </a:xfrm>
          <a:prstGeom prst="roundRect">
            <a:avLst>
              <a:gd fmla="val 13158" name="adj"/>
            </a:avLst>
          </a:prstGeom>
          <a:solidFill>
            <a:srgbClr val="181818"/>
          </a:solidFill>
          <a:ln cap="flat" cmpd="sng" w="12700">
            <a:solidFill>
              <a:srgbClr val="18181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20"/>
          <p:cNvSpPr/>
          <p:nvPr/>
        </p:nvSpPr>
        <p:spPr>
          <a:xfrm>
            <a:off x="859536" y="2532888"/>
            <a:ext cx="347472" cy="347472"/>
          </a:xfrm>
          <a:prstGeom prst="roundRect">
            <a:avLst>
              <a:gd fmla="val 13158" name="adj"/>
            </a:avLst>
          </a:prstGeom>
          <a:solidFill>
            <a:srgbClr val="FF006E"/>
          </a:solidFill>
          <a:ln cap="flat" cmpd="sng" w="12700">
            <a:solidFill>
              <a:srgbClr val="FF00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20"/>
          <p:cNvSpPr/>
          <p:nvPr/>
        </p:nvSpPr>
        <p:spPr>
          <a:xfrm>
            <a:off x="3145536" y="2532888"/>
            <a:ext cx="347472" cy="347472"/>
          </a:xfrm>
          <a:prstGeom prst="roundRect">
            <a:avLst>
              <a:gd fmla="val 13158" name="adj"/>
            </a:avLst>
          </a:prstGeom>
          <a:solidFill>
            <a:srgbClr val="595959"/>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20"/>
          <p:cNvSpPr/>
          <p:nvPr/>
        </p:nvSpPr>
        <p:spPr>
          <a:xfrm>
            <a:off x="1261872" y="2532888"/>
            <a:ext cx="347472" cy="347472"/>
          </a:xfrm>
          <a:prstGeom prst="roundRect">
            <a:avLst>
              <a:gd fmla="val 13158" name="adj"/>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20"/>
          <p:cNvSpPr/>
          <p:nvPr/>
        </p:nvSpPr>
        <p:spPr>
          <a:xfrm>
            <a:off x="3547872" y="2532888"/>
            <a:ext cx="347472" cy="347472"/>
          </a:xfrm>
          <a:prstGeom prst="roundRect">
            <a:avLst>
              <a:gd fmla="val 13158" name="adj"/>
            </a:avLst>
          </a:prstGeom>
          <a:solidFill>
            <a:srgbClr val="B3B3B3"/>
          </a:solidFill>
          <a:ln cap="flat" cmpd="sng" w="12700">
            <a:solidFill>
              <a:srgbClr val="B3B3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20"/>
          <p:cNvSpPr/>
          <p:nvPr/>
        </p:nvSpPr>
        <p:spPr>
          <a:xfrm>
            <a:off x="1664208" y="2532888"/>
            <a:ext cx="347472" cy="347472"/>
          </a:xfrm>
          <a:prstGeom prst="roundRect">
            <a:avLst>
              <a:gd fmla="val 13158" name="adj"/>
            </a:avLst>
          </a:prstGeom>
          <a:solidFill>
            <a:srgbClr val="06D6A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20"/>
          <p:cNvSpPr/>
          <p:nvPr/>
        </p:nvSpPr>
        <p:spPr>
          <a:xfrm>
            <a:off x="3950208" y="2532888"/>
            <a:ext cx="347472" cy="347472"/>
          </a:xfrm>
          <a:prstGeom prst="roundRect">
            <a:avLst>
              <a:gd fmla="val 13158" name="adj"/>
            </a:avLst>
          </a:prstGeom>
          <a:solidFill>
            <a:srgbClr val="929292"/>
          </a:solidFill>
          <a:ln cap="flat" cmpd="sng" w="12700">
            <a:solidFill>
              <a:srgbClr val="9292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20"/>
          <p:cNvSpPr/>
          <p:nvPr/>
        </p:nvSpPr>
        <p:spPr>
          <a:xfrm>
            <a:off x="2066544" y="2532888"/>
            <a:ext cx="347472" cy="347472"/>
          </a:xfrm>
          <a:prstGeom prst="roundRect">
            <a:avLst>
              <a:gd fmla="val 13158" name="adj"/>
            </a:avLst>
          </a:prstGeom>
          <a:solidFill>
            <a:srgbClr val="457B9D"/>
          </a:solidFill>
          <a:ln cap="flat" cmpd="sng" w="12700">
            <a:solidFill>
              <a:srgbClr val="457B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20"/>
          <p:cNvSpPr/>
          <p:nvPr/>
        </p:nvSpPr>
        <p:spPr>
          <a:xfrm>
            <a:off x="4352544" y="2532888"/>
            <a:ext cx="347472" cy="347472"/>
          </a:xfrm>
          <a:prstGeom prst="roundRect">
            <a:avLst>
              <a:gd fmla="val 13158" name="adj"/>
            </a:avLst>
          </a:prstGeom>
          <a:solidFill>
            <a:srgbClr val="6F6F6F"/>
          </a:solidFill>
          <a:ln cap="flat" cmpd="sng" w="12700">
            <a:solidFill>
              <a:srgbClr val="6F6F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20"/>
          <p:cNvSpPr/>
          <p:nvPr/>
        </p:nvSpPr>
        <p:spPr>
          <a:xfrm>
            <a:off x="457200" y="2935224"/>
            <a:ext cx="347472" cy="347472"/>
          </a:xfrm>
          <a:prstGeom prst="roundRect">
            <a:avLst>
              <a:gd fmla="val 13158" name="adj"/>
            </a:avLst>
          </a:prstGeom>
          <a:solidFill>
            <a:srgbClr val="76B900"/>
          </a:solidFill>
          <a:ln cap="flat" cmpd="sng" w="1270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20"/>
          <p:cNvSpPr/>
          <p:nvPr/>
        </p:nvSpPr>
        <p:spPr>
          <a:xfrm>
            <a:off x="2743200" y="2935224"/>
            <a:ext cx="347472" cy="347472"/>
          </a:xfrm>
          <a:prstGeom prst="roundRect">
            <a:avLst>
              <a:gd fmla="val 13158" name="adj"/>
            </a:avLst>
          </a:prstGeom>
          <a:solidFill>
            <a:srgbClr val="909090"/>
          </a:solidFill>
          <a:ln cap="flat" cmpd="sng" w="12700">
            <a:solidFill>
              <a:srgbClr val="909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20"/>
          <p:cNvSpPr/>
          <p:nvPr/>
        </p:nvSpPr>
        <p:spPr>
          <a:xfrm>
            <a:off x="859536" y="2935224"/>
            <a:ext cx="347472" cy="347472"/>
          </a:xfrm>
          <a:prstGeom prst="roundRect">
            <a:avLst>
              <a:gd fmla="val 13158" name="adj"/>
            </a:avLst>
          </a:prstGeom>
          <a:solidFill>
            <a:srgbClr val="8338EC"/>
          </a:solidFill>
          <a:ln cap="flat" cmpd="sng" w="12700">
            <a:solidFill>
              <a:srgbClr val="8338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20"/>
          <p:cNvSpPr/>
          <p:nvPr/>
        </p:nvSpPr>
        <p:spPr>
          <a:xfrm>
            <a:off x="3145536" y="2935224"/>
            <a:ext cx="347472" cy="347472"/>
          </a:xfrm>
          <a:prstGeom prst="roundRect">
            <a:avLst>
              <a:gd fmla="val 13158" name="adj"/>
            </a:avLst>
          </a:prstGeom>
          <a:solidFill>
            <a:srgbClr val="636363"/>
          </a:solidFill>
          <a:ln cap="flat" cmpd="sng" w="12700">
            <a:solidFill>
              <a:srgbClr val="6363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20"/>
          <p:cNvSpPr/>
          <p:nvPr/>
        </p:nvSpPr>
        <p:spPr>
          <a:xfrm>
            <a:off x="1261872" y="2935224"/>
            <a:ext cx="347472" cy="347472"/>
          </a:xfrm>
          <a:prstGeom prst="roundRect">
            <a:avLst>
              <a:gd fmla="val 13158" name="adj"/>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20"/>
          <p:cNvSpPr/>
          <p:nvPr/>
        </p:nvSpPr>
        <p:spPr>
          <a:xfrm>
            <a:off x="3547872" y="2935224"/>
            <a:ext cx="347472" cy="347472"/>
          </a:xfrm>
          <a:prstGeom prst="roundRect">
            <a:avLst>
              <a:gd fmla="val 13158" name="adj"/>
            </a:avLst>
          </a:prstGeom>
          <a:solidFill>
            <a:srgbClr val="6E6E6E"/>
          </a:solidFill>
          <a:ln cap="flat" cmpd="sng" w="12700">
            <a:solidFill>
              <a:srgbClr val="6E6E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20"/>
          <p:cNvSpPr/>
          <p:nvPr/>
        </p:nvSpPr>
        <p:spPr>
          <a:xfrm>
            <a:off x="1664208" y="2935224"/>
            <a:ext cx="347472" cy="347472"/>
          </a:xfrm>
          <a:prstGeom prst="roundRect">
            <a:avLst>
              <a:gd fmla="val 13158" name="adj"/>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20"/>
          <p:cNvSpPr/>
          <p:nvPr/>
        </p:nvSpPr>
        <p:spPr>
          <a:xfrm>
            <a:off x="3950208" y="2935224"/>
            <a:ext cx="347472" cy="347472"/>
          </a:xfrm>
          <a:prstGeom prst="roundRect">
            <a:avLst>
              <a:gd fmla="val 13158" name="adj"/>
            </a:avLst>
          </a:prstGeom>
          <a:solidFill>
            <a:srgbClr val="7D7D7D"/>
          </a:solidFill>
          <a:ln cap="flat" cmpd="sng" w="12700">
            <a:solidFill>
              <a:srgbClr val="7D7D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20"/>
          <p:cNvSpPr/>
          <p:nvPr/>
        </p:nvSpPr>
        <p:spPr>
          <a:xfrm>
            <a:off x="2066544" y="2935224"/>
            <a:ext cx="347472" cy="347472"/>
          </a:xfrm>
          <a:prstGeom prst="roundRect">
            <a:avLst>
              <a:gd fmla="val 13158" name="adj"/>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20"/>
          <p:cNvSpPr/>
          <p:nvPr/>
        </p:nvSpPr>
        <p:spPr>
          <a:xfrm>
            <a:off x="4352544" y="2935224"/>
            <a:ext cx="347472" cy="347472"/>
          </a:xfrm>
          <a:prstGeom prst="roundRect">
            <a:avLst>
              <a:gd fmla="val 13158" name="adj"/>
            </a:avLst>
          </a:prstGeom>
          <a:solidFill>
            <a:srgbClr val="797979"/>
          </a:solidFill>
          <a:ln cap="flat" cmpd="sng" w="12700">
            <a:solidFill>
              <a:srgbClr val="797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2" name="Google Shape;892;p20"/>
          <p:cNvPicPr preferRelativeResize="0"/>
          <p:nvPr/>
        </p:nvPicPr>
        <p:blipFill rotWithShape="1">
          <a:blip r:embed="rId3">
            <a:alphaModFix/>
          </a:blip>
          <a:srcRect b="0" l="0" r="0" t="0"/>
          <a:stretch/>
        </p:blipFill>
        <p:spPr>
          <a:xfrm>
            <a:off x="2313432" y="2103120"/>
            <a:ext cx="310896" cy="310896"/>
          </a:xfrm>
          <a:prstGeom prst="rect">
            <a:avLst/>
          </a:prstGeom>
          <a:noFill/>
          <a:ln>
            <a:noFill/>
          </a:ln>
        </p:spPr>
      </p:pic>
      <p:sp>
        <p:nvSpPr>
          <p:cNvPr id="893" name="Google Shape;893;p20"/>
          <p:cNvSpPr txBox="1"/>
          <p:nvPr/>
        </p:nvSpPr>
        <p:spPr>
          <a:xfrm>
            <a:off x="457200" y="3401568"/>
            <a:ext cx="1920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Arial"/>
              <a:buNone/>
            </a:pPr>
            <a:r>
              <a:rPr b="0" i="0" lang="en-US" sz="1200" u="none" cap="none" strike="noStrike">
                <a:solidFill>
                  <a:srgbClr val="6B6B6B"/>
                </a:solidFill>
                <a:latin typeface="Arial"/>
                <a:ea typeface="Arial"/>
                <a:cs typeface="Arial"/>
                <a:sym typeface="Arial"/>
              </a:rPr>
              <a:t>Input: RGB</a:t>
            </a:r>
            <a:endParaRPr b="0" i="0" sz="1200" u="none" cap="none" strike="noStrike">
              <a:solidFill>
                <a:schemeClr val="dk1"/>
              </a:solidFill>
              <a:latin typeface="Calibri"/>
              <a:ea typeface="Calibri"/>
              <a:cs typeface="Calibri"/>
              <a:sym typeface="Calibri"/>
            </a:endParaRPr>
          </a:p>
        </p:txBody>
      </p:sp>
      <p:sp>
        <p:nvSpPr>
          <p:cNvPr id="894" name="Google Shape;894;p20"/>
          <p:cNvSpPr txBox="1"/>
          <p:nvPr/>
        </p:nvSpPr>
        <p:spPr>
          <a:xfrm>
            <a:off x="2743200" y="3401568"/>
            <a:ext cx="1920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Arial"/>
              <a:buNone/>
            </a:pPr>
            <a:r>
              <a:rPr b="0" i="0" lang="en-US" sz="1200" u="none" cap="none" strike="noStrike">
                <a:solidFill>
                  <a:srgbClr val="6B6B6B"/>
                </a:solidFill>
                <a:latin typeface="Arial"/>
                <a:ea typeface="Arial"/>
                <a:cs typeface="Arial"/>
                <a:sym typeface="Arial"/>
              </a:rPr>
              <a:t>Output: gray</a:t>
            </a:r>
            <a:endParaRPr b="0" i="0" sz="1200" u="none" cap="none" strike="noStrike">
              <a:solidFill>
                <a:schemeClr val="dk1"/>
              </a:solidFill>
              <a:latin typeface="Calibri"/>
              <a:ea typeface="Calibri"/>
              <a:cs typeface="Calibri"/>
              <a:sym typeface="Calibri"/>
            </a:endParaRPr>
          </a:p>
        </p:txBody>
      </p:sp>
      <p:sp>
        <p:nvSpPr>
          <p:cNvPr id="895" name="Google Shape;895;p20"/>
          <p:cNvSpPr/>
          <p:nvPr/>
        </p:nvSpPr>
        <p:spPr>
          <a:xfrm>
            <a:off x="5120640" y="1280160"/>
            <a:ext cx="3566160" cy="914400"/>
          </a:xfrm>
          <a:prstGeom prst="roundRect">
            <a:avLst>
              <a:gd fmla="val 10000" name="adj"/>
            </a:avLst>
          </a:prstGeom>
          <a:solidFill>
            <a:srgbClr val="F3E9E9"/>
          </a:solidFill>
          <a:ln cap="flat" cmpd="sng" w="12700">
            <a:solidFill>
              <a:srgbClr val="F3E9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20"/>
          <p:cNvSpPr txBox="1"/>
          <p:nvPr/>
        </p:nvSpPr>
        <p:spPr>
          <a:xfrm>
            <a:off x="5257800" y="1280160"/>
            <a:ext cx="333756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00000"/>
              </a:buClr>
              <a:buSzPts val="1300"/>
              <a:buFont typeface="Courier New"/>
              <a:buNone/>
            </a:pPr>
            <a:r>
              <a:rPr b="1" i="0" lang="en-US" sz="1300" u="none" cap="none" strike="noStrike">
                <a:solidFill>
                  <a:srgbClr val="500000"/>
                </a:solidFill>
                <a:latin typeface="Courier New"/>
                <a:ea typeface="Courier New"/>
                <a:cs typeface="Courier New"/>
                <a:sym typeface="Courier New"/>
              </a:rPr>
              <a:t>gray = 0.299·R + 0.587·G + 0.114·B</a:t>
            </a:r>
            <a:endParaRPr b="0" i="0" sz="1300" u="none" cap="none" strike="noStrike">
              <a:solidFill>
                <a:schemeClr val="dk1"/>
              </a:solidFill>
              <a:latin typeface="Calibri"/>
              <a:ea typeface="Calibri"/>
              <a:cs typeface="Calibri"/>
              <a:sym typeface="Calibri"/>
            </a:endParaRPr>
          </a:p>
        </p:txBody>
      </p:sp>
      <p:sp>
        <p:nvSpPr>
          <p:cNvPr id="897" name="Google Shape;897;p20"/>
          <p:cNvSpPr txBox="1"/>
          <p:nvPr/>
        </p:nvSpPr>
        <p:spPr>
          <a:xfrm>
            <a:off x="5120640" y="2377440"/>
            <a:ext cx="3566160" cy="128016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2B2B2B"/>
              </a:buClr>
              <a:buSzPts val="1400"/>
              <a:buFont typeface="Arial"/>
              <a:buChar char="•"/>
            </a:pPr>
            <a:r>
              <a:rPr b="0" i="0" lang="en-US" sz="1400" u="none" cap="none" strike="noStrike">
                <a:solidFill>
                  <a:srgbClr val="2B2B2B"/>
                </a:solidFill>
                <a:latin typeface="Arial"/>
                <a:ea typeface="Arial"/>
                <a:cs typeface="Arial"/>
                <a:sym typeface="Arial"/>
              </a:rPr>
              <a:t>Each thread reads one pixel's red, green and blue values.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400"/>
              <a:buFont typeface="Arial"/>
              <a:buChar char="•"/>
            </a:pPr>
            <a:r>
              <a:rPr b="0" i="0" lang="en-US" sz="1400" u="none" cap="none" strike="noStrike">
                <a:solidFill>
                  <a:srgbClr val="2B2B2B"/>
                </a:solidFill>
                <a:latin typeface="Arial"/>
                <a:ea typeface="Arial"/>
                <a:cs typeface="Arial"/>
                <a:sym typeface="Arial"/>
              </a:rPr>
              <a:t>It mixes them into one brightness value.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2B2B2B"/>
              </a:buClr>
              <a:buSzPts val="1400"/>
              <a:buFont typeface="Arial"/>
              <a:buChar char="•"/>
            </a:pPr>
            <a:r>
              <a:rPr b="0" i="0" lang="en-US" sz="1400" u="none" cap="none" strike="noStrike">
                <a:solidFill>
                  <a:srgbClr val="2B2B2B"/>
                </a:solidFill>
                <a:latin typeface="Arial"/>
                <a:ea typeface="Arial"/>
                <a:cs typeface="Arial"/>
                <a:sym typeface="Arial"/>
              </a:rPr>
              <a:t>It writes that single gray pixel back out.</a:t>
            </a:r>
            <a:endParaRPr b="0" i="0" sz="1400" u="none" cap="none" strike="noStrike">
              <a:solidFill>
                <a:schemeClr val="dk1"/>
              </a:solidFill>
              <a:latin typeface="Calibri"/>
              <a:ea typeface="Calibri"/>
              <a:cs typeface="Calibri"/>
              <a:sym typeface="Calibri"/>
            </a:endParaRPr>
          </a:p>
        </p:txBody>
      </p:sp>
      <p:sp>
        <p:nvSpPr>
          <p:cNvPr id="898" name="Google Shape;898;p20"/>
          <p:cNvSpPr/>
          <p:nvPr/>
        </p:nvSpPr>
        <p:spPr>
          <a:xfrm>
            <a:off x="457200" y="3840480"/>
            <a:ext cx="8229600" cy="685800"/>
          </a:xfrm>
          <a:prstGeom prst="roundRect">
            <a:avLst>
              <a:gd fmla="val 13333" name="adj"/>
            </a:avLst>
          </a:prstGeom>
          <a:solidFill>
            <a:srgbClr val="1B1B1D"/>
          </a:solidFill>
          <a:ln cap="flat" cmpd="sng" w="12700">
            <a:solidFill>
              <a:srgbClr val="1B1B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20"/>
          <p:cNvSpPr txBox="1"/>
          <p:nvPr/>
        </p:nvSpPr>
        <p:spPr>
          <a:xfrm>
            <a:off x="685800" y="3840480"/>
            <a:ext cx="77724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600"/>
              <a:buFont typeface="Arial"/>
              <a:buNone/>
            </a:pPr>
            <a:r>
              <a:rPr b="1" i="0" lang="en-US" sz="1600" u="none" cap="none" strike="noStrike">
                <a:solidFill>
                  <a:srgbClr val="76B900"/>
                </a:solidFill>
                <a:latin typeface="Arial"/>
                <a:ea typeface="Arial"/>
                <a:cs typeface="Arial"/>
                <a:sym typeface="Arial"/>
              </a:rPr>
              <a:t>~2 million </a:t>
            </a:r>
            <a:r>
              <a:rPr b="0" i="0" lang="en-US" sz="1600" u="none" cap="none" strike="noStrike">
                <a:solidFill>
                  <a:srgbClr val="FFFFFF"/>
                </a:solidFill>
                <a:latin typeface="Arial"/>
                <a:ea typeface="Arial"/>
                <a:cs typeface="Arial"/>
                <a:sym typeface="Arial"/>
              </a:rPr>
              <a:t>threads for one 1080p photo (1920 × 1080 pixels), all running in parallel. Getting use of GPU performance vs the CPU.</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904" name="Shape 904"/>
        <p:cNvGrpSpPr/>
        <p:nvPr/>
      </p:nvGrpSpPr>
      <p:grpSpPr>
        <a:xfrm>
          <a:off x="0" y="0"/>
          <a:ext cx="0" cy="0"/>
          <a:chOff x="0" y="0"/>
          <a:chExt cx="0" cy="0"/>
        </a:xfrm>
      </p:grpSpPr>
      <p:sp>
        <p:nvSpPr>
          <p:cNvPr id="905" name="Google Shape;905;p22"/>
          <p:cNvSpPr txBox="1"/>
          <p:nvPr/>
        </p:nvSpPr>
        <p:spPr>
          <a:xfrm>
            <a:off x="457200" y="3200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The road ahead</a:t>
            </a:r>
            <a:endParaRPr b="0" i="0" sz="3200" u="none" cap="none" strike="noStrike">
              <a:solidFill>
                <a:schemeClr val="dk1"/>
              </a:solidFill>
              <a:latin typeface="Calibri"/>
              <a:ea typeface="Calibri"/>
              <a:cs typeface="Calibri"/>
              <a:sym typeface="Calibri"/>
            </a:endParaRPr>
          </a:p>
        </p:txBody>
      </p:sp>
      <p:cxnSp>
        <p:nvCxnSpPr>
          <p:cNvPr id="906" name="Google Shape;906;p22"/>
          <p:cNvCxnSpPr/>
          <p:nvPr/>
        </p:nvCxnSpPr>
        <p:spPr>
          <a:xfrm>
            <a:off x="822960" y="1600200"/>
            <a:ext cx="7498080" cy="0"/>
          </a:xfrm>
          <a:prstGeom prst="straightConnector1">
            <a:avLst/>
          </a:prstGeom>
          <a:noFill/>
          <a:ln cap="flat" cmpd="sng" w="25400">
            <a:solidFill>
              <a:srgbClr val="4A4A4A"/>
            </a:solidFill>
            <a:prstDash val="solid"/>
            <a:round/>
            <a:headEnd len="sm" w="sm" type="none"/>
            <a:tailEnd len="sm" w="sm" type="none"/>
          </a:ln>
        </p:spPr>
      </p:cxnSp>
      <p:sp>
        <p:nvSpPr>
          <p:cNvPr id="907" name="Google Shape;907;p22"/>
          <p:cNvSpPr/>
          <p:nvPr/>
        </p:nvSpPr>
        <p:spPr>
          <a:xfrm>
            <a:off x="640080" y="1417320"/>
            <a:ext cx="365760" cy="365760"/>
          </a:xfrm>
          <a:prstGeom prst="ellipse">
            <a:avLst/>
          </a:prstGeom>
          <a:solidFill>
            <a:srgbClr val="500000"/>
          </a:solidFill>
          <a:ln cap="flat" cmpd="sng" w="19050">
            <a:solidFill>
              <a:srgbClr val="8A2A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22"/>
          <p:cNvSpPr txBox="1"/>
          <p:nvPr/>
        </p:nvSpPr>
        <p:spPr>
          <a:xfrm>
            <a:off x="457200" y="1965960"/>
            <a:ext cx="1874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Setup</a:t>
            </a:r>
            <a:endParaRPr b="0" i="0" sz="1800" u="none" cap="none" strike="noStrike">
              <a:solidFill>
                <a:schemeClr val="dk1"/>
              </a:solidFill>
              <a:latin typeface="Calibri"/>
              <a:ea typeface="Calibri"/>
              <a:cs typeface="Calibri"/>
              <a:sym typeface="Calibri"/>
            </a:endParaRPr>
          </a:p>
        </p:txBody>
      </p:sp>
      <p:sp>
        <p:nvSpPr>
          <p:cNvPr id="909" name="Google Shape;909;p22"/>
          <p:cNvSpPr txBox="1"/>
          <p:nvPr/>
        </p:nvSpPr>
        <p:spPr>
          <a:xfrm>
            <a:off x="457200" y="2377440"/>
            <a:ext cx="18288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C8C8"/>
              </a:buClr>
              <a:buSzPts val="1300"/>
              <a:buFont typeface="Arial"/>
              <a:buNone/>
            </a:pPr>
            <a:r>
              <a:rPr b="0" i="0" lang="en-US" sz="1300" u="none" cap="none" strike="noStrike">
                <a:solidFill>
                  <a:srgbClr val="C8C8C8"/>
                </a:solidFill>
                <a:latin typeface="Arial"/>
                <a:ea typeface="Arial"/>
                <a:cs typeface="Arial"/>
                <a:sym typeface="Arial"/>
              </a:rPr>
              <a:t>Free cloud GPU and our first Thrust program.</a:t>
            </a:r>
            <a:endParaRPr b="0" i="0" sz="1300" u="none" cap="none" strike="noStrike">
              <a:solidFill>
                <a:schemeClr val="dk1"/>
              </a:solidFill>
              <a:latin typeface="Calibri"/>
              <a:ea typeface="Calibri"/>
              <a:cs typeface="Calibri"/>
              <a:sym typeface="Calibri"/>
            </a:endParaRPr>
          </a:p>
        </p:txBody>
      </p:sp>
      <p:sp>
        <p:nvSpPr>
          <p:cNvPr id="910" name="Google Shape;910;p22"/>
          <p:cNvSpPr/>
          <p:nvPr/>
        </p:nvSpPr>
        <p:spPr>
          <a:xfrm>
            <a:off x="2743200" y="1417320"/>
            <a:ext cx="365760" cy="365760"/>
          </a:xfrm>
          <a:prstGeom prst="ellipse">
            <a:avLst/>
          </a:prstGeom>
          <a:solidFill>
            <a:srgbClr val="500000"/>
          </a:solidFill>
          <a:ln cap="flat" cmpd="sng" w="19050">
            <a:solidFill>
              <a:srgbClr val="8A2A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22"/>
          <p:cNvSpPr txBox="1"/>
          <p:nvPr/>
        </p:nvSpPr>
        <p:spPr>
          <a:xfrm>
            <a:off x="2560320" y="1965960"/>
            <a:ext cx="1874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Thrust</a:t>
            </a:r>
            <a:endParaRPr b="0" i="0" sz="1800" u="none" cap="none" strike="noStrike">
              <a:solidFill>
                <a:schemeClr val="dk1"/>
              </a:solidFill>
              <a:latin typeface="Calibri"/>
              <a:ea typeface="Calibri"/>
              <a:cs typeface="Calibri"/>
              <a:sym typeface="Calibri"/>
            </a:endParaRPr>
          </a:p>
        </p:txBody>
      </p:sp>
      <p:sp>
        <p:nvSpPr>
          <p:cNvPr id="912" name="Google Shape;912;p22"/>
          <p:cNvSpPr txBox="1"/>
          <p:nvPr/>
        </p:nvSpPr>
        <p:spPr>
          <a:xfrm>
            <a:off x="2560320" y="2377440"/>
            <a:ext cx="18288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C8C8"/>
              </a:buClr>
              <a:buSzPts val="1300"/>
              <a:buFont typeface="Arial"/>
              <a:buNone/>
            </a:pPr>
            <a:r>
              <a:rPr b="0" i="0" lang="en-US" sz="1300" u="none" cap="none" strike="noStrike">
                <a:solidFill>
                  <a:srgbClr val="C8C8C8"/>
                </a:solidFill>
                <a:latin typeface="Arial"/>
                <a:ea typeface="Arial"/>
                <a:cs typeface="Arial"/>
                <a:sym typeface="Arial"/>
              </a:rPr>
              <a:t>Host vs device, std:: to thrust:: (today).</a:t>
            </a:r>
            <a:endParaRPr b="0" i="0" sz="1300" u="none" cap="none" strike="noStrike">
              <a:solidFill>
                <a:schemeClr val="dk1"/>
              </a:solidFill>
              <a:latin typeface="Calibri"/>
              <a:ea typeface="Calibri"/>
              <a:cs typeface="Calibri"/>
              <a:sym typeface="Calibri"/>
            </a:endParaRPr>
          </a:p>
        </p:txBody>
      </p:sp>
      <p:sp>
        <p:nvSpPr>
          <p:cNvPr id="913" name="Google Shape;913;p22"/>
          <p:cNvSpPr/>
          <p:nvPr/>
        </p:nvSpPr>
        <p:spPr>
          <a:xfrm>
            <a:off x="4846320" y="1417320"/>
            <a:ext cx="365760" cy="365760"/>
          </a:xfrm>
          <a:prstGeom prst="ellipse">
            <a:avLst/>
          </a:prstGeom>
          <a:solidFill>
            <a:srgbClr val="76B900"/>
          </a:solidFill>
          <a:ln cap="flat" cmpd="sng" w="19050">
            <a:solidFill>
              <a:srgbClr val="76B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22"/>
          <p:cNvSpPr txBox="1"/>
          <p:nvPr/>
        </p:nvSpPr>
        <p:spPr>
          <a:xfrm>
            <a:off x="4663440" y="1965960"/>
            <a:ext cx="1874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6B900"/>
              </a:buClr>
              <a:buSzPts val="1800"/>
              <a:buFont typeface="Arial"/>
              <a:buNone/>
            </a:pPr>
            <a:r>
              <a:rPr b="1" i="0" lang="en-US" sz="1800" u="none" cap="none" strike="noStrike">
                <a:solidFill>
                  <a:srgbClr val="76B900"/>
                </a:solidFill>
                <a:latin typeface="Arial"/>
                <a:ea typeface="Arial"/>
                <a:cs typeface="Arial"/>
                <a:sym typeface="Arial"/>
              </a:rPr>
              <a:t>Grayscale</a:t>
            </a:r>
            <a:endParaRPr b="0" i="0" sz="1800" u="none" cap="none" strike="noStrike">
              <a:solidFill>
                <a:schemeClr val="dk1"/>
              </a:solidFill>
              <a:latin typeface="Calibri"/>
              <a:ea typeface="Calibri"/>
              <a:cs typeface="Calibri"/>
              <a:sym typeface="Calibri"/>
            </a:endParaRPr>
          </a:p>
        </p:txBody>
      </p:sp>
      <p:sp>
        <p:nvSpPr>
          <p:cNvPr id="915" name="Google Shape;915;p22"/>
          <p:cNvSpPr txBox="1"/>
          <p:nvPr/>
        </p:nvSpPr>
        <p:spPr>
          <a:xfrm>
            <a:off x="4663440" y="2377440"/>
            <a:ext cx="18288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C8C8"/>
              </a:buClr>
              <a:buSzPts val="1300"/>
              <a:buFont typeface="Arial"/>
              <a:buNone/>
            </a:pPr>
            <a:r>
              <a:rPr b="0" i="0" lang="en-US" sz="1300" u="none" cap="none" strike="noStrike">
                <a:solidFill>
                  <a:srgbClr val="C8C8C8"/>
                </a:solidFill>
                <a:latin typeface="Arial"/>
                <a:ea typeface="Arial"/>
                <a:cs typeface="Arial"/>
                <a:sym typeface="Arial"/>
              </a:rPr>
              <a:t>Project 1: thrust::transform over every pixel.</a:t>
            </a:r>
            <a:endParaRPr b="0" i="0" sz="1300" u="none" cap="none" strike="noStrike">
              <a:solidFill>
                <a:schemeClr val="dk1"/>
              </a:solidFill>
              <a:latin typeface="Calibri"/>
              <a:ea typeface="Calibri"/>
              <a:cs typeface="Calibri"/>
              <a:sym typeface="Calibri"/>
            </a:endParaRPr>
          </a:p>
        </p:txBody>
      </p:sp>
      <p:sp>
        <p:nvSpPr>
          <p:cNvPr id="916" name="Google Shape;916;p22"/>
          <p:cNvSpPr/>
          <p:nvPr/>
        </p:nvSpPr>
        <p:spPr>
          <a:xfrm>
            <a:off x="6949440" y="1417320"/>
            <a:ext cx="365760" cy="365760"/>
          </a:xfrm>
          <a:prstGeom prst="ellipse">
            <a:avLst/>
          </a:prstGeom>
          <a:solidFill>
            <a:srgbClr val="500000"/>
          </a:solidFill>
          <a:ln cap="flat" cmpd="sng" w="19050">
            <a:solidFill>
              <a:srgbClr val="8A2A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22"/>
          <p:cNvSpPr txBox="1"/>
          <p:nvPr/>
        </p:nvSpPr>
        <p:spPr>
          <a:xfrm>
            <a:off x="6766560" y="1965960"/>
            <a:ext cx="1874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Level up</a:t>
            </a:r>
            <a:endParaRPr b="0" i="0" sz="1800" u="none" cap="none" strike="noStrike">
              <a:solidFill>
                <a:schemeClr val="dk1"/>
              </a:solidFill>
              <a:latin typeface="Calibri"/>
              <a:ea typeface="Calibri"/>
              <a:cs typeface="Calibri"/>
              <a:sym typeface="Calibri"/>
            </a:endParaRPr>
          </a:p>
        </p:txBody>
      </p:sp>
      <p:sp>
        <p:nvSpPr>
          <p:cNvPr id="918" name="Google Shape;918;p22"/>
          <p:cNvSpPr txBox="1"/>
          <p:nvPr/>
        </p:nvSpPr>
        <p:spPr>
          <a:xfrm>
            <a:off x="6766560" y="2377440"/>
            <a:ext cx="182880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C8C8"/>
              </a:buClr>
              <a:buSzPts val="1300"/>
              <a:buFont typeface="Arial"/>
              <a:buNone/>
            </a:pPr>
            <a:r>
              <a:rPr b="0" i="0" lang="en-US" sz="1300" u="none" cap="none" strike="noStrike">
                <a:solidFill>
                  <a:srgbClr val="C8C8C8"/>
                </a:solidFill>
                <a:latin typeface="Arial"/>
                <a:ea typeface="Arial"/>
                <a:cs typeface="Arial"/>
                <a:sym typeface="Arial"/>
              </a:rPr>
              <a:t>Write our own kernels: blur, edges, and beyond.</a:t>
            </a:r>
            <a:endParaRPr b="0" i="0" sz="1300" u="none" cap="none" strike="noStrike">
              <a:solidFill>
                <a:schemeClr val="dk1"/>
              </a:solidFill>
              <a:latin typeface="Calibri"/>
              <a:ea typeface="Calibri"/>
              <a:cs typeface="Calibri"/>
              <a:sym typeface="Calibri"/>
            </a:endParaRPr>
          </a:p>
        </p:txBody>
      </p:sp>
      <p:sp>
        <p:nvSpPr>
          <p:cNvPr id="919" name="Google Shape;919;p22"/>
          <p:cNvSpPr/>
          <p:nvPr/>
        </p:nvSpPr>
        <p:spPr>
          <a:xfrm>
            <a:off x="457200" y="3429000"/>
            <a:ext cx="8229600" cy="1097280"/>
          </a:xfrm>
          <a:prstGeom prst="roundRect">
            <a:avLst>
              <a:gd fmla="val 10000" name="adj"/>
            </a:avLst>
          </a:prstGeom>
          <a:solidFill>
            <a:srgbClr val="500000"/>
          </a:solidFill>
          <a:ln cap="flat" cmpd="sng" w="12700">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22"/>
          <p:cNvSpPr/>
          <p:nvPr/>
        </p:nvSpPr>
        <p:spPr>
          <a:xfrm>
            <a:off x="731520" y="3657600"/>
            <a:ext cx="640080" cy="640080"/>
          </a:xfrm>
          <a:prstGeom prst="ellipse">
            <a:avLst/>
          </a:prstGeom>
          <a:solidFill>
            <a:srgbClr val="6E1A1A"/>
          </a:solidFill>
          <a:ln cap="flat" cmpd="sng" w="12700">
            <a:solidFill>
              <a:srgbClr val="6E1A1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1" name="Google Shape;921;p22"/>
          <p:cNvPicPr preferRelativeResize="0"/>
          <p:nvPr/>
        </p:nvPicPr>
        <p:blipFill rotWithShape="1">
          <a:blip r:embed="rId3">
            <a:alphaModFix/>
          </a:blip>
          <a:srcRect b="0" l="0" r="0" t="0"/>
          <a:stretch/>
        </p:blipFill>
        <p:spPr>
          <a:xfrm>
            <a:off x="910742" y="3836822"/>
            <a:ext cx="281635" cy="281635"/>
          </a:xfrm>
          <a:prstGeom prst="rect">
            <a:avLst/>
          </a:prstGeom>
          <a:noFill/>
          <a:ln>
            <a:noFill/>
          </a:ln>
        </p:spPr>
      </p:pic>
      <p:sp>
        <p:nvSpPr>
          <p:cNvPr id="922" name="Google Shape;922;p22"/>
          <p:cNvSpPr txBox="1"/>
          <p:nvPr/>
        </p:nvSpPr>
        <p:spPr>
          <a:xfrm>
            <a:off x="1645920" y="3566160"/>
            <a:ext cx="67665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What you need to join</a:t>
            </a:r>
            <a:endParaRPr b="0" i="0" sz="1800" u="none" cap="none" strike="noStrike">
              <a:solidFill>
                <a:schemeClr val="dk1"/>
              </a:solidFill>
              <a:latin typeface="Calibri"/>
              <a:ea typeface="Calibri"/>
              <a:cs typeface="Calibri"/>
              <a:sym typeface="Calibri"/>
            </a:endParaRPr>
          </a:p>
        </p:txBody>
      </p:sp>
      <p:sp>
        <p:nvSpPr>
          <p:cNvPr id="923" name="Google Shape;923;p22"/>
          <p:cNvSpPr txBox="1"/>
          <p:nvPr/>
        </p:nvSpPr>
        <p:spPr>
          <a:xfrm>
            <a:off x="1645920" y="3959352"/>
            <a:ext cx="67665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DADA"/>
              </a:buClr>
              <a:buSzPts val="1400"/>
              <a:buFont typeface="Arial"/>
              <a:buNone/>
            </a:pPr>
            <a:r>
              <a:rPr b="0" i="0" lang="en-US" sz="1400" u="none" cap="none" strike="noStrike">
                <a:solidFill>
                  <a:srgbClr val="F0DADA"/>
                </a:solidFill>
                <a:latin typeface="Arial"/>
                <a:ea typeface="Arial"/>
                <a:cs typeface="Arial"/>
                <a:sym typeface="Arial"/>
              </a:rPr>
              <a:t>A laptop, a Google account, and curiosity.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2026-09-24T22:18:27Z</dcterms:created>
  <dc:creator>PptxGenJS</dc:creator>
</cp:coreProperties>
</file>